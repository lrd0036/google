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71" r:id="rId7"/>
    <p:sldId id="261" r:id="rId8"/>
    <p:sldId id="262" r:id="rId9"/>
    <p:sldId id="264" r:id="rId10"/>
    <p:sldId id="272" r:id="rId11"/>
    <p:sldId id="268" r:id="rId12"/>
    <p:sldId id="266" r:id="rId13"/>
    <p:sldId id="270" r:id="rId14"/>
    <p:sldId id="274" r:id="rId15"/>
    <p:sldId id="275" r:id="rId16"/>
    <p:sldId id="276" r:id="rId17"/>
    <p:sldId id="284" r:id="rId18"/>
    <p:sldId id="277" r:id="rId19"/>
    <p:sldId id="278" r:id="rId20"/>
    <p:sldId id="283" r:id="rId21"/>
    <p:sldId id="280" r:id="rId22"/>
    <p:sldId id="281" r:id="rId23"/>
    <p:sldId id="279" r:id="rId24"/>
    <p:sldId id="282" r:id="rId25"/>
  </p:sldIdLst>
  <p:sldSz cx="18288000" cy="10287000"/>
  <p:notesSz cx="6858000" cy="9144000"/>
  <p:embeddedFontLst>
    <p:embeddedFont>
      <p:font typeface="Canva Sans" panose="020B0503030501040103" pitchFamily="34" charset="0"/>
      <p:regular r:id="rId27"/>
    </p:embeddedFont>
    <p:embeddedFont>
      <p:font typeface="Canva Sans Bold" panose="020B0803030501040103" pitchFamily="34" charset="0"/>
      <p:regular r:id="rId28"/>
      <p:bold r:id="rId29"/>
    </p:embeddedFont>
    <p:embeddedFont>
      <p:font typeface="Pattanakarn SemiCondensed Medium" pitchFamily="2" charset="-3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0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087" autoAdjust="0"/>
    <p:restoredTop sz="80479" autoAdjust="0"/>
  </p:normalViewPr>
  <p:slideViewPr>
    <p:cSldViewPr>
      <p:cViewPr varScale="1">
        <p:scale>
          <a:sx n="31" d="100"/>
          <a:sy n="31" d="100"/>
        </p:scale>
        <p:origin x="184" y="1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ACA409-6915-7645-957D-4767626A36FE}" type="datetimeFigureOut">
              <a:rPr lang="en-US" smtClean="0"/>
              <a:t>3/28/26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04FC2-6AD5-2D45-AE3C-2E837B06ADA8}" type="slidenum">
              <a:rPr lang="en-US" smtClean="0"/>
              <a:t>‹#›</a:t>
            </a:fld>
            <a:endParaRPr lang="en-US"/>
          </a:p>
        </p:txBody>
      </p:sp>
    </p:spTree>
    <p:extLst>
      <p:ext uri="{BB962C8B-B14F-4D97-AF65-F5344CB8AC3E}">
        <p14:creationId xmlns:p14="http://schemas.microsoft.com/office/powerpoint/2010/main" val="1740227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while we're standing here, there are Chinese state actors sitting inside U.S. energy and water networks. Confirmed. Five governments. Not a theory.</a:t>
            </a:r>
          </a:p>
          <a:p>
            <a:r>
              <a:rPr lang="en-US" dirty="0"/>
              <a:t>One of those networks powers this building.</a:t>
            </a:r>
          </a:p>
          <a:p>
            <a:r>
              <a:rPr lang="en-US" dirty="0"/>
              <a:t>I’m Lance Dye. This is Zach </a:t>
            </a:r>
            <a:r>
              <a:rPr lang="en-US" dirty="0" err="1"/>
              <a:t>Boudreax</a:t>
            </a:r>
            <a:r>
              <a:rPr lang="en-US" dirty="0"/>
              <a:t>. And we'd like to talk about that.</a:t>
            </a:r>
          </a:p>
        </p:txBody>
      </p:sp>
      <p:sp>
        <p:nvSpPr>
          <p:cNvPr id="4" name="Slide Number Placeholder 3"/>
          <p:cNvSpPr>
            <a:spLocks noGrp="1"/>
          </p:cNvSpPr>
          <p:nvPr>
            <p:ph type="sldNum" sz="quarter" idx="5"/>
          </p:nvPr>
        </p:nvSpPr>
        <p:spPr/>
        <p:txBody>
          <a:bodyPr/>
          <a:lstStyle/>
          <a:p>
            <a:fld id="{89B04FC2-6AD5-2D45-AE3C-2E837B06ADA8}" type="slidenum">
              <a:rPr lang="en-US" smtClean="0"/>
              <a:t>1</a:t>
            </a:fld>
            <a:endParaRPr lang="en-US"/>
          </a:p>
        </p:txBody>
      </p:sp>
    </p:spTree>
    <p:extLst>
      <p:ext uri="{BB962C8B-B14F-4D97-AF65-F5344CB8AC3E}">
        <p14:creationId xmlns:p14="http://schemas.microsoft.com/office/powerpoint/2010/main" val="1751233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Stuxnet proved you could destroy physical equipment with code. Ukraine proved you could cut power to a nation. Colonial proved one reused password shuts down regional fuel supply. Volt Typhoon — confirmed by five governments — is pre-positioned in U.S. energy and water networks right now. That's not a timeline. That's a curriculum. And the final exam hasn't happened yet.</a:t>
            </a:r>
          </a:p>
        </p:txBody>
      </p:sp>
      <p:sp>
        <p:nvSpPr>
          <p:cNvPr id="4" name="Slide Number Placeholder 3"/>
          <p:cNvSpPr>
            <a:spLocks noGrp="1"/>
          </p:cNvSpPr>
          <p:nvPr>
            <p:ph type="sldNum" sz="quarter" idx="5"/>
          </p:nvPr>
        </p:nvSpPr>
        <p:spPr/>
        <p:txBody>
          <a:bodyPr/>
          <a:lstStyle/>
          <a:p>
            <a:fld id="{89B04FC2-6AD5-2D45-AE3C-2E837B06ADA8}" type="slidenum">
              <a:rPr lang="en-US" smtClean="0"/>
              <a:t>2</a:t>
            </a:fld>
            <a:endParaRPr lang="en-US"/>
          </a:p>
        </p:txBody>
      </p:sp>
    </p:spTree>
    <p:extLst>
      <p:ext uri="{BB962C8B-B14F-4D97-AF65-F5344CB8AC3E}">
        <p14:creationId xmlns:p14="http://schemas.microsoft.com/office/powerpoint/2010/main" val="42850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ZACH</a:t>
            </a:r>
            <a:br>
              <a:rPr lang="en-US" dirty="0"/>
            </a:br>
            <a:r>
              <a:rPr lang="en-US" dirty="0"/>
              <a:t>4,140 megawatts. One corridor. Number one data center market on earth. Every major cloud provider. Every federal agency. Every AI model running inference right now. All of it needs Royal Duke's power and water to survive. When we talk about consequence here, we're not talking about one company having a bad day. We're talking about the internet.</a:t>
            </a:r>
          </a:p>
        </p:txBody>
      </p:sp>
      <p:sp>
        <p:nvSpPr>
          <p:cNvPr id="4" name="Slide Number Placeholder 3"/>
          <p:cNvSpPr>
            <a:spLocks noGrp="1"/>
          </p:cNvSpPr>
          <p:nvPr>
            <p:ph type="sldNum" sz="quarter" idx="5"/>
          </p:nvPr>
        </p:nvSpPr>
        <p:spPr/>
        <p:txBody>
          <a:bodyPr/>
          <a:lstStyle/>
          <a:p>
            <a:fld id="{89B04FC2-6AD5-2D45-AE3C-2E837B06ADA8}" type="slidenum">
              <a:rPr lang="en-US" smtClean="0"/>
              <a:t>3</a:t>
            </a:fld>
            <a:endParaRPr lang="en-US"/>
          </a:p>
        </p:txBody>
      </p:sp>
    </p:spTree>
    <p:extLst>
      <p:ext uri="{BB962C8B-B14F-4D97-AF65-F5344CB8AC3E}">
        <p14:creationId xmlns:p14="http://schemas.microsoft.com/office/powerpoint/2010/main" val="2877011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Royal Duke doesn't run servers. It runs substations and pumps. It sits upstream of every data center campus it serves. When Royal Duke fails, it's not Royal Duke's problem — it's every customer downstream at a million dollars an hour per facility. They're not a target because of what they hold. They're a target because of what they control.</a:t>
            </a:r>
          </a:p>
        </p:txBody>
      </p:sp>
      <p:sp>
        <p:nvSpPr>
          <p:cNvPr id="4" name="Slide Number Placeholder 3"/>
          <p:cNvSpPr>
            <a:spLocks noGrp="1"/>
          </p:cNvSpPr>
          <p:nvPr>
            <p:ph type="sldNum" sz="quarter" idx="5"/>
          </p:nvPr>
        </p:nvSpPr>
        <p:spPr/>
        <p:txBody>
          <a:bodyPr/>
          <a:lstStyle/>
          <a:p>
            <a:fld id="{89B04FC2-6AD5-2D45-AE3C-2E837B06ADA8}" type="slidenum">
              <a:rPr lang="en-US" smtClean="0"/>
              <a:t>4</a:t>
            </a:fld>
            <a:endParaRPr lang="en-US"/>
          </a:p>
        </p:txBody>
      </p:sp>
    </p:spTree>
    <p:extLst>
      <p:ext uri="{BB962C8B-B14F-4D97-AF65-F5344CB8AC3E}">
        <p14:creationId xmlns:p14="http://schemas.microsoft.com/office/powerpoint/2010/main" val="1142657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fails gracefully. OT collapses. One compromised SCADA master overrides safety protocols across the entire network. Modbus and DNP3 — the protocols running these systems — were designed in the 1970s with zero authentication. Any device on the network can issue any command. The adversaries know this architecture in detail. The question is whether Royal Duke does.</a:t>
            </a:r>
          </a:p>
        </p:txBody>
      </p:sp>
      <p:sp>
        <p:nvSpPr>
          <p:cNvPr id="4" name="Slide Number Placeholder 3"/>
          <p:cNvSpPr>
            <a:spLocks noGrp="1"/>
          </p:cNvSpPr>
          <p:nvPr>
            <p:ph type="sldNum" sz="quarter" idx="5"/>
          </p:nvPr>
        </p:nvSpPr>
        <p:spPr/>
        <p:txBody>
          <a:bodyPr/>
          <a:lstStyle/>
          <a:p>
            <a:fld id="{89B04FC2-6AD5-2D45-AE3C-2E837B06ADA8}" type="slidenum">
              <a:rPr lang="en-US" smtClean="0"/>
              <a:t>5</a:t>
            </a:fld>
            <a:endParaRPr lang="en-US"/>
          </a:p>
        </p:txBody>
      </p:sp>
    </p:spTree>
    <p:extLst>
      <p:ext uri="{BB962C8B-B14F-4D97-AF65-F5344CB8AC3E}">
        <p14:creationId xmlns:p14="http://schemas.microsoft.com/office/powerpoint/2010/main" val="2982530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Enough theory. What you're about to see uses the same tools and protocols documented in CISA's ICS advisories. Five stages. One vendor credential, no MFA. Watch the pivot from IT to OT. Watch the HMI freeze. Watch what happens when the code goes kinetic.</a:t>
            </a:r>
          </a:p>
        </p:txBody>
      </p:sp>
      <p:sp>
        <p:nvSpPr>
          <p:cNvPr id="4" name="Slide Number Placeholder 3"/>
          <p:cNvSpPr>
            <a:spLocks noGrp="1"/>
          </p:cNvSpPr>
          <p:nvPr>
            <p:ph type="sldNum" sz="quarter" idx="5"/>
          </p:nvPr>
        </p:nvSpPr>
        <p:spPr/>
        <p:txBody>
          <a:bodyPr/>
          <a:lstStyle/>
          <a:p>
            <a:fld id="{89B04FC2-6AD5-2D45-AE3C-2E837B06ADA8}" type="slidenum">
              <a:rPr lang="en-US" smtClean="0"/>
              <a:t>6</a:t>
            </a:fld>
            <a:endParaRPr lang="en-US"/>
          </a:p>
        </p:txBody>
      </p:sp>
    </p:spTree>
    <p:extLst>
      <p:ext uri="{BB962C8B-B14F-4D97-AF65-F5344CB8AC3E}">
        <p14:creationId xmlns:p14="http://schemas.microsoft.com/office/powerpoint/2010/main" val="188546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Colonial Pipeline wasn't sophisticated. One legacy VPN account. Reused password. No MFA. The most dangerous access in Royal Duke's environment isn't stolen — it's inherited. Legitimate credentials from vendors who finished a job years ago and never had their access revoked. The back door is labeled Vendor Portal. NERC CIP-013 requires it be locked. It isn't.</a:t>
            </a:r>
          </a:p>
        </p:txBody>
      </p:sp>
      <p:sp>
        <p:nvSpPr>
          <p:cNvPr id="4" name="Slide Number Placeholder 3"/>
          <p:cNvSpPr>
            <a:spLocks noGrp="1"/>
          </p:cNvSpPr>
          <p:nvPr>
            <p:ph type="sldNum" sz="quarter" idx="5"/>
          </p:nvPr>
        </p:nvSpPr>
        <p:spPr/>
        <p:txBody>
          <a:bodyPr/>
          <a:lstStyle/>
          <a:p>
            <a:fld id="{89B04FC2-6AD5-2D45-AE3C-2E837B06ADA8}" type="slidenum">
              <a:rPr lang="en-US" smtClean="0"/>
              <a:t>7</a:t>
            </a:fld>
            <a:endParaRPr lang="en-US"/>
          </a:p>
        </p:txBody>
      </p:sp>
    </p:spTree>
    <p:extLst>
      <p:ext uri="{BB962C8B-B14F-4D97-AF65-F5344CB8AC3E}">
        <p14:creationId xmlns:p14="http://schemas.microsoft.com/office/powerpoint/2010/main" val="2466964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attacker's first move isn't the physical systems. It's the monitoring. Freeze the HMI display at normal values. Suppress the alerts. Now the operators are watching a screen that's lying to them — for 72 hours — while the attacker maps every PLC in the environment. You cannot respond to a threat you cannot see. That's the point.</a:t>
            </a:r>
          </a:p>
        </p:txBody>
      </p:sp>
      <p:sp>
        <p:nvSpPr>
          <p:cNvPr id="4" name="Slide Number Placeholder 3"/>
          <p:cNvSpPr>
            <a:spLocks noGrp="1"/>
          </p:cNvSpPr>
          <p:nvPr>
            <p:ph type="sldNum" sz="quarter" idx="5"/>
          </p:nvPr>
        </p:nvSpPr>
        <p:spPr/>
        <p:txBody>
          <a:bodyPr/>
          <a:lstStyle/>
          <a:p>
            <a:fld id="{89B04FC2-6AD5-2D45-AE3C-2E837B06ADA8}" type="slidenum">
              <a:rPr lang="en-US" smtClean="0"/>
              <a:t>8</a:t>
            </a:fld>
            <a:endParaRPr lang="en-US"/>
          </a:p>
        </p:txBody>
      </p:sp>
    </p:spTree>
    <p:extLst>
      <p:ext uri="{BB962C8B-B14F-4D97-AF65-F5344CB8AC3E}">
        <p14:creationId xmlns:p14="http://schemas.microsoft.com/office/powerpoint/2010/main" val="912001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Lockheed Martin invented the Cyber Kill Chain. Three days ago, a pro-Iranian group claimed they breached them. Unverified — but Lockheed hasn't denied it. Here's the point regardless: if it's plausible that the company that wrote the playbook got run by their own playbook — what does that say about organizations treating it as a checkbox? Knowing the framework is necessary. It is not sufficient.</a:t>
            </a:r>
          </a:p>
        </p:txBody>
      </p:sp>
      <p:sp>
        <p:nvSpPr>
          <p:cNvPr id="4" name="Slide Number Placeholder 3"/>
          <p:cNvSpPr>
            <a:spLocks noGrp="1"/>
          </p:cNvSpPr>
          <p:nvPr>
            <p:ph type="sldNum" sz="quarter" idx="5"/>
          </p:nvPr>
        </p:nvSpPr>
        <p:spPr/>
        <p:txBody>
          <a:bodyPr/>
          <a:lstStyle/>
          <a:p>
            <a:fld id="{89B04FC2-6AD5-2D45-AE3C-2E837B06ADA8}" type="slidenum">
              <a:rPr lang="en-US" smtClean="0"/>
              <a:t>9</a:t>
            </a:fld>
            <a:endParaRPr lang="en-US"/>
          </a:p>
        </p:txBody>
      </p:sp>
    </p:spTree>
    <p:extLst>
      <p:ext uri="{BB962C8B-B14F-4D97-AF65-F5344CB8AC3E}">
        <p14:creationId xmlns:p14="http://schemas.microsoft.com/office/powerpoint/2010/main" val="35182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risks. All three confirmed against U.S. utilities in the last three years. Remote access compromise — one credential, full OT access. Situational awareness loss — 72 hours blind while the attacker moves. PLC logic manipulation — this one doesn't end with a restore from backup. It ends with hardware that has a fourteen-week lead time."</a:t>
            </a:r>
          </a:p>
          <a:p>
            <a:r>
              <a:rPr lang="en-US" i="1" dirty="0"/>
              <a:t>ZACH:</a:t>
            </a:r>
            <a:endParaRPr lang="en-US" dirty="0"/>
          </a:p>
          <a:p>
            <a:r>
              <a:rPr lang="en-US" dirty="0"/>
              <a:t>"The full program runs $470,000 to $1.5 million in year one. One NERC CIP penalty is a million dollars a day. Colonial cost $34 million. One customer hour offline is a million dollars. The math isn't complicated. This program pays for itself by preventing one incident</a:t>
            </a:r>
          </a:p>
          <a:p>
            <a:endParaRPr lang="en-US" dirty="0"/>
          </a:p>
        </p:txBody>
      </p:sp>
      <p:sp>
        <p:nvSpPr>
          <p:cNvPr id="4" name="Slide Number Placeholder 3"/>
          <p:cNvSpPr>
            <a:spLocks noGrp="1"/>
          </p:cNvSpPr>
          <p:nvPr>
            <p:ph type="sldNum" sz="quarter" idx="5"/>
          </p:nvPr>
        </p:nvSpPr>
        <p:spPr/>
        <p:txBody>
          <a:bodyPr/>
          <a:lstStyle/>
          <a:p>
            <a:fld id="{89B04FC2-6AD5-2D45-AE3C-2E837B06ADA8}" type="slidenum">
              <a:rPr lang="en-US" smtClean="0"/>
              <a:t>10</a:t>
            </a:fld>
            <a:endParaRPr lang="en-US"/>
          </a:p>
        </p:txBody>
      </p:sp>
    </p:spTree>
    <p:extLst>
      <p:ext uri="{BB962C8B-B14F-4D97-AF65-F5344CB8AC3E}">
        <p14:creationId xmlns:p14="http://schemas.microsoft.com/office/powerpoint/2010/main" val="884509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invent a methodology. NIST CSF 2.0. ASD OT Principles — six nations, October 2024. NERC CIP — not guidance, law. Everything we're recommending maps directly to frameworks this industry spent years building for exactly this scenario. Survive. See. Lead. In that order — because you can't see what you haven't inventoried, and you can't lead what you can't see.</a:t>
            </a:r>
          </a:p>
        </p:txBody>
      </p:sp>
      <p:sp>
        <p:nvSpPr>
          <p:cNvPr id="4" name="Slide Number Placeholder 3"/>
          <p:cNvSpPr>
            <a:spLocks noGrp="1"/>
          </p:cNvSpPr>
          <p:nvPr>
            <p:ph type="sldNum" sz="quarter" idx="5"/>
          </p:nvPr>
        </p:nvSpPr>
        <p:spPr/>
        <p:txBody>
          <a:bodyPr/>
          <a:lstStyle/>
          <a:p>
            <a:fld id="{89B04FC2-6AD5-2D45-AE3C-2E837B06ADA8}" type="slidenum">
              <a:rPr lang="en-US" smtClean="0"/>
              <a:t>11</a:t>
            </a:fld>
            <a:endParaRPr lang="en-US"/>
          </a:p>
        </p:txBody>
      </p:sp>
    </p:spTree>
    <p:extLst>
      <p:ext uri="{BB962C8B-B14F-4D97-AF65-F5344CB8AC3E}">
        <p14:creationId xmlns:p14="http://schemas.microsoft.com/office/powerpoint/2010/main" val="2478329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invent a methodology. NIST CSF 2.0. ASD OT Principles — six nations, October 2024. NERC CIP — not guidance, law. Everything we're recommending maps directly to frameworks this industry spent years building for exactly this scenario. Survive. See. Lead. In that order — because you can't see what you haven't inventoried, and you can't lead what you can't see.</a:t>
            </a:r>
          </a:p>
        </p:txBody>
      </p:sp>
      <p:sp>
        <p:nvSpPr>
          <p:cNvPr id="4" name="Slide Number Placeholder 3"/>
          <p:cNvSpPr>
            <a:spLocks noGrp="1"/>
          </p:cNvSpPr>
          <p:nvPr>
            <p:ph type="sldNum" sz="quarter" idx="5"/>
          </p:nvPr>
        </p:nvSpPr>
        <p:spPr/>
        <p:txBody>
          <a:bodyPr/>
          <a:lstStyle/>
          <a:p>
            <a:fld id="{89B04FC2-6AD5-2D45-AE3C-2E837B06ADA8}" type="slidenum">
              <a:rPr lang="en-US" smtClean="0"/>
              <a:t>12</a:t>
            </a:fld>
            <a:endParaRPr lang="en-US"/>
          </a:p>
        </p:txBody>
      </p:sp>
    </p:spTree>
    <p:extLst>
      <p:ext uri="{BB962C8B-B14F-4D97-AF65-F5344CB8AC3E}">
        <p14:creationId xmlns:p14="http://schemas.microsoft.com/office/powerpoint/2010/main" val="1018835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LANCE:</a:t>
            </a:r>
            <a:endParaRPr lang="en-US" dirty="0"/>
          </a:p>
          <a:p>
            <a:r>
              <a:rPr lang="en-US" dirty="0"/>
              <a:t>"Volt Typhoon is pre-positioned. Five-government joint advisory — not an estimate. CyberAv3ngers hit U.S. water plants. Confirmed. Sandworm took down the Ukrainian grid. Twice. These are not future risks. They are current ones."</a:t>
            </a:r>
          </a:p>
          <a:p>
            <a:r>
              <a:rPr lang="en-US" i="1" dirty="0"/>
              <a:t>ZACH:</a:t>
            </a:r>
            <a:endParaRPr lang="en-US" dirty="0"/>
          </a:p>
          <a:p>
            <a:r>
              <a:rPr lang="en-US" dirty="0"/>
              <a:t>"Inaction is a decision. It's just the most expensive one on the table. One question remains: does Royal Duke know its own architecture better than Volt Typhoon does?</a:t>
            </a:r>
          </a:p>
          <a:p>
            <a:r>
              <a:rPr lang="en-US" dirty="0"/>
              <a:t>Act now. Or explain later."</a:t>
            </a:r>
          </a:p>
          <a:p>
            <a:endParaRPr lang="en-US" dirty="0"/>
          </a:p>
        </p:txBody>
      </p:sp>
      <p:sp>
        <p:nvSpPr>
          <p:cNvPr id="4" name="Slide Number Placeholder 3"/>
          <p:cNvSpPr>
            <a:spLocks noGrp="1"/>
          </p:cNvSpPr>
          <p:nvPr>
            <p:ph type="sldNum" sz="quarter" idx="5"/>
          </p:nvPr>
        </p:nvSpPr>
        <p:spPr/>
        <p:txBody>
          <a:bodyPr/>
          <a:lstStyle/>
          <a:p>
            <a:fld id="{89B04FC2-6AD5-2D45-AE3C-2E837B06ADA8}" type="slidenum">
              <a:rPr lang="en-US" smtClean="0"/>
              <a:t>13</a:t>
            </a:fld>
            <a:endParaRPr lang="en-US"/>
          </a:p>
        </p:txBody>
      </p:sp>
    </p:spTree>
    <p:extLst>
      <p:ext uri="{BB962C8B-B14F-4D97-AF65-F5344CB8AC3E}">
        <p14:creationId xmlns:p14="http://schemas.microsoft.com/office/powerpoint/2010/main" val="1362167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take anything — cost modeling, regulatory exposure, business continuity."</a:t>
            </a:r>
          </a:p>
          <a:p>
            <a:r>
              <a:rPr lang="en-US" i="1" dirty="0"/>
              <a:t>LANCE:</a:t>
            </a:r>
            <a:endParaRPr lang="en-US" dirty="0"/>
          </a:p>
          <a:p>
            <a:r>
              <a:rPr lang="en-US" dirty="0"/>
              <a:t>"Technical side — threat actor TTPs, OT monitoring architecture, the full attack simulation live if you want to see the breach chain run in real time."</a:t>
            </a:r>
          </a:p>
          <a:p>
            <a:r>
              <a:rPr lang="en-US" i="1" dirty="0"/>
              <a:t>ZACH:</a:t>
            </a:r>
            <a:endParaRPr lang="en-US" dirty="0"/>
          </a:p>
          <a:p>
            <a:r>
              <a:rPr lang="en-US" dirty="0"/>
              <a:t>"What do you want to start with?</a:t>
            </a:r>
          </a:p>
          <a:p>
            <a:endParaRPr lang="en-US" dirty="0"/>
          </a:p>
        </p:txBody>
      </p:sp>
      <p:sp>
        <p:nvSpPr>
          <p:cNvPr id="4" name="Slide Number Placeholder 3"/>
          <p:cNvSpPr>
            <a:spLocks noGrp="1"/>
          </p:cNvSpPr>
          <p:nvPr>
            <p:ph type="sldNum" sz="quarter" idx="5"/>
          </p:nvPr>
        </p:nvSpPr>
        <p:spPr/>
        <p:txBody>
          <a:bodyPr/>
          <a:lstStyle/>
          <a:p>
            <a:fld id="{89B04FC2-6AD5-2D45-AE3C-2E837B06ADA8}" type="slidenum">
              <a:rPr lang="en-US" smtClean="0"/>
              <a:t>15</a:t>
            </a:fld>
            <a:endParaRPr lang="en-US"/>
          </a:p>
        </p:txBody>
      </p:sp>
    </p:spTree>
    <p:extLst>
      <p:ext uri="{BB962C8B-B14F-4D97-AF65-F5344CB8AC3E}">
        <p14:creationId xmlns:p14="http://schemas.microsoft.com/office/powerpoint/2010/main" val="71433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slideLayout" Target="../slideLayouts/slideLayout7.xml"/><Relationship Id="rId7" Type="http://schemas.openxmlformats.org/officeDocument/2006/relationships/image" Target="../media/image3.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sv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svg"/><Relationship Id="rId5" Type="http://schemas.openxmlformats.org/officeDocument/2006/relationships/image" Target="../media/image1.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7.xml"/><Relationship Id="rId7" Type="http://schemas.openxmlformats.org/officeDocument/2006/relationships/image" Target="../media/image6.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1.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7.xml"/><Relationship Id="rId7" Type="http://schemas.openxmlformats.org/officeDocument/2006/relationships/image" Target="../media/image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svg"/><Relationship Id="rId5" Type="http://schemas.openxmlformats.org/officeDocument/2006/relationships/image" Target="../media/image1.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7.xml"/><Relationship Id="rId7" Type="http://schemas.openxmlformats.org/officeDocument/2006/relationships/image" Target="../media/image2.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file:///Users/reeddye/Dev/SCLC/index.html" TargetMode="External"/><Relationship Id="rId5" Type="http://schemas.openxmlformats.org/officeDocument/2006/relationships/image" Target="../media/image1.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7.xml"/><Relationship Id="rId7" Type="http://schemas.openxmlformats.org/officeDocument/2006/relationships/image" Target="../media/image1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svg"/><Relationship Id="rId5" Type="http://schemas.openxmlformats.org/officeDocument/2006/relationships/image" Target="../media/image1.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7.xml"/><Relationship Id="rId7" Type="http://schemas.openxmlformats.org/officeDocument/2006/relationships/image" Target="../media/image2.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1.png"/><Relationship Id="rId5" Type="http://schemas.openxmlformats.org/officeDocument/2006/relationships/image" Target="../media/image1.jpeg"/><Relationship Id="rId4" Type="http://schemas.openxmlformats.org/officeDocument/2006/relationships/notesSlide" Target="../notesSlides/notesSlide8.xml"/><Relationship Id="rId9" Type="http://schemas.openxmlformats.org/officeDocument/2006/relationships/image" Target="../media/image12.svg"/></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Layout" Target="../slideLayouts/slideLayout7.xml"/><Relationship Id="rId7" Type="http://schemas.openxmlformats.org/officeDocument/2006/relationships/image" Target="../media/image7.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svg"/><Relationship Id="rId5" Type="http://schemas.openxmlformats.org/officeDocument/2006/relationships/image" Target="../media/image1.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svg"/><Relationship Id="rId5" Type="http://schemas.openxmlformats.org/officeDocument/2006/relationships/image" Target="../media/image1.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svg"/><Relationship Id="rId5" Type="http://schemas.openxmlformats.org/officeDocument/2006/relationships/image" Target="../media/image1.jpe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svg"/><Relationship Id="rId5" Type="http://schemas.openxmlformats.org/officeDocument/2006/relationships/image" Target="../media/image1.jpe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svg"/><Relationship Id="rId5" Type="http://schemas.openxmlformats.org/officeDocument/2006/relationships/image" Target="../media/image1.jpe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svg"/><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svg"/><Relationship Id="rId5" Type="http://schemas.openxmlformats.org/officeDocument/2006/relationships/image" Target="../media/image1.jpe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sp>
        <p:nvSpPr>
          <p:cNvPr id="24" name="Rectangle 23">
            <a:extLst>
              <a:ext uri="{FF2B5EF4-FFF2-40B4-BE49-F238E27FC236}">
                <a16:creationId xmlns:a16="http://schemas.microsoft.com/office/drawing/2014/main" id="{727252ED-8B3C-9712-EB7D-75971D2E59C8}"/>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6"/>
          <p:cNvSpPr/>
          <p:nvPr/>
        </p:nvSpPr>
        <p:spPr>
          <a:xfrm flipH="1">
            <a:off x="12044558" y="7217250"/>
            <a:ext cx="6243442" cy="3042853"/>
          </a:xfrm>
          <a:custGeom>
            <a:avLst/>
            <a:gdLst/>
            <a:ahLst/>
            <a:cxnLst/>
            <a:rect l="l" t="t" r="r" b="b"/>
            <a:pathLst>
              <a:path w="13527672" h="12293272">
                <a:moveTo>
                  <a:pt x="0" y="0"/>
                </a:moveTo>
                <a:lnTo>
                  <a:pt x="13527672" y="0"/>
                </a:lnTo>
                <a:lnTo>
                  <a:pt x="13527672" y="12293272"/>
                </a:lnTo>
                <a:lnTo>
                  <a:pt x="0" y="12293272"/>
                </a:lnTo>
                <a:lnTo>
                  <a:pt x="0" y="0"/>
                </a:lnTo>
                <a:close/>
              </a:path>
            </a:pathLst>
          </a:custGeom>
          <a:blipFill>
            <a:blip>
              <a:extLst>
                <a:ext uri="{96DAC541-7B7A-43D3-8B79-37D633B846F1}">
                  <asvg:svgBlip xmlns:asvg="http://schemas.microsoft.com/office/drawing/2016/SVG/main" r:embed="rId6"/>
                </a:ext>
              </a:extLst>
            </a:blip>
            <a:stretch>
              <a:fillRect l="-83462" r="-9501" b="-304004"/>
            </a:stretch>
          </a:blipFill>
        </p:spPr>
        <p:txBody>
          <a:bodyPr/>
          <a:lstStyle/>
          <a:p>
            <a:endParaRPr lang="en-US" dirty="0"/>
          </a:p>
        </p:txBody>
      </p:sp>
      <p:grpSp>
        <p:nvGrpSpPr>
          <p:cNvPr id="7" name="Group 7"/>
          <p:cNvGrpSpPr/>
          <p:nvPr/>
        </p:nvGrpSpPr>
        <p:grpSpPr>
          <a:xfrm>
            <a:off x="1115320" y="5967518"/>
            <a:ext cx="8028680" cy="1079698"/>
            <a:chOff x="0" y="0"/>
            <a:chExt cx="4203630" cy="565305"/>
          </a:xfrm>
        </p:grpSpPr>
        <p:sp>
          <p:nvSpPr>
            <p:cNvPr id="8" name="Freeform 8"/>
            <p:cNvSpPr/>
            <p:nvPr/>
          </p:nvSpPr>
          <p:spPr>
            <a:xfrm>
              <a:off x="0" y="0"/>
              <a:ext cx="4203630" cy="565305"/>
            </a:xfrm>
            <a:custGeom>
              <a:avLst/>
              <a:gdLst/>
              <a:ahLst/>
              <a:cxnLst/>
              <a:rect l="l" t="t" r="r" b="b"/>
              <a:pathLst>
                <a:path w="4203630" h="565305">
                  <a:moveTo>
                    <a:pt x="4000430" y="0"/>
                  </a:moveTo>
                  <a:cubicBezTo>
                    <a:pt x="4112654" y="0"/>
                    <a:pt x="4203630" y="126548"/>
                    <a:pt x="4203630" y="282652"/>
                  </a:cubicBezTo>
                  <a:cubicBezTo>
                    <a:pt x="4203630" y="438757"/>
                    <a:pt x="4112654" y="565305"/>
                    <a:pt x="4000430" y="565305"/>
                  </a:cubicBezTo>
                  <a:lnTo>
                    <a:pt x="203200" y="565305"/>
                  </a:lnTo>
                  <a:cubicBezTo>
                    <a:pt x="90976" y="565305"/>
                    <a:pt x="0" y="438757"/>
                    <a:pt x="0" y="282652"/>
                  </a:cubicBezTo>
                  <a:cubicBezTo>
                    <a:pt x="0" y="126548"/>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9" name="TextBox 9"/>
            <p:cNvSpPr txBox="1"/>
            <p:nvPr/>
          </p:nvSpPr>
          <p:spPr>
            <a:xfrm>
              <a:off x="0" y="-57150"/>
              <a:ext cx="4203630" cy="622455"/>
            </a:xfrm>
            <a:prstGeom prst="rect">
              <a:avLst/>
            </a:prstGeom>
          </p:spPr>
          <p:txBody>
            <a:bodyPr lIns="50800" tIns="50800" rIns="50800" bIns="50800" rtlCol="0" anchor="ctr"/>
            <a:lstStyle/>
            <a:p>
              <a:pPr marL="0" lvl="0" indent="0" algn="ctr">
                <a:lnSpc>
                  <a:spcPts val="3643"/>
                </a:lnSpc>
              </a:pPr>
              <a:endParaRPr/>
            </a:p>
          </p:txBody>
        </p:sp>
      </p:grpSp>
      <p:sp>
        <p:nvSpPr>
          <p:cNvPr id="10" name="TextBox 10"/>
          <p:cNvSpPr txBox="1"/>
          <p:nvPr/>
        </p:nvSpPr>
        <p:spPr>
          <a:xfrm>
            <a:off x="1023592" y="3056995"/>
            <a:ext cx="9522841" cy="2532638"/>
          </a:xfrm>
          <a:prstGeom prst="rect">
            <a:avLst/>
          </a:prstGeom>
        </p:spPr>
        <p:txBody>
          <a:bodyPr lIns="0" tIns="0" rIns="0" bIns="0" rtlCol="0" anchor="t">
            <a:spAutoFit/>
          </a:bodyPr>
          <a:lstStyle/>
          <a:p>
            <a:pPr marL="0" lvl="0" indent="0" algn="l">
              <a:lnSpc>
                <a:spcPts val="10181"/>
              </a:lnSpc>
              <a:spcBef>
                <a:spcPct val="0"/>
              </a:spcBef>
            </a:pPr>
            <a:r>
              <a:rPr lang="en-US" sz="7272" b="1" dirty="0">
                <a:solidFill>
                  <a:srgbClr val="FFFFFF"/>
                </a:solidFill>
                <a:latin typeface="Pattanakarn SemiCondensed Medium"/>
                <a:ea typeface="Pattanakarn SemiCondensed Medium"/>
                <a:cs typeface="Pattanakarn SemiCondensed Medium"/>
                <a:sym typeface="Pattanakarn SemiCondensed Medium"/>
              </a:rPr>
              <a:t>When the Brainstem Bleeds</a:t>
            </a:r>
          </a:p>
        </p:txBody>
      </p:sp>
      <p:sp>
        <p:nvSpPr>
          <p:cNvPr id="11" name="TextBox 11"/>
          <p:cNvSpPr txBox="1"/>
          <p:nvPr/>
        </p:nvSpPr>
        <p:spPr>
          <a:xfrm>
            <a:off x="1023592" y="6099405"/>
            <a:ext cx="8028680" cy="815925"/>
          </a:xfrm>
          <a:prstGeom prst="rect">
            <a:avLst/>
          </a:prstGeom>
        </p:spPr>
        <p:txBody>
          <a:bodyPr lIns="0" tIns="0" rIns="0" bIns="0" rtlCol="0" anchor="t">
            <a:spAutoFit/>
          </a:bodyPr>
          <a:lstStyle/>
          <a:p>
            <a:pPr marL="0" lvl="0" indent="0" algn="ctr">
              <a:lnSpc>
                <a:spcPts val="3315"/>
              </a:lnSpc>
              <a:spcBef>
                <a:spcPct val="0"/>
              </a:spcBef>
            </a:pPr>
            <a:r>
              <a:rPr lang="en-US" sz="2368" dirty="0">
                <a:solidFill>
                  <a:srgbClr val="FFFFFF"/>
                </a:solidFill>
                <a:latin typeface="Canva Sans"/>
                <a:ea typeface="Canva Sans"/>
                <a:cs typeface="Canva Sans"/>
                <a:sym typeface="Canva Sans"/>
              </a:rPr>
              <a:t>OT Cyber Risk and the Infrastructure Beneath the Cloud</a:t>
            </a:r>
          </a:p>
        </p:txBody>
      </p:sp>
      <p:sp>
        <p:nvSpPr>
          <p:cNvPr id="12" name="TextBox 12"/>
          <p:cNvSpPr txBox="1"/>
          <p:nvPr/>
        </p:nvSpPr>
        <p:spPr>
          <a:xfrm>
            <a:off x="2716685" y="9001287"/>
            <a:ext cx="2897251" cy="620298"/>
          </a:xfrm>
          <a:prstGeom prst="rect">
            <a:avLst/>
          </a:prstGeom>
        </p:spPr>
        <p:txBody>
          <a:bodyPr wrap="square" lIns="0" tIns="0" rIns="0" bIns="0" rtlCol="0" anchor="t">
            <a:spAutoFit/>
          </a:bodyPr>
          <a:lstStyle/>
          <a:p>
            <a:pPr marL="0" lvl="0" indent="0" algn="l">
              <a:lnSpc>
                <a:spcPts val="2507"/>
              </a:lnSpc>
              <a:spcBef>
                <a:spcPct val="0"/>
              </a:spcBef>
            </a:pPr>
            <a:r>
              <a:rPr lang="en-US" sz="1791" b="1" dirty="0">
                <a:solidFill>
                  <a:srgbClr val="FFFFFF"/>
                </a:solidFill>
                <a:latin typeface="Canva Sans Bold"/>
                <a:ea typeface="Canva Sans Bold"/>
                <a:cs typeface="Canva Sans Bold"/>
                <a:sym typeface="Canva Sans Bold"/>
              </a:rPr>
              <a:t>AWS Cloud Practitioner,</a:t>
            </a:r>
            <a:br>
              <a:rPr lang="en-US" sz="1791" b="1" dirty="0">
                <a:solidFill>
                  <a:srgbClr val="FFFFFF"/>
                </a:solidFill>
                <a:latin typeface="Canva Sans Bold"/>
                <a:ea typeface="Canva Sans Bold"/>
                <a:cs typeface="Canva Sans Bold"/>
                <a:sym typeface="Canva Sans Bold"/>
              </a:rPr>
            </a:br>
            <a:r>
              <a:rPr lang="en-US" sz="1791" b="1" dirty="0">
                <a:solidFill>
                  <a:srgbClr val="FFFFFF"/>
                </a:solidFill>
                <a:latin typeface="Canva Sans Bold"/>
                <a:ea typeface="Canva Sans Bold"/>
                <a:cs typeface="Canva Sans Bold"/>
                <a:sym typeface="Canva Sans Bold"/>
              </a:rPr>
              <a:t>AWS Solutions Architect</a:t>
            </a:r>
          </a:p>
        </p:txBody>
      </p:sp>
      <p:sp>
        <p:nvSpPr>
          <p:cNvPr id="13" name="TextBox 13"/>
          <p:cNvSpPr txBox="1"/>
          <p:nvPr/>
        </p:nvSpPr>
        <p:spPr>
          <a:xfrm>
            <a:off x="7650295" y="8924314"/>
            <a:ext cx="4929063" cy="620298"/>
          </a:xfrm>
          <a:prstGeom prst="rect">
            <a:avLst/>
          </a:prstGeom>
        </p:spPr>
        <p:txBody>
          <a:bodyPr wrap="square" lIns="0" tIns="0" rIns="0" bIns="0" rtlCol="0" anchor="t">
            <a:spAutoFit/>
          </a:bodyPr>
          <a:lstStyle/>
          <a:p>
            <a:pPr marL="0" lvl="0" indent="0" algn="l">
              <a:lnSpc>
                <a:spcPts val="2507"/>
              </a:lnSpc>
              <a:spcBef>
                <a:spcPct val="0"/>
              </a:spcBef>
            </a:pPr>
            <a:r>
              <a:rPr lang="en-US" sz="1791" b="1" dirty="0">
                <a:solidFill>
                  <a:srgbClr val="FFFFFF"/>
                </a:solidFill>
                <a:latin typeface="Canva Sans Bold"/>
                <a:ea typeface="Canva Sans Bold"/>
                <a:cs typeface="Canva Sans Bold"/>
                <a:sym typeface="Canva Sans Bold"/>
              </a:rPr>
              <a:t>COMPTIA Security+ se, ISC2 CC</a:t>
            </a:r>
            <a:br>
              <a:rPr lang="en-US" sz="1791" b="1" dirty="0">
                <a:solidFill>
                  <a:srgbClr val="FFFFFF"/>
                </a:solidFill>
                <a:latin typeface="Canva Sans Bold"/>
                <a:ea typeface="Canva Sans Bold"/>
                <a:cs typeface="Canva Sans Bold"/>
                <a:sym typeface="Canva Sans Bold"/>
              </a:rPr>
            </a:br>
            <a:r>
              <a:rPr lang="en-US" sz="1791" b="1" dirty="0">
                <a:solidFill>
                  <a:srgbClr val="FFFFFF"/>
                </a:solidFill>
                <a:latin typeface="Canva Sans Bold"/>
                <a:ea typeface="Canva Sans Bold"/>
                <a:cs typeface="Canva Sans Bold"/>
                <a:sym typeface="Canva Sans Bold"/>
              </a:rPr>
              <a:t>AWS Cloud Practitioner, Solutions Architect</a:t>
            </a:r>
          </a:p>
        </p:txBody>
      </p:sp>
      <p:sp>
        <p:nvSpPr>
          <p:cNvPr id="14" name="TextBox 14"/>
          <p:cNvSpPr txBox="1"/>
          <p:nvPr/>
        </p:nvSpPr>
        <p:spPr>
          <a:xfrm>
            <a:off x="2716685" y="8600709"/>
            <a:ext cx="3086100" cy="304314"/>
          </a:xfrm>
          <a:prstGeom prst="rect">
            <a:avLst/>
          </a:prstGeom>
        </p:spPr>
        <p:txBody>
          <a:bodyPr wrap="square" lIns="0" tIns="0" rIns="0" bIns="0" rtlCol="0" anchor="t">
            <a:spAutoFit/>
          </a:bodyPr>
          <a:lstStyle/>
          <a:p>
            <a:pPr marL="0" lvl="0" indent="0" algn="l">
              <a:lnSpc>
                <a:spcPts val="2218"/>
              </a:lnSpc>
              <a:spcBef>
                <a:spcPct val="0"/>
              </a:spcBef>
            </a:pPr>
            <a:r>
              <a:rPr lang="en-US" sz="2800" b="1" dirty="0">
                <a:solidFill>
                  <a:srgbClr val="FFFFFF"/>
                </a:solidFill>
                <a:latin typeface="Canva Sans"/>
                <a:ea typeface="Canva Sans"/>
                <a:cs typeface="Canva Sans"/>
                <a:sym typeface="Canva Sans"/>
              </a:rPr>
              <a:t>Zach Boudreaux</a:t>
            </a:r>
          </a:p>
        </p:txBody>
      </p:sp>
      <p:sp>
        <p:nvSpPr>
          <p:cNvPr id="15" name="TextBox 15"/>
          <p:cNvSpPr txBox="1"/>
          <p:nvPr/>
        </p:nvSpPr>
        <p:spPr>
          <a:xfrm>
            <a:off x="7650295" y="8600709"/>
            <a:ext cx="2318594" cy="304314"/>
          </a:xfrm>
          <a:prstGeom prst="rect">
            <a:avLst/>
          </a:prstGeom>
        </p:spPr>
        <p:txBody>
          <a:bodyPr lIns="0" tIns="0" rIns="0" bIns="0" rtlCol="0" anchor="t">
            <a:spAutoFit/>
          </a:bodyPr>
          <a:lstStyle/>
          <a:p>
            <a:pPr marL="0" lvl="0" indent="0" algn="l">
              <a:lnSpc>
                <a:spcPts val="2218"/>
              </a:lnSpc>
              <a:spcBef>
                <a:spcPct val="0"/>
              </a:spcBef>
            </a:pPr>
            <a:r>
              <a:rPr lang="en-US" sz="2800" dirty="0">
                <a:solidFill>
                  <a:srgbClr val="FFFFFF"/>
                </a:solidFill>
                <a:latin typeface="Canva Sans"/>
                <a:ea typeface="Canva Sans"/>
                <a:cs typeface="Canva Sans"/>
                <a:sym typeface="Canva Sans"/>
              </a:rPr>
              <a:t>Lance Dye</a:t>
            </a:r>
          </a:p>
        </p:txBody>
      </p:sp>
      <p:grpSp>
        <p:nvGrpSpPr>
          <p:cNvPr id="23" name="Group 22">
            <a:extLst>
              <a:ext uri="{FF2B5EF4-FFF2-40B4-BE49-F238E27FC236}">
                <a16:creationId xmlns:a16="http://schemas.microsoft.com/office/drawing/2014/main" id="{5CE08AF9-174D-AEDF-28F6-A2490552F208}"/>
              </a:ext>
            </a:extLst>
          </p:cNvPr>
          <p:cNvGrpSpPr/>
          <p:nvPr/>
        </p:nvGrpSpPr>
        <p:grpSpPr>
          <a:xfrm>
            <a:off x="16973621" y="8970630"/>
            <a:ext cx="1104900" cy="1109382"/>
            <a:chOff x="8458200" y="1333500"/>
            <a:chExt cx="1104900" cy="1109382"/>
          </a:xfrm>
        </p:grpSpPr>
        <p:sp>
          <p:nvSpPr>
            <p:cNvPr id="19" name="Rectangle 18">
              <a:extLst>
                <a:ext uri="{FF2B5EF4-FFF2-40B4-BE49-F238E27FC236}">
                  <a16:creationId xmlns:a16="http://schemas.microsoft.com/office/drawing/2014/main" id="{377844AE-2911-66AB-4397-5949C9233BAE}"/>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F59C728-306A-75B3-4C09-8DBD02B18035}"/>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94FADA0-5118-F5DF-149B-879666FFFFAC}"/>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9ABF55A-937C-ADB1-54E4-D36804CBFD41}"/>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151" name="Picture 7" descr="profile image">
            <a:extLst>
              <a:ext uri="{FF2B5EF4-FFF2-40B4-BE49-F238E27FC236}">
                <a16:creationId xmlns:a16="http://schemas.microsoft.com/office/drawing/2014/main" id="{953441BB-28BD-D6B4-51BE-1703BF8F7F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5702" y="8304873"/>
            <a:ext cx="1392827" cy="13928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6153" name="Picture 9" descr="Profile photo of Zachary Boudreaux">
            <a:extLst>
              <a:ext uri="{FF2B5EF4-FFF2-40B4-BE49-F238E27FC236}">
                <a16:creationId xmlns:a16="http://schemas.microsoft.com/office/drawing/2014/main" id="{D583CB05-1F25-E151-581A-87B38129C2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9523" y="8304873"/>
            <a:ext cx="1392827" cy="13928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sp>
        <p:nvSpPr>
          <p:cNvPr id="40" name="Rectangle 39">
            <a:extLst>
              <a:ext uri="{FF2B5EF4-FFF2-40B4-BE49-F238E27FC236}">
                <a16:creationId xmlns:a16="http://schemas.microsoft.com/office/drawing/2014/main" id="{F4C4B50F-9E16-9649-CA3F-FB86983EA20A}"/>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5"/>
          <p:cNvSpPr txBox="1"/>
          <p:nvPr/>
        </p:nvSpPr>
        <p:spPr>
          <a:xfrm>
            <a:off x="0" y="-192852"/>
            <a:ext cx="18288000" cy="10431661"/>
          </a:xfrm>
          <a:prstGeom prst="rect">
            <a:avLst/>
          </a:prstGeom>
        </p:spPr>
        <p:txBody>
          <a:bodyPr lIns="50800" tIns="50800" rIns="50800" bIns="50800" rtlCol="0" anchor="ctr"/>
          <a:lstStyle/>
          <a:p>
            <a:pPr marL="0" lvl="0" indent="0" algn="ctr">
              <a:lnSpc>
                <a:spcPts val="2337"/>
              </a:lnSpc>
              <a:spcBef>
                <a:spcPct val="0"/>
              </a:spcBef>
            </a:pPr>
            <a:endParaRPr/>
          </a:p>
        </p:txBody>
      </p:sp>
      <p:sp>
        <p:nvSpPr>
          <p:cNvPr id="6" name="TextBox 6"/>
          <p:cNvSpPr txBox="1"/>
          <p:nvPr/>
        </p:nvSpPr>
        <p:spPr>
          <a:xfrm>
            <a:off x="1571646" y="1821488"/>
            <a:ext cx="6709155" cy="948978"/>
          </a:xfrm>
          <a:prstGeom prst="rect">
            <a:avLst/>
          </a:prstGeom>
        </p:spPr>
        <p:txBody>
          <a:bodyPr lIns="0" tIns="0" rIns="0" bIns="0" rtlCol="0" anchor="t">
            <a:spAutoFit/>
          </a:bodyPr>
          <a:lstStyle/>
          <a:p>
            <a:pPr marL="0" lvl="0" indent="0" algn="l">
              <a:lnSpc>
                <a:spcPts val="7379"/>
              </a:lnSpc>
              <a:spcBef>
                <a:spcPct val="0"/>
              </a:spcBef>
            </a:pPr>
            <a:r>
              <a:rPr lang="en-US" sz="6000" b="1" dirty="0">
                <a:solidFill>
                  <a:srgbClr val="FFFFFF"/>
                </a:solidFill>
                <a:latin typeface="Pattanakarn SemiCondensed Medium"/>
                <a:ea typeface="Pattanakarn SemiCondensed Medium"/>
                <a:cs typeface="Pattanakarn SemiCondensed Medium"/>
                <a:sym typeface="Pattanakarn SemiCondensed Medium"/>
              </a:rPr>
              <a:t>They've Been</a:t>
            </a:r>
          </a:p>
        </p:txBody>
      </p:sp>
      <p:sp>
        <p:nvSpPr>
          <p:cNvPr id="7" name="TextBox 7"/>
          <p:cNvSpPr txBox="1"/>
          <p:nvPr/>
        </p:nvSpPr>
        <p:spPr>
          <a:xfrm>
            <a:off x="1571646" y="2673364"/>
            <a:ext cx="6709155" cy="1897955"/>
          </a:xfrm>
          <a:prstGeom prst="rect">
            <a:avLst/>
          </a:prstGeom>
        </p:spPr>
        <p:txBody>
          <a:bodyPr lIns="0" tIns="0" rIns="0" bIns="0" rtlCol="0" anchor="t">
            <a:spAutoFit/>
          </a:bodyPr>
          <a:lstStyle/>
          <a:p>
            <a:pPr marL="0" lvl="0" indent="0" algn="l">
              <a:lnSpc>
                <a:spcPts val="7379"/>
              </a:lnSpc>
              <a:spcBef>
                <a:spcPct val="0"/>
              </a:spcBef>
            </a:pPr>
            <a:r>
              <a:rPr lang="en-US" sz="6000" b="1" dirty="0">
                <a:solidFill>
                  <a:srgbClr val="FFFFFF"/>
                </a:solidFill>
                <a:latin typeface="Pattanakarn SemiCondensed Medium"/>
                <a:ea typeface="Pattanakarn SemiCondensed Medium"/>
                <a:cs typeface="Pattanakarn SemiCondensed Medium"/>
                <a:sym typeface="Pattanakarn SemiCondensed Medium"/>
              </a:rPr>
              <a:t>Learning Since 2010</a:t>
            </a:r>
          </a:p>
        </p:txBody>
      </p:sp>
      <p:sp>
        <p:nvSpPr>
          <p:cNvPr id="8" name="TextBox 8"/>
          <p:cNvSpPr txBox="1"/>
          <p:nvPr/>
        </p:nvSpPr>
        <p:spPr>
          <a:xfrm>
            <a:off x="1595092" y="4826767"/>
            <a:ext cx="6709155" cy="1712954"/>
          </a:xfrm>
          <a:prstGeom prst="rect">
            <a:avLst/>
          </a:prstGeom>
        </p:spPr>
        <p:txBody>
          <a:bodyPr lIns="0" tIns="0" rIns="0" bIns="0" rtlCol="0" anchor="t">
            <a:spAutoFit/>
          </a:bodyPr>
          <a:lstStyle/>
          <a:p>
            <a:pPr marL="0" lvl="0" indent="0" algn="l">
              <a:lnSpc>
                <a:spcPts val="2710"/>
              </a:lnSpc>
              <a:spcBef>
                <a:spcPct val="0"/>
              </a:spcBef>
            </a:pPr>
            <a:r>
              <a:rPr lang="en-US" sz="1935" dirty="0">
                <a:solidFill>
                  <a:srgbClr val="FFFFFF"/>
                </a:solidFill>
                <a:latin typeface="Canva Sans"/>
                <a:ea typeface="Canva Sans"/>
                <a:cs typeface="Canva Sans"/>
                <a:sym typeface="Canva Sans"/>
              </a:rPr>
              <a:t>The sophistication of nation-state cyber operations targeting critical infrastructure has evolved dramatically over 15 years. What began as experimental sabotage has matured into persistent, stealthy campaigns designed for long-term access and strategic disruption.</a:t>
            </a:r>
          </a:p>
        </p:txBody>
      </p:sp>
      <p:sp>
        <p:nvSpPr>
          <p:cNvPr id="9" name="Freeform 9"/>
          <p:cNvSpPr/>
          <p:nvPr/>
        </p:nvSpPr>
        <p:spPr>
          <a:xfrm flipH="1">
            <a:off x="13894843" y="6497185"/>
            <a:ext cx="4393156" cy="3789815"/>
          </a:xfrm>
          <a:custGeom>
            <a:avLst/>
            <a:gdLst/>
            <a:ahLst/>
            <a:cxnLst/>
            <a:rect l="l" t="t" r="r" b="b"/>
            <a:pathLst>
              <a:path w="13527672" h="12293272">
                <a:moveTo>
                  <a:pt x="13527672" y="0"/>
                </a:moveTo>
                <a:lnTo>
                  <a:pt x="0" y="0"/>
                </a:lnTo>
                <a:lnTo>
                  <a:pt x="0" y="12293272"/>
                </a:lnTo>
                <a:lnTo>
                  <a:pt x="13527672" y="12293272"/>
                </a:lnTo>
                <a:lnTo>
                  <a:pt x="13527672" y="0"/>
                </a:lnTo>
                <a:close/>
              </a:path>
            </a:pathLst>
          </a:custGeom>
          <a:blipFill>
            <a:blip>
              <a:extLst>
                <a:ext uri="{96DAC541-7B7A-43D3-8B79-37D633B846F1}">
                  <asvg:svgBlip xmlns:asvg="http://schemas.microsoft.com/office/drawing/2016/SVG/main" r:embed="rId6"/>
                </a:ext>
              </a:extLst>
            </a:blip>
            <a:stretch>
              <a:fillRect l="-202284" t="1" r="-5642" b="-224378"/>
            </a:stretch>
          </a:blipFill>
        </p:spPr>
        <p:txBody>
          <a:bodyPr/>
          <a:lstStyle/>
          <a:p>
            <a:endParaRPr lang="en-US"/>
          </a:p>
        </p:txBody>
      </p:sp>
      <p:sp>
        <p:nvSpPr>
          <p:cNvPr id="10" name="TextBox 10"/>
          <p:cNvSpPr txBox="1"/>
          <p:nvPr/>
        </p:nvSpPr>
        <p:spPr>
          <a:xfrm>
            <a:off x="1595092" y="7161596"/>
            <a:ext cx="6709155" cy="2055854"/>
          </a:xfrm>
          <a:prstGeom prst="rect">
            <a:avLst/>
          </a:prstGeom>
        </p:spPr>
        <p:txBody>
          <a:bodyPr lIns="0" tIns="0" rIns="0" bIns="0" rtlCol="0" anchor="t">
            <a:spAutoFit/>
          </a:bodyPr>
          <a:lstStyle/>
          <a:p>
            <a:pPr marL="0" lvl="0" indent="0" algn="l">
              <a:lnSpc>
                <a:spcPts val="2710"/>
              </a:lnSpc>
              <a:spcBef>
                <a:spcPct val="0"/>
              </a:spcBef>
            </a:pPr>
            <a:r>
              <a:rPr lang="en-US" sz="1935">
                <a:solidFill>
                  <a:srgbClr val="FFFFFF"/>
                </a:solidFill>
                <a:latin typeface="Canva Sans"/>
                <a:ea typeface="Canva Sans"/>
                <a:cs typeface="Canva Sans"/>
                <a:sym typeface="Canva Sans"/>
              </a:rPr>
              <a:t>Each major incident revealed new capabilities and intent. Adversaries studied defenses, adapted techniques, and expanded targets from isolated industrial systems to interconnected national infrastructure spanning energy, water, and communications.</a:t>
            </a:r>
          </a:p>
        </p:txBody>
      </p:sp>
      <p:grpSp>
        <p:nvGrpSpPr>
          <p:cNvPr id="11" name="Group 11"/>
          <p:cNvGrpSpPr/>
          <p:nvPr/>
        </p:nvGrpSpPr>
        <p:grpSpPr>
          <a:xfrm>
            <a:off x="9952314" y="1296300"/>
            <a:ext cx="1050380" cy="1050376"/>
            <a:chOff x="0" y="0"/>
            <a:chExt cx="299974" cy="299847"/>
          </a:xfrm>
        </p:grpSpPr>
        <p:sp>
          <p:nvSpPr>
            <p:cNvPr id="12" name="Freeform 12"/>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3" name="TextBox 13"/>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14" name="Group 14"/>
          <p:cNvGrpSpPr/>
          <p:nvPr/>
        </p:nvGrpSpPr>
        <p:grpSpPr>
          <a:xfrm>
            <a:off x="9952314" y="3396958"/>
            <a:ext cx="1050380" cy="1050376"/>
            <a:chOff x="0" y="0"/>
            <a:chExt cx="299974" cy="299847"/>
          </a:xfrm>
        </p:grpSpPr>
        <p:sp>
          <p:nvSpPr>
            <p:cNvPr id="15" name="Freeform 15"/>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6" name="TextBox 16"/>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17" name="Group 17"/>
          <p:cNvGrpSpPr/>
          <p:nvPr/>
        </p:nvGrpSpPr>
        <p:grpSpPr>
          <a:xfrm>
            <a:off x="9952314" y="5496488"/>
            <a:ext cx="1050380" cy="1050376"/>
            <a:chOff x="0" y="0"/>
            <a:chExt cx="299974" cy="299847"/>
          </a:xfrm>
        </p:grpSpPr>
        <p:sp>
          <p:nvSpPr>
            <p:cNvPr id="18" name="Freeform 18"/>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9" name="TextBox 19"/>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20" name="Group 20"/>
          <p:cNvGrpSpPr/>
          <p:nvPr/>
        </p:nvGrpSpPr>
        <p:grpSpPr>
          <a:xfrm>
            <a:off x="9952314" y="7596019"/>
            <a:ext cx="1050380" cy="1050376"/>
            <a:chOff x="0" y="0"/>
            <a:chExt cx="299974" cy="299847"/>
          </a:xfrm>
        </p:grpSpPr>
        <p:sp>
          <p:nvSpPr>
            <p:cNvPr id="21" name="Freeform 21"/>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22" name="TextBox 22"/>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sp>
        <p:nvSpPr>
          <p:cNvPr id="23" name="TextBox 23"/>
          <p:cNvSpPr txBox="1"/>
          <p:nvPr/>
        </p:nvSpPr>
        <p:spPr>
          <a:xfrm>
            <a:off x="11346552" y="1883963"/>
            <a:ext cx="5213918" cy="501869"/>
          </a:xfrm>
          <a:prstGeom prst="rect">
            <a:avLst/>
          </a:prstGeom>
        </p:spPr>
        <p:txBody>
          <a:bodyPr lIns="0" tIns="0" rIns="0" bIns="0" rtlCol="0" anchor="t">
            <a:spAutoFit/>
          </a:bodyPr>
          <a:lstStyle/>
          <a:p>
            <a:pPr marL="0" lvl="0" indent="0" algn="l">
              <a:lnSpc>
                <a:spcPts val="1971"/>
              </a:lnSpc>
              <a:spcBef>
                <a:spcPct val="0"/>
              </a:spcBef>
            </a:pPr>
            <a:r>
              <a:rPr lang="en-US" sz="1600" dirty="0">
                <a:solidFill>
                  <a:srgbClr val="FFFFFF"/>
                </a:solidFill>
                <a:latin typeface="Canva Sans"/>
                <a:ea typeface="Canva Sans"/>
                <a:cs typeface="Canva Sans"/>
                <a:sym typeface="Canva Sans"/>
              </a:rPr>
              <a:t>First weaponized ICS malware, proved air-gapped SCADA reachable. </a:t>
            </a:r>
          </a:p>
        </p:txBody>
      </p:sp>
      <p:sp>
        <p:nvSpPr>
          <p:cNvPr id="24" name="TextBox 24"/>
          <p:cNvSpPr txBox="1"/>
          <p:nvPr/>
        </p:nvSpPr>
        <p:spPr>
          <a:xfrm>
            <a:off x="11346552" y="3984620"/>
            <a:ext cx="5213918" cy="245388"/>
          </a:xfrm>
          <a:prstGeom prst="rect">
            <a:avLst/>
          </a:prstGeom>
        </p:spPr>
        <p:txBody>
          <a:bodyPr lIns="0" tIns="0" rIns="0" bIns="0" rtlCol="0" anchor="t">
            <a:spAutoFit/>
          </a:bodyPr>
          <a:lstStyle/>
          <a:p>
            <a:pPr marL="0" lvl="0" indent="0" algn="l">
              <a:lnSpc>
                <a:spcPts val="1971"/>
              </a:lnSpc>
              <a:spcBef>
                <a:spcPct val="0"/>
              </a:spcBef>
            </a:pPr>
            <a:r>
              <a:rPr lang="en-US" sz="1600" dirty="0" err="1">
                <a:solidFill>
                  <a:srgbClr val="FFFFFF"/>
                </a:solidFill>
                <a:latin typeface="Canva Sans"/>
                <a:ea typeface="Canva Sans"/>
                <a:cs typeface="Canva Sans"/>
                <a:sym typeface="Canva Sans"/>
              </a:rPr>
              <a:t>BlackEnergy</a:t>
            </a:r>
            <a:r>
              <a:rPr lang="en-US" sz="1600" dirty="0">
                <a:solidFill>
                  <a:srgbClr val="FFFFFF"/>
                </a:solidFill>
                <a:latin typeface="Canva Sans"/>
                <a:ea typeface="Canva Sans"/>
                <a:cs typeface="Canva Sans"/>
                <a:sym typeface="Canva Sans"/>
              </a:rPr>
              <a:t>/</a:t>
            </a:r>
            <a:r>
              <a:rPr lang="en-US" sz="1600" dirty="0" err="1">
                <a:solidFill>
                  <a:srgbClr val="FFFFFF"/>
                </a:solidFill>
                <a:latin typeface="Canva Sans"/>
                <a:ea typeface="Canva Sans"/>
                <a:cs typeface="Canva Sans"/>
                <a:sym typeface="Canva Sans"/>
              </a:rPr>
              <a:t>Industroyer</a:t>
            </a:r>
            <a:r>
              <a:rPr lang="en-US" sz="1600" dirty="0">
                <a:solidFill>
                  <a:srgbClr val="FFFFFF"/>
                </a:solidFill>
                <a:latin typeface="Canva Sans"/>
                <a:ea typeface="Canva Sans"/>
                <a:cs typeface="Canva Sans"/>
                <a:sym typeface="Canva Sans"/>
              </a:rPr>
              <a:t> caused real power outages</a:t>
            </a:r>
            <a:r>
              <a:rPr lang="en-US" sz="1408" dirty="0">
                <a:solidFill>
                  <a:srgbClr val="FFFFFF"/>
                </a:solidFill>
                <a:latin typeface="Canva Sans"/>
                <a:ea typeface="Canva Sans"/>
                <a:cs typeface="Canva Sans"/>
                <a:sym typeface="Canva Sans"/>
              </a:rPr>
              <a:t>.</a:t>
            </a:r>
          </a:p>
        </p:txBody>
      </p:sp>
      <p:sp>
        <p:nvSpPr>
          <p:cNvPr id="25" name="TextBox 25"/>
          <p:cNvSpPr txBox="1"/>
          <p:nvPr/>
        </p:nvSpPr>
        <p:spPr>
          <a:xfrm>
            <a:off x="11346552" y="1258200"/>
            <a:ext cx="4600916" cy="404905"/>
          </a:xfrm>
          <a:prstGeom prst="rect">
            <a:avLst/>
          </a:prstGeom>
        </p:spPr>
        <p:txBody>
          <a:bodyPr lIns="0" tIns="0" rIns="0" bIns="0" rtlCol="0" anchor="t">
            <a:spAutoFit/>
          </a:bodyPr>
          <a:lstStyle/>
          <a:p>
            <a:pPr marL="0" lvl="0" indent="0" algn="l">
              <a:lnSpc>
                <a:spcPts val="3407"/>
              </a:lnSpc>
              <a:spcBef>
                <a:spcPct val="0"/>
              </a:spcBef>
            </a:pPr>
            <a:r>
              <a:rPr lang="en-US" sz="2433" b="1">
                <a:solidFill>
                  <a:srgbClr val="FFFFFF"/>
                </a:solidFill>
                <a:latin typeface="Canva Sans Bold"/>
                <a:ea typeface="Canva Sans Bold"/>
                <a:cs typeface="Canva Sans Bold"/>
                <a:sym typeface="Canva Sans Bold"/>
              </a:rPr>
              <a:t>Stuxnet (2010)</a:t>
            </a:r>
          </a:p>
        </p:txBody>
      </p:sp>
      <p:sp>
        <p:nvSpPr>
          <p:cNvPr id="26" name="TextBox 26"/>
          <p:cNvSpPr txBox="1"/>
          <p:nvPr/>
        </p:nvSpPr>
        <p:spPr>
          <a:xfrm>
            <a:off x="10102469" y="1571331"/>
            <a:ext cx="750070" cy="404905"/>
          </a:xfrm>
          <a:prstGeom prst="rect">
            <a:avLst/>
          </a:prstGeom>
        </p:spPr>
        <p:txBody>
          <a:bodyPr lIns="0" tIns="0" rIns="0" bIns="0" rtlCol="0" anchor="t">
            <a:spAutoFit/>
          </a:bodyPr>
          <a:lstStyle/>
          <a:p>
            <a:pPr marL="0" lvl="0" indent="0" algn="ctr">
              <a:lnSpc>
                <a:spcPts val="3407"/>
              </a:lnSpc>
              <a:spcBef>
                <a:spcPct val="0"/>
              </a:spcBef>
            </a:pPr>
            <a:r>
              <a:rPr lang="en-US" sz="2433" b="1">
                <a:solidFill>
                  <a:srgbClr val="FFFFFF"/>
                </a:solidFill>
                <a:latin typeface="Canva Sans Bold"/>
                <a:ea typeface="Canva Sans Bold"/>
                <a:cs typeface="Canva Sans Bold"/>
                <a:sym typeface="Canva Sans Bold"/>
              </a:rPr>
              <a:t>01</a:t>
            </a:r>
          </a:p>
        </p:txBody>
      </p:sp>
      <p:sp>
        <p:nvSpPr>
          <p:cNvPr id="27" name="TextBox 27"/>
          <p:cNvSpPr txBox="1"/>
          <p:nvPr/>
        </p:nvSpPr>
        <p:spPr>
          <a:xfrm>
            <a:off x="10102469" y="3671989"/>
            <a:ext cx="750070" cy="404905"/>
          </a:xfrm>
          <a:prstGeom prst="rect">
            <a:avLst/>
          </a:prstGeom>
        </p:spPr>
        <p:txBody>
          <a:bodyPr lIns="0" tIns="0" rIns="0" bIns="0" rtlCol="0" anchor="t">
            <a:spAutoFit/>
          </a:bodyPr>
          <a:lstStyle/>
          <a:p>
            <a:pPr marL="0" lvl="0" indent="0" algn="ctr">
              <a:lnSpc>
                <a:spcPts val="3407"/>
              </a:lnSpc>
              <a:spcBef>
                <a:spcPct val="0"/>
              </a:spcBef>
            </a:pPr>
            <a:r>
              <a:rPr lang="en-US" sz="2433" b="1">
                <a:solidFill>
                  <a:srgbClr val="FFFFFF"/>
                </a:solidFill>
                <a:latin typeface="Canva Sans Bold"/>
                <a:ea typeface="Canva Sans Bold"/>
                <a:cs typeface="Canva Sans Bold"/>
                <a:sym typeface="Canva Sans Bold"/>
              </a:rPr>
              <a:t>02</a:t>
            </a:r>
          </a:p>
        </p:txBody>
      </p:sp>
      <p:sp>
        <p:nvSpPr>
          <p:cNvPr id="28" name="TextBox 28"/>
          <p:cNvSpPr txBox="1"/>
          <p:nvPr/>
        </p:nvSpPr>
        <p:spPr>
          <a:xfrm>
            <a:off x="11346552" y="3358859"/>
            <a:ext cx="5213918" cy="404904"/>
          </a:xfrm>
          <a:prstGeom prst="rect">
            <a:avLst/>
          </a:prstGeom>
        </p:spPr>
        <p:txBody>
          <a:bodyPr wrap="square" lIns="0" tIns="0" rIns="0" bIns="0" rtlCol="0" anchor="t">
            <a:spAutoFit/>
          </a:bodyPr>
          <a:lstStyle/>
          <a:p>
            <a:pPr marL="0" lvl="0" indent="0" algn="l">
              <a:lnSpc>
                <a:spcPts val="3407"/>
              </a:lnSpc>
              <a:spcBef>
                <a:spcPct val="0"/>
              </a:spcBef>
            </a:pPr>
            <a:r>
              <a:rPr lang="en-US" sz="2433" b="1" dirty="0">
                <a:solidFill>
                  <a:srgbClr val="FFFFFF"/>
                </a:solidFill>
                <a:latin typeface="Canva Sans Bold"/>
                <a:ea typeface="Canva Sans Bold"/>
                <a:cs typeface="Canva Sans Bold"/>
                <a:sym typeface="Canva Sans Bold"/>
              </a:rPr>
              <a:t>Ukraine Grid Attacks (2015-16)</a:t>
            </a:r>
          </a:p>
        </p:txBody>
      </p:sp>
      <p:sp>
        <p:nvSpPr>
          <p:cNvPr id="29" name="TextBox 29"/>
          <p:cNvSpPr txBox="1"/>
          <p:nvPr/>
        </p:nvSpPr>
        <p:spPr>
          <a:xfrm>
            <a:off x="11346552" y="6084151"/>
            <a:ext cx="5213918" cy="501869"/>
          </a:xfrm>
          <a:prstGeom prst="rect">
            <a:avLst/>
          </a:prstGeom>
        </p:spPr>
        <p:txBody>
          <a:bodyPr lIns="0" tIns="0" rIns="0" bIns="0" rtlCol="0" anchor="t">
            <a:spAutoFit/>
          </a:bodyPr>
          <a:lstStyle/>
          <a:p>
            <a:pPr marL="0" lvl="0" indent="0" algn="l">
              <a:lnSpc>
                <a:spcPts val="1971"/>
              </a:lnSpc>
              <a:spcBef>
                <a:spcPct val="0"/>
              </a:spcBef>
            </a:pPr>
            <a:r>
              <a:rPr lang="en-US" sz="1600" dirty="0">
                <a:solidFill>
                  <a:srgbClr val="FFFFFF"/>
                </a:solidFill>
                <a:latin typeface="Canva Sans"/>
                <a:ea typeface="Canva Sans"/>
                <a:cs typeface="Canva Sans"/>
                <a:sym typeface="Canva Sans"/>
              </a:rPr>
              <a:t>supply chain hit 18,000 orgs, ransomware halted regional fuel distribution.</a:t>
            </a:r>
          </a:p>
        </p:txBody>
      </p:sp>
      <p:sp>
        <p:nvSpPr>
          <p:cNvPr id="30" name="TextBox 30"/>
          <p:cNvSpPr txBox="1"/>
          <p:nvPr/>
        </p:nvSpPr>
        <p:spPr>
          <a:xfrm>
            <a:off x="11346552" y="5458388"/>
            <a:ext cx="5213918" cy="404905"/>
          </a:xfrm>
          <a:prstGeom prst="rect">
            <a:avLst/>
          </a:prstGeom>
        </p:spPr>
        <p:txBody>
          <a:bodyPr lIns="0" tIns="0" rIns="0" bIns="0" rtlCol="0" anchor="t">
            <a:spAutoFit/>
          </a:bodyPr>
          <a:lstStyle/>
          <a:p>
            <a:pPr marL="0" lvl="0" indent="0" algn="l">
              <a:lnSpc>
                <a:spcPts val="3407"/>
              </a:lnSpc>
              <a:spcBef>
                <a:spcPct val="0"/>
              </a:spcBef>
            </a:pPr>
            <a:r>
              <a:rPr lang="en-US" sz="2433" b="1">
                <a:solidFill>
                  <a:srgbClr val="FFFFFF"/>
                </a:solidFill>
                <a:latin typeface="Canva Sans Bold"/>
                <a:ea typeface="Canva Sans Bold"/>
                <a:cs typeface="Canva Sans Bold"/>
                <a:sym typeface="Canva Sans Bold"/>
              </a:rPr>
              <a:t>SolarWinds &amp; Colonial (2020-21)</a:t>
            </a:r>
          </a:p>
        </p:txBody>
      </p:sp>
      <p:sp>
        <p:nvSpPr>
          <p:cNvPr id="31" name="TextBox 31"/>
          <p:cNvSpPr txBox="1"/>
          <p:nvPr/>
        </p:nvSpPr>
        <p:spPr>
          <a:xfrm>
            <a:off x="11346552" y="8183681"/>
            <a:ext cx="5213918" cy="758349"/>
          </a:xfrm>
          <a:prstGeom prst="rect">
            <a:avLst/>
          </a:prstGeom>
        </p:spPr>
        <p:txBody>
          <a:bodyPr lIns="0" tIns="0" rIns="0" bIns="0" rtlCol="0" anchor="t">
            <a:spAutoFit/>
          </a:bodyPr>
          <a:lstStyle/>
          <a:p>
            <a:pPr marL="0" lvl="0" indent="0" algn="l">
              <a:lnSpc>
                <a:spcPts val="1971"/>
              </a:lnSpc>
              <a:spcBef>
                <a:spcPct val="0"/>
              </a:spcBef>
            </a:pPr>
            <a:r>
              <a:rPr lang="en-US" sz="1600" dirty="0">
                <a:solidFill>
                  <a:srgbClr val="FFFFFF"/>
                </a:solidFill>
                <a:latin typeface="Canva Sans"/>
                <a:ea typeface="Canva Sans"/>
                <a:cs typeface="Canva Sans"/>
                <a:sym typeface="Canva Sans"/>
              </a:rPr>
              <a:t>Chinese state actors pre-positioned in U.S. energy and water OT. FBI Director Wray called it "the defining threat of our generation</a:t>
            </a:r>
          </a:p>
        </p:txBody>
      </p:sp>
      <p:sp>
        <p:nvSpPr>
          <p:cNvPr id="32" name="TextBox 32"/>
          <p:cNvSpPr txBox="1"/>
          <p:nvPr/>
        </p:nvSpPr>
        <p:spPr>
          <a:xfrm>
            <a:off x="11346552" y="7557919"/>
            <a:ext cx="4600916" cy="404905"/>
          </a:xfrm>
          <a:prstGeom prst="rect">
            <a:avLst/>
          </a:prstGeom>
        </p:spPr>
        <p:txBody>
          <a:bodyPr lIns="0" tIns="0" rIns="0" bIns="0" rtlCol="0" anchor="t">
            <a:spAutoFit/>
          </a:bodyPr>
          <a:lstStyle/>
          <a:p>
            <a:pPr marL="0" lvl="0" indent="0" algn="l">
              <a:lnSpc>
                <a:spcPts val="3407"/>
              </a:lnSpc>
              <a:spcBef>
                <a:spcPct val="0"/>
              </a:spcBef>
            </a:pPr>
            <a:r>
              <a:rPr lang="en-US" sz="2433" b="1">
                <a:solidFill>
                  <a:srgbClr val="FFFFFF"/>
                </a:solidFill>
                <a:latin typeface="Canva Sans Bold"/>
                <a:ea typeface="Canva Sans Bold"/>
                <a:cs typeface="Canva Sans Bold"/>
                <a:sym typeface="Canva Sans Bold"/>
              </a:rPr>
              <a:t>Volt Typhoon (2023-Present)</a:t>
            </a:r>
          </a:p>
        </p:txBody>
      </p:sp>
      <p:sp>
        <p:nvSpPr>
          <p:cNvPr id="33" name="TextBox 33"/>
          <p:cNvSpPr txBox="1"/>
          <p:nvPr/>
        </p:nvSpPr>
        <p:spPr>
          <a:xfrm>
            <a:off x="10102469" y="5772646"/>
            <a:ext cx="750070" cy="404905"/>
          </a:xfrm>
          <a:prstGeom prst="rect">
            <a:avLst/>
          </a:prstGeom>
        </p:spPr>
        <p:txBody>
          <a:bodyPr lIns="0" tIns="0" rIns="0" bIns="0" rtlCol="0" anchor="t">
            <a:spAutoFit/>
          </a:bodyPr>
          <a:lstStyle/>
          <a:p>
            <a:pPr marL="0" lvl="0" indent="0" algn="ctr">
              <a:lnSpc>
                <a:spcPts val="3407"/>
              </a:lnSpc>
              <a:spcBef>
                <a:spcPct val="0"/>
              </a:spcBef>
            </a:pPr>
            <a:r>
              <a:rPr lang="en-US" sz="2433" b="1">
                <a:solidFill>
                  <a:srgbClr val="FFFFFF"/>
                </a:solidFill>
                <a:latin typeface="Canva Sans Bold"/>
                <a:ea typeface="Canva Sans Bold"/>
                <a:cs typeface="Canva Sans Bold"/>
                <a:sym typeface="Canva Sans Bold"/>
              </a:rPr>
              <a:t>03</a:t>
            </a:r>
          </a:p>
        </p:txBody>
      </p:sp>
      <p:sp>
        <p:nvSpPr>
          <p:cNvPr id="34" name="TextBox 34"/>
          <p:cNvSpPr txBox="1"/>
          <p:nvPr/>
        </p:nvSpPr>
        <p:spPr>
          <a:xfrm>
            <a:off x="10102469" y="7873303"/>
            <a:ext cx="750070" cy="404905"/>
          </a:xfrm>
          <a:prstGeom prst="rect">
            <a:avLst/>
          </a:prstGeom>
        </p:spPr>
        <p:txBody>
          <a:bodyPr lIns="0" tIns="0" rIns="0" bIns="0" rtlCol="0" anchor="t">
            <a:spAutoFit/>
          </a:bodyPr>
          <a:lstStyle/>
          <a:p>
            <a:pPr marL="0" lvl="0" indent="0" algn="ctr">
              <a:lnSpc>
                <a:spcPts val="3407"/>
              </a:lnSpc>
              <a:spcBef>
                <a:spcPct val="0"/>
              </a:spcBef>
            </a:pPr>
            <a:r>
              <a:rPr lang="en-US" sz="2433" b="1">
                <a:solidFill>
                  <a:srgbClr val="FFFFFF"/>
                </a:solidFill>
                <a:latin typeface="Canva Sans Bold"/>
                <a:ea typeface="Canva Sans Bold"/>
                <a:cs typeface="Canva Sans Bold"/>
                <a:sym typeface="Canva Sans Bold"/>
              </a:rPr>
              <a:t>04</a:t>
            </a:r>
          </a:p>
        </p:txBody>
      </p:sp>
      <p:grpSp>
        <p:nvGrpSpPr>
          <p:cNvPr id="35" name="Group 34">
            <a:extLst>
              <a:ext uri="{FF2B5EF4-FFF2-40B4-BE49-F238E27FC236}">
                <a16:creationId xmlns:a16="http://schemas.microsoft.com/office/drawing/2014/main" id="{4700F28E-A6DC-F232-0FD1-DA31119E0AC2}"/>
              </a:ext>
            </a:extLst>
          </p:cNvPr>
          <p:cNvGrpSpPr/>
          <p:nvPr/>
        </p:nvGrpSpPr>
        <p:grpSpPr>
          <a:xfrm>
            <a:off x="16973621" y="8970630"/>
            <a:ext cx="1104900" cy="1109382"/>
            <a:chOff x="8458200" y="1333500"/>
            <a:chExt cx="1104900" cy="1109382"/>
          </a:xfrm>
        </p:grpSpPr>
        <p:sp>
          <p:nvSpPr>
            <p:cNvPr id="36" name="Rectangle 35">
              <a:extLst>
                <a:ext uri="{FF2B5EF4-FFF2-40B4-BE49-F238E27FC236}">
                  <a16:creationId xmlns:a16="http://schemas.microsoft.com/office/drawing/2014/main" id="{65909ACC-6915-8A61-740F-510ED8959F62}"/>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F57DFBB-21CF-4F9B-1250-66B94F979069}"/>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560DA1B-09FE-F2DC-6A7C-85B3ABD11DF3}"/>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8C7F102-13C5-07BE-C2CB-E5578D2C1E85}"/>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sp>
        <p:nvSpPr>
          <p:cNvPr id="28" name="Rectangle 27">
            <a:extLst>
              <a:ext uri="{FF2B5EF4-FFF2-40B4-BE49-F238E27FC236}">
                <a16:creationId xmlns:a16="http://schemas.microsoft.com/office/drawing/2014/main" id="{37353E20-B734-7B4B-8816-674896FE8719}"/>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7"/>
          <p:cNvGrpSpPr/>
          <p:nvPr/>
        </p:nvGrpSpPr>
        <p:grpSpPr>
          <a:xfrm>
            <a:off x="1028700" y="2111490"/>
            <a:ext cx="8893411" cy="3828704"/>
            <a:chOff x="0" y="0"/>
            <a:chExt cx="1314946" cy="566098"/>
          </a:xfrm>
        </p:grpSpPr>
        <p:sp>
          <p:nvSpPr>
            <p:cNvPr id="8" name="Freeform 8"/>
            <p:cNvSpPr/>
            <p:nvPr/>
          </p:nvSpPr>
          <p:spPr>
            <a:xfrm>
              <a:off x="0" y="0"/>
              <a:ext cx="1314946" cy="566098"/>
            </a:xfrm>
            <a:custGeom>
              <a:avLst/>
              <a:gdLst/>
              <a:ahLst/>
              <a:cxnLst/>
              <a:rect l="l" t="t" r="r" b="b"/>
              <a:pathLst>
                <a:path w="1314946" h="566098">
                  <a:moveTo>
                    <a:pt x="30468" y="0"/>
                  </a:moveTo>
                  <a:lnTo>
                    <a:pt x="1284478" y="0"/>
                  </a:lnTo>
                  <a:cubicBezTo>
                    <a:pt x="1301305" y="0"/>
                    <a:pt x="1314946" y="13641"/>
                    <a:pt x="1314946" y="30468"/>
                  </a:cubicBezTo>
                  <a:lnTo>
                    <a:pt x="1314946" y="535629"/>
                  </a:lnTo>
                  <a:cubicBezTo>
                    <a:pt x="1314946" y="552456"/>
                    <a:pt x="1301305" y="566098"/>
                    <a:pt x="1284478" y="566098"/>
                  </a:cubicBezTo>
                  <a:lnTo>
                    <a:pt x="30468" y="566098"/>
                  </a:lnTo>
                  <a:cubicBezTo>
                    <a:pt x="13641" y="566098"/>
                    <a:pt x="0" y="552456"/>
                    <a:pt x="0" y="535629"/>
                  </a:cubicBezTo>
                  <a:lnTo>
                    <a:pt x="0" y="30468"/>
                  </a:lnTo>
                  <a:cubicBezTo>
                    <a:pt x="0" y="13641"/>
                    <a:pt x="13641" y="0"/>
                    <a:pt x="30468" y="0"/>
                  </a:cubicBezTo>
                  <a:close/>
                </a:path>
              </a:pathLst>
            </a:custGeom>
            <a:blipFill>
              <a:blip r:embed="rId6"/>
              <a:stretch>
                <a:fillRect t="-16200" b="-16200"/>
              </a:stretch>
            </a:blipFill>
          </p:spPr>
          <p:txBody>
            <a:bodyPr/>
            <a:lstStyle/>
            <a:p>
              <a:endParaRPr lang="en-US"/>
            </a:p>
          </p:txBody>
        </p:sp>
      </p:grpSp>
      <p:sp>
        <p:nvSpPr>
          <p:cNvPr id="9" name="Freeform 9"/>
          <p:cNvSpPr/>
          <p:nvPr/>
        </p:nvSpPr>
        <p:spPr>
          <a:xfrm>
            <a:off x="1028700" y="6703313"/>
            <a:ext cx="598318" cy="598318"/>
          </a:xfrm>
          <a:custGeom>
            <a:avLst/>
            <a:gdLst/>
            <a:ahLst/>
            <a:cxnLst/>
            <a:rect l="l" t="t" r="r" b="b"/>
            <a:pathLst>
              <a:path w="598318" h="598318">
                <a:moveTo>
                  <a:pt x="0" y="0"/>
                </a:moveTo>
                <a:lnTo>
                  <a:pt x="598318" y="0"/>
                </a:lnTo>
                <a:lnTo>
                  <a:pt x="598318" y="598318"/>
                </a:lnTo>
                <a:lnTo>
                  <a:pt x="0" y="59831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Freeform 10"/>
          <p:cNvSpPr/>
          <p:nvPr/>
        </p:nvSpPr>
        <p:spPr>
          <a:xfrm>
            <a:off x="5805416" y="6703313"/>
            <a:ext cx="598318" cy="598318"/>
          </a:xfrm>
          <a:custGeom>
            <a:avLst/>
            <a:gdLst/>
            <a:ahLst/>
            <a:cxnLst/>
            <a:rect l="l" t="t" r="r" b="b"/>
            <a:pathLst>
              <a:path w="598318" h="598318">
                <a:moveTo>
                  <a:pt x="0" y="0"/>
                </a:moveTo>
                <a:lnTo>
                  <a:pt x="598318" y="0"/>
                </a:lnTo>
                <a:lnTo>
                  <a:pt x="598318" y="598318"/>
                </a:lnTo>
                <a:lnTo>
                  <a:pt x="0" y="59831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1028700" y="8084745"/>
            <a:ext cx="598318" cy="598318"/>
          </a:xfrm>
          <a:custGeom>
            <a:avLst/>
            <a:gdLst/>
            <a:ahLst/>
            <a:cxnLst/>
            <a:rect l="l" t="t" r="r" b="b"/>
            <a:pathLst>
              <a:path w="598318" h="598318">
                <a:moveTo>
                  <a:pt x="0" y="0"/>
                </a:moveTo>
                <a:lnTo>
                  <a:pt x="598318" y="0"/>
                </a:lnTo>
                <a:lnTo>
                  <a:pt x="598318" y="598318"/>
                </a:lnTo>
                <a:lnTo>
                  <a:pt x="0" y="59831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a:off x="5805416" y="8084745"/>
            <a:ext cx="598318" cy="598318"/>
          </a:xfrm>
          <a:custGeom>
            <a:avLst/>
            <a:gdLst/>
            <a:ahLst/>
            <a:cxnLst/>
            <a:rect l="l" t="t" r="r" b="b"/>
            <a:pathLst>
              <a:path w="598318" h="598318">
                <a:moveTo>
                  <a:pt x="0" y="0"/>
                </a:moveTo>
                <a:lnTo>
                  <a:pt x="598318" y="0"/>
                </a:lnTo>
                <a:lnTo>
                  <a:pt x="598318" y="598318"/>
                </a:lnTo>
                <a:lnTo>
                  <a:pt x="0" y="59831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8"/>
                </a:ext>
              </a:extLst>
            </a:blip>
            <a:stretch>
              <a:fillRect t="-127730" r="-182074"/>
            </a:stretch>
          </a:blipFill>
        </p:spPr>
        <p:txBody>
          <a:bodyPr/>
          <a:lstStyle/>
          <a:p>
            <a:endParaRPr lang="en-US"/>
          </a:p>
        </p:txBody>
      </p:sp>
      <p:sp>
        <p:nvSpPr>
          <p:cNvPr id="14" name="TextBox 14"/>
          <p:cNvSpPr txBox="1"/>
          <p:nvPr/>
        </p:nvSpPr>
        <p:spPr>
          <a:xfrm>
            <a:off x="11004745" y="1236356"/>
            <a:ext cx="6060165" cy="2954799"/>
          </a:xfrm>
          <a:prstGeom prst="rect">
            <a:avLst/>
          </a:prstGeom>
        </p:spPr>
        <p:txBody>
          <a:bodyPr lIns="0" tIns="0" rIns="0" bIns="0" rtlCol="0" anchor="t">
            <a:spAutoFit/>
          </a:bodyPr>
          <a:lstStyle/>
          <a:p>
            <a:pPr marL="0" lvl="0" indent="0" algn="l">
              <a:lnSpc>
                <a:spcPts val="7922"/>
              </a:lnSpc>
              <a:spcBef>
                <a:spcPct val="0"/>
              </a:spcBef>
            </a:pPr>
            <a:r>
              <a:rPr lang="en-US" sz="5658" b="1">
                <a:solidFill>
                  <a:srgbClr val="FFFFFF"/>
                </a:solidFill>
                <a:latin typeface="Pattanakarn SemiCondensed Medium"/>
                <a:ea typeface="Pattanakarn SemiCondensed Medium"/>
                <a:cs typeface="Pattanakarn SemiCondensed Medium"/>
                <a:sym typeface="Pattanakarn SemiCondensed Medium"/>
              </a:rPr>
              <a:t>The World's Largest Data Center Market.</a:t>
            </a:r>
          </a:p>
        </p:txBody>
      </p:sp>
      <p:sp>
        <p:nvSpPr>
          <p:cNvPr id="15" name="TextBox 15"/>
          <p:cNvSpPr txBox="1"/>
          <p:nvPr/>
        </p:nvSpPr>
        <p:spPr>
          <a:xfrm>
            <a:off x="11004745" y="5434900"/>
            <a:ext cx="6254555" cy="3570298"/>
          </a:xfrm>
          <a:prstGeom prst="rect">
            <a:avLst/>
          </a:prstGeom>
        </p:spPr>
        <p:txBody>
          <a:bodyPr lIns="0" tIns="0" rIns="0" bIns="0" rtlCol="0" anchor="t">
            <a:spAutoFit/>
          </a:bodyPr>
          <a:lstStyle/>
          <a:p>
            <a:pPr marL="0" lvl="0" indent="0" algn="l">
              <a:lnSpc>
                <a:spcPts val="4046"/>
              </a:lnSpc>
              <a:spcBef>
                <a:spcPct val="0"/>
              </a:spcBef>
            </a:pPr>
            <a:r>
              <a:rPr lang="en-US" sz="2890" dirty="0">
                <a:solidFill>
                  <a:srgbClr val="FFFFFF"/>
                </a:solidFill>
                <a:latin typeface="Canva Sans"/>
                <a:ea typeface="Canva Sans"/>
                <a:cs typeface="Canva Sans"/>
                <a:sym typeface="Canva Sans"/>
              </a:rPr>
              <a:t>Northern Virginia (Loudoun, Prince William, Fairfax) is #1 globally by installed capacity — 4,140+ MW. Every AI inference call, every cloud transaction, every federal workload depends on Royal Duke for electricity and industrial water.</a:t>
            </a:r>
          </a:p>
        </p:txBody>
      </p:sp>
      <p:sp>
        <p:nvSpPr>
          <p:cNvPr id="16" name="TextBox 16"/>
          <p:cNvSpPr txBox="1"/>
          <p:nvPr/>
        </p:nvSpPr>
        <p:spPr>
          <a:xfrm>
            <a:off x="1840481" y="6840016"/>
            <a:ext cx="2934456" cy="324913"/>
          </a:xfrm>
          <a:prstGeom prst="rect">
            <a:avLst/>
          </a:prstGeom>
        </p:spPr>
        <p:txBody>
          <a:bodyPr lIns="0" tIns="0" rIns="0" bIns="0" rtlCol="0" anchor="t">
            <a:spAutoFit/>
          </a:bodyPr>
          <a:lstStyle/>
          <a:p>
            <a:pPr marL="0" lvl="0" indent="0" algn="l">
              <a:lnSpc>
                <a:spcPts val="2520"/>
              </a:lnSpc>
            </a:pPr>
            <a:r>
              <a:rPr lang="en-US" sz="2135" b="1" dirty="0">
                <a:solidFill>
                  <a:srgbClr val="FFFFFF"/>
                </a:solidFill>
                <a:latin typeface="Canva Sans Bold"/>
                <a:ea typeface="Canva Sans Bold"/>
                <a:cs typeface="Canva Sans Bold"/>
                <a:sym typeface="Canva Sans Bold"/>
              </a:rPr>
              <a:t>1 global market</a:t>
            </a:r>
          </a:p>
        </p:txBody>
      </p:sp>
      <p:sp>
        <p:nvSpPr>
          <p:cNvPr id="17" name="TextBox 17"/>
          <p:cNvSpPr txBox="1"/>
          <p:nvPr/>
        </p:nvSpPr>
        <p:spPr>
          <a:xfrm>
            <a:off x="6617197" y="6840016"/>
            <a:ext cx="2934456" cy="324913"/>
          </a:xfrm>
          <a:prstGeom prst="rect">
            <a:avLst/>
          </a:prstGeom>
        </p:spPr>
        <p:txBody>
          <a:bodyPr lIns="0" tIns="0" rIns="0" bIns="0" rtlCol="0" anchor="t">
            <a:spAutoFit/>
          </a:bodyPr>
          <a:lstStyle/>
          <a:p>
            <a:pPr marL="0" lvl="0" indent="0" algn="l">
              <a:lnSpc>
                <a:spcPts val="2520"/>
              </a:lnSpc>
            </a:pPr>
            <a:r>
              <a:rPr lang="en-US" sz="2135" b="1" dirty="0">
                <a:solidFill>
                  <a:srgbClr val="FFFFFF"/>
                </a:solidFill>
                <a:latin typeface="Canva Sans Bold"/>
                <a:ea typeface="Canva Sans Bold"/>
                <a:cs typeface="Canva Sans Bold"/>
                <a:sym typeface="Canva Sans Bold"/>
              </a:rPr>
              <a:t>4,140+ </a:t>
            </a:r>
            <a:r>
              <a:rPr lang="en-US" sz="2135" b="1">
                <a:solidFill>
                  <a:srgbClr val="FFFFFF"/>
                </a:solidFill>
                <a:latin typeface="Canva Sans Bold"/>
                <a:ea typeface="Canva Sans Bold"/>
                <a:cs typeface="Canva Sans Bold"/>
                <a:sym typeface="Canva Sans Bold"/>
              </a:rPr>
              <a:t>MegaWatts</a:t>
            </a:r>
            <a:endParaRPr lang="en-US" sz="2135" b="1" dirty="0">
              <a:solidFill>
                <a:srgbClr val="FFFFFF"/>
              </a:solidFill>
              <a:latin typeface="Canva Sans Bold"/>
              <a:ea typeface="Canva Sans Bold"/>
              <a:cs typeface="Canva Sans Bold"/>
              <a:sym typeface="Canva Sans Bold"/>
            </a:endParaRPr>
          </a:p>
        </p:txBody>
      </p:sp>
      <p:sp>
        <p:nvSpPr>
          <p:cNvPr id="18" name="TextBox 18"/>
          <p:cNvSpPr txBox="1"/>
          <p:nvPr/>
        </p:nvSpPr>
        <p:spPr>
          <a:xfrm>
            <a:off x="1840481" y="7978850"/>
            <a:ext cx="3362529" cy="963889"/>
          </a:xfrm>
          <a:prstGeom prst="rect">
            <a:avLst/>
          </a:prstGeom>
        </p:spPr>
        <p:txBody>
          <a:bodyPr lIns="0" tIns="0" rIns="0" bIns="0" rtlCol="0" anchor="t">
            <a:spAutoFit/>
          </a:bodyPr>
          <a:lstStyle/>
          <a:p>
            <a:pPr lvl="0">
              <a:lnSpc>
                <a:spcPts val="2520"/>
              </a:lnSpc>
            </a:pPr>
            <a:r>
              <a:rPr lang="en-US" sz="2135" b="1" dirty="0">
                <a:solidFill>
                  <a:srgbClr val="FFFFFF"/>
                </a:solidFill>
                <a:latin typeface="Canva Sans Bold"/>
                <a:ea typeface="Canva Sans Bold"/>
                <a:cs typeface="Canva Sans Bold"/>
                <a:sym typeface="Canva Sans Bold"/>
              </a:rPr>
              <a:t>95% of Fortune 500 depend on third-party data centers </a:t>
            </a:r>
          </a:p>
        </p:txBody>
      </p:sp>
      <p:sp>
        <p:nvSpPr>
          <p:cNvPr id="19" name="TextBox 19"/>
          <p:cNvSpPr txBox="1"/>
          <p:nvPr/>
        </p:nvSpPr>
        <p:spPr>
          <a:xfrm>
            <a:off x="6617197" y="7978850"/>
            <a:ext cx="3304914" cy="644401"/>
          </a:xfrm>
          <a:prstGeom prst="rect">
            <a:avLst/>
          </a:prstGeom>
        </p:spPr>
        <p:txBody>
          <a:bodyPr lIns="0" tIns="0" rIns="0" bIns="0" rtlCol="0" anchor="t">
            <a:spAutoFit/>
          </a:bodyPr>
          <a:lstStyle/>
          <a:p>
            <a:pPr marL="0" lvl="0" indent="0" algn="l">
              <a:lnSpc>
                <a:spcPts val="2520"/>
              </a:lnSpc>
            </a:pPr>
            <a:r>
              <a:rPr lang="en-US" sz="2135" b="1" dirty="0">
                <a:solidFill>
                  <a:srgbClr val="FFFFFF"/>
                </a:solidFill>
                <a:latin typeface="Canva Sans Bold"/>
                <a:ea typeface="Canva Sans Bold"/>
                <a:cs typeface="Canva Sans Bold"/>
                <a:sym typeface="Canva Sans Bold"/>
              </a:rPr>
              <a:t>NERC CIP governs Royal Duke. </a:t>
            </a:r>
          </a:p>
        </p:txBody>
      </p:sp>
      <p:grpSp>
        <p:nvGrpSpPr>
          <p:cNvPr id="20" name="Group 19">
            <a:extLst>
              <a:ext uri="{FF2B5EF4-FFF2-40B4-BE49-F238E27FC236}">
                <a16:creationId xmlns:a16="http://schemas.microsoft.com/office/drawing/2014/main" id="{833F1D5D-8866-5164-0C3C-2294D8465590}"/>
              </a:ext>
            </a:extLst>
          </p:cNvPr>
          <p:cNvGrpSpPr/>
          <p:nvPr/>
        </p:nvGrpSpPr>
        <p:grpSpPr>
          <a:xfrm>
            <a:off x="16973621" y="8970630"/>
            <a:ext cx="1104900" cy="1109382"/>
            <a:chOff x="8458200" y="1333500"/>
            <a:chExt cx="1104900" cy="1109382"/>
          </a:xfrm>
        </p:grpSpPr>
        <p:sp>
          <p:nvSpPr>
            <p:cNvPr id="21" name="Rectangle 20">
              <a:extLst>
                <a:ext uri="{FF2B5EF4-FFF2-40B4-BE49-F238E27FC236}">
                  <a16:creationId xmlns:a16="http://schemas.microsoft.com/office/drawing/2014/main" id="{B1DE41AA-D205-6635-72F2-8F0DB98E49ED}"/>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E4B1DCC-E760-C196-E3DA-3BCF1020AC64}"/>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453799D-2963-22C5-864E-DDB813E88B24}"/>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80DFCD-819A-9231-12DE-FD5BEBD25598}"/>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0000">
                    <a:alpha val="100000"/>
                  </a:srgbClr>
                </a:gs>
                <a:gs pos="50000">
                  <a:srgbClr val="001136">
                    <a:alpha val="100000"/>
                  </a:srgbClr>
                </a:gs>
                <a:gs pos="100000">
                  <a:srgbClr val="001136">
                    <a:alpha val="0"/>
                  </a:srgbClr>
                </a:gs>
              </a:gsLst>
              <a:path path="circle">
                <a:fillToRect r="100000" b="100000"/>
              </a:path>
              <a:tileRect l="-100000" t="-100000"/>
            </a:gradFill>
          </p:spPr>
          <p:txBody>
            <a:bodyPr/>
            <a:lstStyle/>
            <a:p>
              <a:endParaRPr lang="en-US"/>
            </a:p>
          </p:txBody>
        </p:sp>
        <p:sp>
          <p:nvSpPr>
            <p:cNvPr id="5" name="TextBox 5"/>
            <p:cNvSpPr txBox="1"/>
            <p:nvPr/>
          </p:nvSpPr>
          <p:spPr>
            <a:xfrm>
              <a:off x="0" y="-38100"/>
              <a:ext cx="4816593" cy="2747433"/>
            </a:xfrm>
            <a:prstGeom prst="rect">
              <a:avLst/>
            </a:prstGeom>
          </p:spPr>
          <p:txBody>
            <a:bodyPr lIns="50800" tIns="50800" rIns="50800" bIns="50800" rtlCol="0" anchor="ctr"/>
            <a:lstStyle/>
            <a:p>
              <a:pPr marL="0" lvl="0" indent="0" algn="ctr">
                <a:lnSpc>
                  <a:spcPts val="2337"/>
                </a:lnSpc>
                <a:spcBef>
                  <a:spcPct val="0"/>
                </a:spcBef>
              </a:pPr>
              <a:endParaRPr/>
            </a:p>
          </p:txBody>
        </p:sp>
      </p:grpSp>
      <p:sp>
        <p:nvSpPr>
          <p:cNvPr id="6" name="Freeform 6"/>
          <p:cNvSpPr/>
          <p:nvPr/>
        </p:nvSpPr>
        <p:spPr>
          <a:xfrm flipH="1" flipV="1">
            <a:off x="13868400" y="0"/>
            <a:ext cx="4419600" cy="4496948"/>
          </a:xfrm>
          <a:custGeom>
            <a:avLst/>
            <a:gdLst/>
            <a:ahLst/>
            <a:cxnLst/>
            <a:rect l="l" t="t" r="r" b="b"/>
            <a:pathLst>
              <a:path w="13527672" h="12293272">
                <a:moveTo>
                  <a:pt x="13527672" y="12293272"/>
                </a:moveTo>
                <a:lnTo>
                  <a:pt x="0" y="12293272"/>
                </a:lnTo>
                <a:lnTo>
                  <a:pt x="0" y="0"/>
                </a:lnTo>
                <a:lnTo>
                  <a:pt x="13527672" y="0"/>
                </a:lnTo>
                <a:lnTo>
                  <a:pt x="13527672" y="12293272"/>
                </a:lnTo>
                <a:close/>
              </a:path>
            </a:pathLst>
          </a:custGeom>
          <a:blipFill>
            <a:blip>
              <a:extLst>
                <a:ext uri="{96DAC541-7B7A-43D3-8B79-37D633B846F1}">
                  <asvg:svgBlip xmlns:asvg="http://schemas.microsoft.com/office/drawing/2016/SVG/main" r:embed="rId6"/>
                </a:ext>
              </a:extLst>
            </a:blip>
            <a:stretch>
              <a:fillRect l="-206084" b="-173369"/>
            </a:stretch>
          </a:blipFill>
        </p:spPr>
        <p:txBody>
          <a:bodyPr/>
          <a:lstStyle/>
          <a:p>
            <a:endParaRPr lang="en-US" dirty="0"/>
          </a:p>
        </p:txBody>
      </p:sp>
      <p:grpSp>
        <p:nvGrpSpPr>
          <p:cNvPr id="7" name="Group 7"/>
          <p:cNvGrpSpPr/>
          <p:nvPr/>
        </p:nvGrpSpPr>
        <p:grpSpPr>
          <a:xfrm>
            <a:off x="9035835" y="4828455"/>
            <a:ext cx="8223465" cy="708962"/>
            <a:chOff x="0" y="0"/>
            <a:chExt cx="4713960" cy="406400"/>
          </a:xfrm>
        </p:grpSpPr>
        <p:sp>
          <p:nvSpPr>
            <p:cNvPr id="8" name="Freeform 8"/>
            <p:cNvSpPr/>
            <p:nvPr/>
          </p:nvSpPr>
          <p:spPr>
            <a:xfrm>
              <a:off x="0" y="0"/>
              <a:ext cx="4713960" cy="406400"/>
            </a:xfrm>
            <a:custGeom>
              <a:avLst/>
              <a:gdLst/>
              <a:ahLst/>
              <a:cxnLst/>
              <a:rect l="l" t="t" r="r" b="b"/>
              <a:pathLst>
                <a:path w="4713960" h="406400">
                  <a:moveTo>
                    <a:pt x="4510760" y="0"/>
                  </a:moveTo>
                  <a:cubicBezTo>
                    <a:pt x="4622984" y="0"/>
                    <a:pt x="4713960" y="90976"/>
                    <a:pt x="4713960" y="203200"/>
                  </a:cubicBezTo>
                  <a:cubicBezTo>
                    <a:pt x="4713960" y="315424"/>
                    <a:pt x="4622984" y="406400"/>
                    <a:pt x="4510760"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9" name="TextBox 9"/>
            <p:cNvSpPr txBox="1"/>
            <p:nvPr/>
          </p:nvSpPr>
          <p:spPr>
            <a:xfrm>
              <a:off x="0" y="-57150"/>
              <a:ext cx="4713960" cy="463550"/>
            </a:xfrm>
            <a:prstGeom prst="rect">
              <a:avLst/>
            </a:prstGeom>
          </p:spPr>
          <p:txBody>
            <a:bodyPr lIns="50800" tIns="50800" rIns="50800" bIns="50800" rtlCol="0" anchor="ctr"/>
            <a:lstStyle/>
            <a:p>
              <a:pPr marL="0" lvl="0" indent="0" algn="ctr">
                <a:lnSpc>
                  <a:spcPts val="3643"/>
                </a:lnSpc>
              </a:pPr>
              <a:endParaRPr/>
            </a:p>
          </p:txBody>
        </p:sp>
      </p:grpSp>
      <p:grpSp>
        <p:nvGrpSpPr>
          <p:cNvPr id="10" name="Group 10"/>
          <p:cNvGrpSpPr/>
          <p:nvPr/>
        </p:nvGrpSpPr>
        <p:grpSpPr>
          <a:xfrm>
            <a:off x="9035835" y="6049314"/>
            <a:ext cx="8223465" cy="708962"/>
            <a:chOff x="0" y="0"/>
            <a:chExt cx="4713960" cy="406400"/>
          </a:xfrm>
        </p:grpSpPr>
        <p:sp>
          <p:nvSpPr>
            <p:cNvPr id="11" name="Freeform 11"/>
            <p:cNvSpPr/>
            <p:nvPr/>
          </p:nvSpPr>
          <p:spPr>
            <a:xfrm>
              <a:off x="0" y="0"/>
              <a:ext cx="4713960" cy="406400"/>
            </a:xfrm>
            <a:custGeom>
              <a:avLst/>
              <a:gdLst/>
              <a:ahLst/>
              <a:cxnLst/>
              <a:rect l="l" t="t" r="r" b="b"/>
              <a:pathLst>
                <a:path w="4713960" h="406400">
                  <a:moveTo>
                    <a:pt x="4510760" y="0"/>
                  </a:moveTo>
                  <a:cubicBezTo>
                    <a:pt x="4622984" y="0"/>
                    <a:pt x="4713960" y="90976"/>
                    <a:pt x="4713960" y="203200"/>
                  </a:cubicBezTo>
                  <a:cubicBezTo>
                    <a:pt x="4713960" y="315424"/>
                    <a:pt x="4622984" y="406400"/>
                    <a:pt x="4510760"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2" name="TextBox 12"/>
            <p:cNvSpPr txBox="1"/>
            <p:nvPr/>
          </p:nvSpPr>
          <p:spPr>
            <a:xfrm>
              <a:off x="0" y="-57150"/>
              <a:ext cx="4713960" cy="463550"/>
            </a:xfrm>
            <a:prstGeom prst="rect">
              <a:avLst/>
            </a:prstGeom>
          </p:spPr>
          <p:txBody>
            <a:bodyPr lIns="50800" tIns="50800" rIns="50800" bIns="50800" rtlCol="0" anchor="ctr"/>
            <a:lstStyle/>
            <a:p>
              <a:pPr marL="0" lvl="0" indent="0" algn="ctr">
                <a:lnSpc>
                  <a:spcPts val="3643"/>
                </a:lnSpc>
              </a:pPr>
              <a:endParaRPr/>
            </a:p>
          </p:txBody>
        </p:sp>
      </p:grpSp>
      <p:grpSp>
        <p:nvGrpSpPr>
          <p:cNvPr id="13" name="Group 13"/>
          <p:cNvGrpSpPr/>
          <p:nvPr/>
        </p:nvGrpSpPr>
        <p:grpSpPr>
          <a:xfrm>
            <a:off x="9035835" y="7270172"/>
            <a:ext cx="8223465" cy="708962"/>
            <a:chOff x="0" y="0"/>
            <a:chExt cx="4713960" cy="406400"/>
          </a:xfrm>
        </p:grpSpPr>
        <p:sp>
          <p:nvSpPr>
            <p:cNvPr id="14" name="Freeform 14"/>
            <p:cNvSpPr/>
            <p:nvPr/>
          </p:nvSpPr>
          <p:spPr>
            <a:xfrm>
              <a:off x="0" y="0"/>
              <a:ext cx="4713960" cy="406400"/>
            </a:xfrm>
            <a:custGeom>
              <a:avLst/>
              <a:gdLst/>
              <a:ahLst/>
              <a:cxnLst/>
              <a:rect l="l" t="t" r="r" b="b"/>
              <a:pathLst>
                <a:path w="4713960" h="406400">
                  <a:moveTo>
                    <a:pt x="4510760" y="0"/>
                  </a:moveTo>
                  <a:cubicBezTo>
                    <a:pt x="4622984" y="0"/>
                    <a:pt x="4713960" y="90976"/>
                    <a:pt x="4713960" y="203200"/>
                  </a:cubicBezTo>
                  <a:cubicBezTo>
                    <a:pt x="4713960" y="315424"/>
                    <a:pt x="4622984" y="406400"/>
                    <a:pt x="4510760"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5" name="TextBox 15"/>
            <p:cNvSpPr txBox="1"/>
            <p:nvPr/>
          </p:nvSpPr>
          <p:spPr>
            <a:xfrm>
              <a:off x="0" y="-57150"/>
              <a:ext cx="4713960" cy="463550"/>
            </a:xfrm>
            <a:prstGeom prst="rect">
              <a:avLst/>
            </a:prstGeom>
          </p:spPr>
          <p:txBody>
            <a:bodyPr lIns="50800" tIns="50800" rIns="50800" bIns="50800" rtlCol="0" anchor="ctr"/>
            <a:lstStyle/>
            <a:p>
              <a:pPr marL="0" lvl="0" indent="0" algn="ctr">
                <a:lnSpc>
                  <a:spcPts val="3643"/>
                </a:lnSpc>
              </a:pPr>
              <a:endParaRPr/>
            </a:p>
          </p:txBody>
        </p:sp>
      </p:grpSp>
      <p:grpSp>
        <p:nvGrpSpPr>
          <p:cNvPr id="16" name="Group 16"/>
          <p:cNvGrpSpPr/>
          <p:nvPr/>
        </p:nvGrpSpPr>
        <p:grpSpPr>
          <a:xfrm>
            <a:off x="9035835" y="8549338"/>
            <a:ext cx="8223465" cy="708962"/>
            <a:chOff x="0" y="0"/>
            <a:chExt cx="4713960" cy="406400"/>
          </a:xfrm>
        </p:grpSpPr>
        <p:sp>
          <p:nvSpPr>
            <p:cNvPr id="17" name="Freeform 17"/>
            <p:cNvSpPr/>
            <p:nvPr/>
          </p:nvSpPr>
          <p:spPr>
            <a:xfrm>
              <a:off x="0" y="0"/>
              <a:ext cx="4713960" cy="406400"/>
            </a:xfrm>
            <a:custGeom>
              <a:avLst/>
              <a:gdLst/>
              <a:ahLst/>
              <a:cxnLst/>
              <a:rect l="l" t="t" r="r" b="b"/>
              <a:pathLst>
                <a:path w="4713960" h="406400">
                  <a:moveTo>
                    <a:pt x="4510760" y="0"/>
                  </a:moveTo>
                  <a:cubicBezTo>
                    <a:pt x="4622984" y="0"/>
                    <a:pt x="4713960" y="90976"/>
                    <a:pt x="4713960" y="203200"/>
                  </a:cubicBezTo>
                  <a:cubicBezTo>
                    <a:pt x="4713960" y="315424"/>
                    <a:pt x="4622984" y="406400"/>
                    <a:pt x="4510760"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8" name="TextBox 18"/>
            <p:cNvSpPr txBox="1"/>
            <p:nvPr/>
          </p:nvSpPr>
          <p:spPr>
            <a:xfrm>
              <a:off x="0" y="-57150"/>
              <a:ext cx="4713960" cy="463550"/>
            </a:xfrm>
            <a:prstGeom prst="rect">
              <a:avLst/>
            </a:prstGeom>
          </p:spPr>
          <p:txBody>
            <a:bodyPr lIns="50800" tIns="50800" rIns="50800" bIns="50800" rtlCol="0" anchor="ctr"/>
            <a:lstStyle/>
            <a:p>
              <a:pPr marL="0" lvl="0" indent="0" algn="ctr">
                <a:lnSpc>
                  <a:spcPts val="3643"/>
                </a:lnSpc>
              </a:pPr>
              <a:endParaRPr/>
            </a:p>
          </p:txBody>
        </p:sp>
      </p:grpSp>
      <p:grpSp>
        <p:nvGrpSpPr>
          <p:cNvPr id="19" name="Group 19"/>
          <p:cNvGrpSpPr/>
          <p:nvPr/>
        </p:nvGrpSpPr>
        <p:grpSpPr>
          <a:xfrm>
            <a:off x="1028700" y="1028700"/>
            <a:ext cx="6862241" cy="8400843"/>
            <a:chOff x="0" y="0"/>
            <a:chExt cx="1014625" cy="1242117"/>
          </a:xfrm>
        </p:grpSpPr>
        <p:sp>
          <p:nvSpPr>
            <p:cNvPr id="20" name="Freeform 20"/>
            <p:cNvSpPr/>
            <p:nvPr/>
          </p:nvSpPr>
          <p:spPr>
            <a:xfrm>
              <a:off x="0" y="0"/>
              <a:ext cx="1014625" cy="1242117"/>
            </a:xfrm>
            <a:custGeom>
              <a:avLst/>
              <a:gdLst/>
              <a:ahLst/>
              <a:cxnLst/>
              <a:rect l="l" t="t" r="r" b="b"/>
              <a:pathLst>
                <a:path w="1014625" h="1242117">
                  <a:moveTo>
                    <a:pt x="39487" y="0"/>
                  </a:moveTo>
                  <a:lnTo>
                    <a:pt x="975138" y="0"/>
                  </a:lnTo>
                  <a:cubicBezTo>
                    <a:pt x="996946" y="0"/>
                    <a:pt x="1014625" y="17679"/>
                    <a:pt x="1014625" y="39487"/>
                  </a:cubicBezTo>
                  <a:lnTo>
                    <a:pt x="1014625" y="1202630"/>
                  </a:lnTo>
                  <a:cubicBezTo>
                    <a:pt x="1014625" y="1224438"/>
                    <a:pt x="996946" y="1242117"/>
                    <a:pt x="975138" y="1242117"/>
                  </a:cubicBezTo>
                  <a:lnTo>
                    <a:pt x="39487" y="1242117"/>
                  </a:lnTo>
                  <a:cubicBezTo>
                    <a:pt x="17679" y="1242117"/>
                    <a:pt x="0" y="1224438"/>
                    <a:pt x="0" y="1202630"/>
                  </a:cubicBezTo>
                  <a:lnTo>
                    <a:pt x="0" y="39487"/>
                  </a:lnTo>
                  <a:cubicBezTo>
                    <a:pt x="0" y="17679"/>
                    <a:pt x="17679" y="0"/>
                    <a:pt x="39487" y="0"/>
                  </a:cubicBezTo>
                  <a:close/>
                </a:path>
              </a:pathLst>
            </a:custGeom>
            <a:blipFill>
              <a:blip r:embed="rId7"/>
              <a:stretch>
                <a:fillRect t="-500" b="-500"/>
              </a:stretch>
            </a:blipFill>
          </p:spPr>
          <p:txBody>
            <a:bodyPr/>
            <a:lstStyle/>
            <a:p>
              <a:endParaRPr lang="en-US"/>
            </a:p>
          </p:txBody>
        </p:sp>
      </p:grpSp>
      <p:sp>
        <p:nvSpPr>
          <p:cNvPr id="21" name="TextBox 21"/>
          <p:cNvSpPr txBox="1"/>
          <p:nvPr/>
        </p:nvSpPr>
        <p:spPr>
          <a:xfrm>
            <a:off x="9035835" y="1048669"/>
            <a:ext cx="8223465" cy="743796"/>
          </a:xfrm>
          <a:prstGeom prst="rect">
            <a:avLst/>
          </a:prstGeom>
        </p:spPr>
        <p:txBody>
          <a:bodyPr lIns="0" tIns="0" rIns="0" bIns="0" rtlCol="0" anchor="t">
            <a:spAutoFit/>
          </a:bodyPr>
          <a:lstStyle/>
          <a:p>
            <a:pPr marL="0" lvl="0" indent="0" algn="l">
              <a:lnSpc>
                <a:spcPts val="6076"/>
              </a:lnSpc>
              <a:spcBef>
                <a:spcPct val="0"/>
              </a:spcBef>
            </a:pPr>
            <a:r>
              <a:rPr lang="en-US" sz="4340" b="1">
                <a:solidFill>
                  <a:srgbClr val="FFFFFF"/>
                </a:solidFill>
                <a:latin typeface="Pattanakarn SemiCondensed Medium"/>
                <a:ea typeface="Pattanakarn SemiCondensed Medium"/>
                <a:cs typeface="Pattanakarn SemiCondensed Medium"/>
                <a:sym typeface="Pattanakarn SemiCondensed Medium"/>
              </a:rPr>
              <a:t>Royal Duke Is the Utility,</a:t>
            </a:r>
          </a:p>
        </p:txBody>
      </p:sp>
      <p:sp>
        <p:nvSpPr>
          <p:cNvPr id="22" name="TextBox 22"/>
          <p:cNvSpPr txBox="1"/>
          <p:nvPr/>
        </p:nvSpPr>
        <p:spPr>
          <a:xfrm>
            <a:off x="9035835" y="2083286"/>
            <a:ext cx="8223465" cy="743796"/>
          </a:xfrm>
          <a:prstGeom prst="rect">
            <a:avLst/>
          </a:prstGeom>
        </p:spPr>
        <p:txBody>
          <a:bodyPr lIns="0" tIns="0" rIns="0" bIns="0" rtlCol="0" anchor="t">
            <a:spAutoFit/>
          </a:bodyPr>
          <a:lstStyle/>
          <a:p>
            <a:pPr marL="0" lvl="0" indent="0" algn="l">
              <a:lnSpc>
                <a:spcPts val="6076"/>
              </a:lnSpc>
              <a:spcBef>
                <a:spcPct val="0"/>
              </a:spcBef>
            </a:pPr>
            <a:r>
              <a:rPr lang="en-US" sz="4340" b="1" dirty="0">
                <a:solidFill>
                  <a:srgbClr val="FFFFFF"/>
                </a:solidFill>
                <a:latin typeface="Pattanakarn SemiCondensed Medium"/>
                <a:ea typeface="Pattanakarn SemiCondensed Medium"/>
                <a:cs typeface="Pattanakarn SemiCondensed Medium"/>
                <a:sym typeface="Pattanakarn SemiCondensed Medium"/>
              </a:rPr>
              <a:t>Not the Data Center</a:t>
            </a:r>
          </a:p>
        </p:txBody>
      </p:sp>
      <p:sp>
        <p:nvSpPr>
          <p:cNvPr id="23" name="TextBox 23"/>
          <p:cNvSpPr txBox="1"/>
          <p:nvPr/>
        </p:nvSpPr>
        <p:spPr>
          <a:xfrm>
            <a:off x="9035835" y="3056114"/>
            <a:ext cx="8223465" cy="1475853"/>
          </a:xfrm>
          <a:prstGeom prst="rect">
            <a:avLst/>
          </a:prstGeom>
        </p:spPr>
        <p:txBody>
          <a:bodyPr lIns="0" tIns="0" rIns="0" bIns="0" rtlCol="0" anchor="t">
            <a:spAutoFit/>
          </a:bodyPr>
          <a:lstStyle/>
          <a:p>
            <a:pPr lvl="0">
              <a:lnSpc>
                <a:spcPts val="2903"/>
              </a:lnSpc>
              <a:spcBef>
                <a:spcPct val="0"/>
              </a:spcBef>
            </a:pPr>
            <a:r>
              <a:rPr lang="en-US" sz="2400" dirty="0">
                <a:solidFill>
                  <a:schemeClr val="bg1"/>
                </a:solidFill>
              </a:rPr>
              <a:t>Royal Duke sits upstream of every data center campus it serves. Its OT systems control the electricity and industrial water those facilities depend on — making Royal Duke's security posture a matter of regional digital resilience, not just operational uptime.</a:t>
            </a:r>
            <a:r>
              <a:rPr lang="en-US" sz="2074" b="1" dirty="0">
                <a:solidFill>
                  <a:schemeClr val="bg1"/>
                </a:solidFill>
                <a:latin typeface="Canva Sans Bold"/>
                <a:ea typeface="Canva Sans Bold"/>
                <a:cs typeface="Canva Sans Bold"/>
                <a:sym typeface="Canva Sans Bold"/>
              </a:rPr>
              <a:t>.</a:t>
            </a:r>
          </a:p>
        </p:txBody>
      </p:sp>
      <p:sp>
        <p:nvSpPr>
          <p:cNvPr id="24" name="TextBox 24"/>
          <p:cNvSpPr txBox="1"/>
          <p:nvPr/>
        </p:nvSpPr>
        <p:spPr>
          <a:xfrm>
            <a:off x="9357409" y="4942357"/>
            <a:ext cx="7580318" cy="366881"/>
          </a:xfrm>
          <a:prstGeom prst="rect">
            <a:avLst/>
          </a:prstGeom>
        </p:spPr>
        <p:txBody>
          <a:bodyPr lIns="0" tIns="0" rIns="0" bIns="0" rtlCol="0" anchor="t">
            <a:spAutoFit/>
          </a:bodyPr>
          <a:lstStyle/>
          <a:p>
            <a:pPr marL="0" lvl="0" indent="0" algn="ctr">
              <a:lnSpc>
                <a:spcPts val="3078"/>
              </a:lnSpc>
              <a:spcBef>
                <a:spcPct val="0"/>
              </a:spcBef>
            </a:pPr>
            <a:r>
              <a:rPr lang="en-US" sz="2199" dirty="0">
                <a:solidFill>
                  <a:srgbClr val="FFFFFF"/>
                </a:solidFill>
                <a:latin typeface="Canva Sans"/>
                <a:ea typeface="Canva Sans"/>
                <a:cs typeface="Canva Sans"/>
                <a:sym typeface="Canva Sans"/>
              </a:rPr>
              <a:t>Royal Duke OT compromised </a:t>
            </a:r>
          </a:p>
        </p:txBody>
      </p:sp>
      <p:sp>
        <p:nvSpPr>
          <p:cNvPr id="25" name="TextBox 25"/>
          <p:cNvSpPr txBox="1"/>
          <p:nvPr/>
        </p:nvSpPr>
        <p:spPr>
          <a:xfrm>
            <a:off x="9357409" y="6163216"/>
            <a:ext cx="7580318" cy="366881"/>
          </a:xfrm>
          <a:prstGeom prst="rect">
            <a:avLst/>
          </a:prstGeom>
        </p:spPr>
        <p:txBody>
          <a:bodyPr lIns="0" tIns="0" rIns="0" bIns="0" rtlCol="0" anchor="t">
            <a:spAutoFit/>
          </a:bodyPr>
          <a:lstStyle/>
          <a:p>
            <a:pPr marL="0" lvl="0" indent="0" algn="ctr">
              <a:lnSpc>
                <a:spcPts val="3078"/>
              </a:lnSpc>
              <a:spcBef>
                <a:spcPct val="0"/>
              </a:spcBef>
            </a:pPr>
            <a:r>
              <a:rPr lang="en-US" sz="2199">
                <a:solidFill>
                  <a:srgbClr val="FFFFFF"/>
                </a:solidFill>
                <a:latin typeface="Canva Sans"/>
                <a:ea typeface="Canva Sans"/>
                <a:cs typeface="Canva Sans"/>
                <a:sym typeface="Canva Sans"/>
              </a:rPr>
              <a:t>Power &amp; water delivery disrupted</a:t>
            </a:r>
          </a:p>
        </p:txBody>
      </p:sp>
      <p:sp>
        <p:nvSpPr>
          <p:cNvPr id="26" name="TextBox 26"/>
          <p:cNvSpPr txBox="1"/>
          <p:nvPr/>
        </p:nvSpPr>
        <p:spPr>
          <a:xfrm>
            <a:off x="9357409" y="7384075"/>
            <a:ext cx="7580318" cy="366881"/>
          </a:xfrm>
          <a:prstGeom prst="rect">
            <a:avLst/>
          </a:prstGeom>
        </p:spPr>
        <p:txBody>
          <a:bodyPr lIns="0" tIns="0" rIns="0" bIns="0" rtlCol="0" anchor="t">
            <a:spAutoFit/>
          </a:bodyPr>
          <a:lstStyle/>
          <a:p>
            <a:pPr marL="0" lvl="0" indent="0" algn="ctr">
              <a:lnSpc>
                <a:spcPts val="3078"/>
              </a:lnSpc>
              <a:spcBef>
                <a:spcPct val="0"/>
              </a:spcBef>
            </a:pPr>
            <a:r>
              <a:rPr lang="en-US" sz="2199">
                <a:solidFill>
                  <a:srgbClr val="FFFFFF"/>
                </a:solidFill>
                <a:latin typeface="Canva Sans"/>
                <a:ea typeface="Canva Sans"/>
                <a:cs typeface="Canva Sans"/>
                <a:sym typeface="Canva Sans"/>
              </a:rPr>
              <a:t>Data center cooling and power lost</a:t>
            </a:r>
          </a:p>
        </p:txBody>
      </p:sp>
      <p:sp>
        <p:nvSpPr>
          <p:cNvPr id="27" name="TextBox 27"/>
          <p:cNvSpPr txBox="1"/>
          <p:nvPr/>
        </p:nvSpPr>
        <p:spPr>
          <a:xfrm>
            <a:off x="9357409" y="8663241"/>
            <a:ext cx="7580318" cy="366881"/>
          </a:xfrm>
          <a:prstGeom prst="rect">
            <a:avLst/>
          </a:prstGeom>
        </p:spPr>
        <p:txBody>
          <a:bodyPr lIns="0" tIns="0" rIns="0" bIns="0" rtlCol="0" anchor="t">
            <a:spAutoFit/>
          </a:bodyPr>
          <a:lstStyle/>
          <a:p>
            <a:pPr marL="0" lvl="0" indent="0" algn="ctr">
              <a:lnSpc>
                <a:spcPts val="3078"/>
              </a:lnSpc>
              <a:spcBef>
                <a:spcPct val="0"/>
              </a:spcBef>
            </a:pPr>
            <a:r>
              <a:rPr lang="en-US" sz="2199">
                <a:solidFill>
                  <a:srgbClr val="FFFFFF"/>
                </a:solidFill>
                <a:latin typeface="Canva Sans"/>
                <a:ea typeface="Canva Sans"/>
                <a:cs typeface="Canva Sans"/>
                <a:sym typeface="Canva Sans"/>
              </a:rPr>
              <a:t>Regional internet and AI services offline.</a:t>
            </a:r>
          </a:p>
        </p:txBody>
      </p:sp>
      <p:grpSp>
        <p:nvGrpSpPr>
          <p:cNvPr id="29" name="Group 28">
            <a:extLst>
              <a:ext uri="{FF2B5EF4-FFF2-40B4-BE49-F238E27FC236}">
                <a16:creationId xmlns:a16="http://schemas.microsoft.com/office/drawing/2014/main" id="{E76AB7BE-240A-A448-3E77-59F87406F45E}"/>
              </a:ext>
            </a:extLst>
          </p:cNvPr>
          <p:cNvGrpSpPr/>
          <p:nvPr/>
        </p:nvGrpSpPr>
        <p:grpSpPr>
          <a:xfrm>
            <a:off x="16973621" y="8970630"/>
            <a:ext cx="1104900" cy="1109382"/>
            <a:chOff x="8458200" y="1333500"/>
            <a:chExt cx="1104900" cy="1109382"/>
          </a:xfrm>
        </p:grpSpPr>
        <p:sp>
          <p:nvSpPr>
            <p:cNvPr id="30" name="Rectangle 29">
              <a:extLst>
                <a:ext uri="{FF2B5EF4-FFF2-40B4-BE49-F238E27FC236}">
                  <a16:creationId xmlns:a16="http://schemas.microsoft.com/office/drawing/2014/main" id="{A85C35C8-B25C-8F44-F124-2B03B4914663}"/>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DEF223A-8B86-AAFE-04CD-19ED1D040ED0}"/>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E26584D-DBBF-3332-DE61-D7C9B855281D}"/>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2DF3B54-F275-9CD9-01B0-EB8C28BA2A8C}"/>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Freeform 13">
            <a:extLst>
              <a:ext uri="{FF2B5EF4-FFF2-40B4-BE49-F238E27FC236}">
                <a16:creationId xmlns:a16="http://schemas.microsoft.com/office/drawing/2014/main" id="{768365D9-AF63-A1E5-CC4C-9CAA433E5377}"/>
              </a:ext>
            </a:extLst>
          </p:cNvPr>
          <p:cNvSpPr/>
          <p:nvPr/>
        </p:nvSpPr>
        <p:spPr>
          <a:xfrm>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8"/>
                </a:ext>
              </a:extLst>
            </a:blip>
            <a:stretch>
              <a:fillRect t="-127730" r="-182074"/>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sp>
        <p:nvSpPr>
          <p:cNvPr id="26" name="Rectangle 25">
            <a:extLst>
              <a:ext uri="{FF2B5EF4-FFF2-40B4-BE49-F238E27FC236}">
                <a16:creationId xmlns:a16="http://schemas.microsoft.com/office/drawing/2014/main" id="{27FA6A83-CB73-6B76-862F-E1044CE4A62E}"/>
              </a:ext>
            </a:extLst>
          </p:cNvPr>
          <p:cNvSpPr/>
          <p:nvPr/>
        </p:nvSpPr>
        <p:spPr>
          <a:xfrm>
            <a:off x="-27709" y="-86218"/>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2"/>
          <p:cNvGrpSpPr/>
          <p:nvPr/>
        </p:nvGrpSpPr>
        <p:grpSpPr>
          <a:xfrm>
            <a:off x="1266825" y="4568527"/>
            <a:ext cx="6288427" cy="4342188"/>
            <a:chOff x="0" y="0"/>
            <a:chExt cx="929783" cy="642020"/>
          </a:xfrm>
        </p:grpSpPr>
        <p:sp>
          <p:nvSpPr>
            <p:cNvPr id="13" name="Freeform 13"/>
            <p:cNvSpPr/>
            <p:nvPr/>
          </p:nvSpPr>
          <p:spPr>
            <a:xfrm>
              <a:off x="0" y="0"/>
              <a:ext cx="929783" cy="642020"/>
            </a:xfrm>
            <a:custGeom>
              <a:avLst/>
              <a:gdLst/>
              <a:ahLst/>
              <a:cxnLst/>
              <a:rect l="l" t="t" r="r" b="b"/>
              <a:pathLst>
                <a:path w="929783" h="642020">
                  <a:moveTo>
                    <a:pt x="43090" y="0"/>
                  </a:moveTo>
                  <a:lnTo>
                    <a:pt x="886693" y="0"/>
                  </a:lnTo>
                  <a:cubicBezTo>
                    <a:pt x="898121" y="0"/>
                    <a:pt x="909081" y="4540"/>
                    <a:pt x="917162" y="12621"/>
                  </a:cubicBezTo>
                  <a:cubicBezTo>
                    <a:pt x="925243" y="20702"/>
                    <a:pt x="929783" y="31662"/>
                    <a:pt x="929783" y="43090"/>
                  </a:cubicBezTo>
                  <a:lnTo>
                    <a:pt x="929783" y="598930"/>
                  </a:lnTo>
                  <a:cubicBezTo>
                    <a:pt x="929783" y="610358"/>
                    <a:pt x="925243" y="621318"/>
                    <a:pt x="917162" y="629399"/>
                  </a:cubicBezTo>
                  <a:cubicBezTo>
                    <a:pt x="909081" y="637480"/>
                    <a:pt x="898121" y="642020"/>
                    <a:pt x="886693" y="642020"/>
                  </a:cubicBezTo>
                  <a:lnTo>
                    <a:pt x="43090" y="642020"/>
                  </a:lnTo>
                  <a:cubicBezTo>
                    <a:pt x="31662" y="642020"/>
                    <a:pt x="20702" y="637480"/>
                    <a:pt x="12621" y="629399"/>
                  </a:cubicBezTo>
                  <a:cubicBezTo>
                    <a:pt x="4540" y="621318"/>
                    <a:pt x="0" y="610358"/>
                    <a:pt x="0" y="598930"/>
                  </a:cubicBezTo>
                  <a:lnTo>
                    <a:pt x="0" y="43090"/>
                  </a:lnTo>
                  <a:cubicBezTo>
                    <a:pt x="0" y="31662"/>
                    <a:pt x="4540" y="20702"/>
                    <a:pt x="12621" y="12621"/>
                  </a:cubicBezTo>
                  <a:cubicBezTo>
                    <a:pt x="20702" y="4540"/>
                    <a:pt x="31662" y="0"/>
                    <a:pt x="43090" y="0"/>
                  </a:cubicBezTo>
                  <a:close/>
                </a:path>
              </a:pathLst>
            </a:custGeom>
            <a:blipFill>
              <a:blip r:embed="rId6"/>
              <a:stretch>
                <a:fillRect l="-1243" r="-1243"/>
              </a:stretch>
            </a:blipFill>
          </p:spPr>
          <p:txBody>
            <a:bodyPr/>
            <a:lstStyle/>
            <a:p>
              <a:endParaRPr lang="en-US"/>
            </a:p>
          </p:txBody>
        </p:sp>
      </p:grpSp>
      <p:sp>
        <p:nvSpPr>
          <p:cNvPr id="14" name="Freeform 14"/>
          <p:cNvSpPr/>
          <p:nvPr/>
        </p:nvSpPr>
        <p:spPr>
          <a:xfrm flipH="1" flipV="1">
            <a:off x="13106400" y="-1"/>
            <a:ext cx="5181600" cy="2129672"/>
          </a:xfrm>
          <a:custGeom>
            <a:avLst/>
            <a:gdLst/>
            <a:ahLst/>
            <a:cxnLst/>
            <a:rect l="l" t="t" r="r" b="b"/>
            <a:pathLst>
              <a:path w="13527672" h="12293272">
                <a:moveTo>
                  <a:pt x="13527672" y="12293272"/>
                </a:moveTo>
                <a:lnTo>
                  <a:pt x="0" y="12293272"/>
                </a:lnTo>
                <a:lnTo>
                  <a:pt x="0" y="0"/>
                </a:lnTo>
                <a:lnTo>
                  <a:pt x="13527672" y="0"/>
                </a:lnTo>
                <a:lnTo>
                  <a:pt x="13527672" y="12293272"/>
                </a:lnTo>
                <a:close/>
              </a:path>
            </a:pathLst>
          </a:custGeom>
          <a:blipFill>
            <a:blip>
              <a:extLst>
                <a:ext uri="{96DAC541-7B7A-43D3-8B79-37D633B846F1}">
                  <asvg:svgBlip xmlns:asvg="http://schemas.microsoft.com/office/drawing/2016/SVG/main" r:embed="rId7"/>
                </a:ext>
              </a:extLst>
            </a:blip>
            <a:stretch>
              <a:fillRect l="-45294" b="-243669"/>
            </a:stretch>
          </a:blipFill>
        </p:spPr>
        <p:txBody>
          <a:bodyPr/>
          <a:lstStyle/>
          <a:p>
            <a:endParaRPr lang="en-US"/>
          </a:p>
        </p:txBody>
      </p:sp>
      <p:sp>
        <p:nvSpPr>
          <p:cNvPr id="15" name="TextBox 15"/>
          <p:cNvSpPr txBox="1"/>
          <p:nvPr/>
        </p:nvSpPr>
        <p:spPr>
          <a:xfrm>
            <a:off x="1028700" y="2091572"/>
            <a:ext cx="7200900" cy="679032"/>
          </a:xfrm>
          <a:prstGeom prst="rect">
            <a:avLst/>
          </a:prstGeom>
        </p:spPr>
        <p:txBody>
          <a:bodyPr wrap="square" lIns="0" tIns="0" rIns="0" bIns="0" rtlCol="0" anchor="t">
            <a:spAutoFit/>
          </a:bodyPr>
          <a:lstStyle/>
          <a:p>
            <a:pPr marL="0" lvl="0" indent="0" algn="l">
              <a:lnSpc>
                <a:spcPts val="4935"/>
              </a:lnSpc>
              <a:spcBef>
                <a:spcPct val="0"/>
              </a:spcBef>
            </a:pPr>
            <a:r>
              <a:rPr lang="en-US" sz="5400" b="1" dirty="0">
                <a:solidFill>
                  <a:srgbClr val="FFFFFF"/>
                </a:solidFill>
                <a:latin typeface="Pattanakarn SemiCondensed Medium"/>
                <a:ea typeface="Pattanakarn SemiCondensed Medium"/>
                <a:cs typeface="Pattanakarn SemiCondensed Medium"/>
                <a:sym typeface="Pattanakarn SemiCondensed Medium"/>
              </a:rPr>
              <a:t>This Isn't the Brain. </a:t>
            </a:r>
          </a:p>
        </p:txBody>
      </p:sp>
      <p:sp>
        <p:nvSpPr>
          <p:cNvPr id="16" name="TextBox 16"/>
          <p:cNvSpPr txBox="1"/>
          <p:nvPr/>
        </p:nvSpPr>
        <p:spPr>
          <a:xfrm>
            <a:off x="1028700" y="3126188"/>
            <a:ext cx="7048500" cy="679032"/>
          </a:xfrm>
          <a:prstGeom prst="rect">
            <a:avLst/>
          </a:prstGeom>
        </p:spPr>
        <p:txBody>
          <a:bodyPr wrap="square" lIns="0" tIns="0" rIns="0" bIns="0" rtlCol="0" anchor="t">
            <a:spAutoFit/>
          </a:bodyPr>
          <a:lstStyle/>
          <a:p>
            <a:pPr marL="0" lvl="0" indent="0" algn="l">
              <a:lnSpc>
                <a:spcPts val="4935"/>
              </a:lnSpc>
              <a:spcBef>
                <a:spcPct val="0"/>
              </a:spcBef>
            </a:pPr>
            <a:r>
              <a:rPr lang="en-US" sz="5400" b="1" dirty="0">
                <a:solidFill>
                  <a:srgbClr val="FFFFFF"/>
                </a:solidFill>
                <a:latin typeface="Pattanakarn SemiCondensed Medium"/>
                <a:ea typeface="Pattanakarn SemiCondensed Medium"/>
                <a:cs typeface="Pattanakarn SemiCondensed Medium"/>
                <a:sym typeface="Pattanakarn SemiCondensed Medium"/>
              </a:rPr>
              <a:t>It’s the Brainstem</a:t>
            </a:r>
            <a:r>
              <a:rPr lang="en-US" sz="3525" b="1" dirty="0">
                <a:solidFill>
                  <a:srgbClr val="FFFFFF"/>
                </a:solidFill>
                <a:latin typeface="Pattanakarn SemiCondensed Medium"/>
                <a:ea typeface="Pattanakarn SemiCondensed Medium"/>
                <a:cs typeface="Pattanakarn SemiCondensed Medium"/>
                <a:sym typeface="Pattanakarn SemiCondensed Medium"/>
              </a:rPr>
              <a:t>.</a:t>
            </a:r>
          </a:p>
        </p:txBody>
      </p:sp>
      <p:sp>
        <p:nvSpPr>
          <p:cNvPr id="17" name="TextBox 17"/>
          <p:cNvSpPr txBox="1"/>
          <p:nvPr/>
        </p:nvSpPr>
        <p:spPr>
          <a:xfrm>
            <a:off x="13795326" y="3920294"/>
            <a:ext cx="3463974" cy="1077218"/>
          </a:xfrm>
          <a:prstGeom prst="rect">
            <a:avLst/>
          </a:prstGeom>
        </p:spPr>
        <p:txBody>
          <a:bodyPr lIns="0" tIns="0" rIns="0" bIns="0" rtlCol="0" anchor="t">
            <a:spAutoFit/>
          </a:bodyPr>
          <a:lstStyle/>
          <a:p>
            <a:pPr marL="0" lvl="0" indent="0" algn="l">
              <a:lnSpc>
                <a:spcPts val="2112"/>
              </a:lnSpc>
              <a:spcBef>
                <a:spcPct val="0"/>
              </a:spcBef>
            </a:pPr>
            <a:r>
              <a:rPr lang="en-US" sz="2000" dirty="0">
                <a:solidFill>
                  <a:srgbClr val="FFFFFF"/>
                </a:solidFill>
                <a:latin typeface="Canva Sans"/>
                <a:ea typeface="Canva Sans"/>
                <a:cs typeface="Canva Sans"/>
                <a:sym typeface="Canva Sans"/>
              </a:rPr>
              <a:t>OT doesn't degrade gracefully; one substation can darken multiple data center campuses. </a:t>
            </a:r>
          </a:p>
        </p:txBody>
      </p:sp>
      <p:sp>
        <p:nvSpPr>
          <p:cNvPr id="18" name="TextBox 18"/>
          <p:cNvSpPr txBox="1"/>
          <p:nvPr/>
        </p:nvSpPr>
        <p:spPr>
          <a:xfrm>
            <a:off x="8822077" y="3920294"/>
            <a:ext cx="3463974" cy="1077218"/>
          </a:xfrm>
          <a:prstGeom prst="rect">
            <a:avLst/>
          </a:prstGeom>
        </p:spPr>
        <p:txBody>
          <a:bodyPr lIns="0" tIns="0" rIns="0" bIns="0" rtlCol="0" anchor="t">
            <a:spAutoFit/>
          </a:bodyPr>
          <a:lstStyle/>
          <a:p>
            <a:pPr marL="0" lvl="0" indent="0" algn="l">
              <a:lnSpc>
                <a:spcPts val="2112"/>
              </a:lnSpc>
              <a:spcBef>
                <a:spcPct val="0"/>
              </a:spcBef>
            </a:pPr>
            <a:r>
              <a:rPr lang="en-US" sz="2000" dirty="0">
                <a:solidFill>
                  <a:srgbClr val="FFFFFF"/>
                </a:solidFill>
                <a:latin typeface="Canva Sans"/>
                <a:ea typeface="Canva Sans"/>
                <a:cs typeface="Canva Sans"/>
                <a:sym typeface="Canva Sans"/>
              </a:rPr>
              <a:t>one compromised SCADA master overrides safety protocols across entire networks. </a:t>
            </a:r>
          </a:p>
        </p:txBody>
      </p:sp>
      <p:sp>
        <p:nvSpPr>
          <p:cNvPr id="19" name="TextBox 19"/>
          <p:cNvSpPr txBox="1"/>
          <p:nvPr/>
        </p:nvSpPr>
        <p:spPr>
          <a:xfrm>
            <a:off x="13795326" y="7535771"/>
            <a:ext cx="3463974" cy="1077218"/>
          </a:xfrm>
          <a:prstGeom prst="rect">
            <a:avLst/>
          </a:prstGeom>
        </p:spPr>
        <p:txBody>
          <a:bodyPr lIns="0" tIns="0" rIns="0" bIns="0" rtlCol="0" anchor="t">
            <a:spAutoFit/>
          </a:bodyPr>
          <a:lstStyle/>
          <a:p>
            <a:pPr marL="0" lvl="0" indent="0" algn="l">
              <a:lnSpc>
                <a:spcPts val="2112"/>
              </a:lnSpc>
              <a:spcBef>
                <a:spcPct val="0"/>
              </a:spcBef>
            </a:pPr>
            <a:r>
              <a:rPr lang="en-US" sz="2000" dirty="0">
                <a:solidFill>
                  <a:srgbClr val="FFFFFF"/>
                </a:solidFill>
                <a:latin typeface="Canva Sans"/>
                <a:ea typeface="Canva Sans"/>
                <a:cs typeface="Canva Sans"/>
                <a:sym typeface="Canva Sans"/>
              </a:rPr>
              <a:t>adversaries don't need thousands of devices, just the one that controls them all.</a:t>
            </a:r>
          </a:p>
        </p:txBody>
      </p:sp>
      <p:sp>
        <p:nvSpPr>
          <p:cNvPr id="20" name="TextBox 20"/>
          <p:cNvSpPr txBox="1"/>
          <p:nvPr/>
        </p:nvSpPr>
        <p:spPr>
          <a:xfrm>
            <a:off x="8822077" y="7535771"/>
            <a:ext cx="3463974" cy="1077218"/>
          </a:xfrm>
          <a:prstGeom prst="rect">
            <a:avLst/>
          </a:prstGeom>
        </p:spPr>
        <p:txBody>
          <a:bodyPr lIns="0" tIns="0" rIns="0" bIns="0" rtlCol="0" anchor="t">
            <a:spAutoFit/>
          </a:bodyPr>
          <a:lstStyle/>
          <a:p>
            <a:pPr marL="0" lvl="0" indent="0" algn="l">
              <a:lnSpc>
                <a:spcPts val="2112"/>
              </a:lnSpc>
              <a:spcBef>
                <a:spcPct val="0"/>
              </a:spcBef>
            </a:pPr>
            <a:r>
              <a:rPr lang="en-US" sz="2000" dirty="0">
                <a:solidFill>
                  <a:srgbClr val="FFFFFF"/>
                </a:solidFill>
                <a:latin typeface="Canva Sans"/>
                <a:ea typeface="Canva Sans"/>
                <a:cs typeface="Canva Sans"/>
                <a:sym typeface="Canva Sans"/>
              </a:rPr>
              <a:t>Modbus and DNP3 (1970s) have no authentication; attackers inject commands that appear legitimate</a:t>
            </a:r>
            <a:r>
              <a:rPr lang="en-US" sz="1600" dirty="0">
                <a:solidFill>
                  <a:srgbClr val="FFFFFF"/>
                </a:solidFill>
                <a:latin typeface="Canva Sans"/>
                <a:ea typeface="Canva Sans"/>
                <a:cs typeface="Canva Sans"/>
                <a:sym typeface="Canva Sans"/>
              </a:rPr>
              <a:t>. </a:t>
            </a:r>
          </a:p>
        </p:txBody>
      </p:sp>
      <p:sp>
        <p:nvSpPr>
          <p:cNvPr id="21" name="TextBox 21"/>
          <p:cNvSpPr txBox="1"/>
          <p:nvPr/>
        </p:nvSpPr>
        <p:spPr>
          <a:xfrm>
            <a:off x="13795326" y="2635838"/>
            <a:ext cx="3463974" cy="9766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Cascading Failure Risk</a:t>
            </a:r>
          </a:p>
        </p:txBody>
      </p:sp>
      <p:sp>
        <p:nvSpPr>
          <p:cNvPr id="22" name="TextBox 22"/>
          <p:cNvSpPr txBox="1"/>
          <p:nvPr/>
        </p:nvSpPr>
        <p:spPr>
          <a:xfrm>
            <a:off x="8824239" y="2259102"/>
            <a:ext cx="3463974" cy="14719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Single Point of Failure (SPOF) Architecture</a:t>
            </a:r>
          </a:p>
        </p:txBody>
      </p:sp>
      <p:sp>
        <p:nvSpPr>
          <p:cNvPr id="23" name="TextBox 23"/>
          <p:cNvSpPr txBox="1"/>
          <p:nvPr/>
        </p:nvSpPr>
        <p:spPr>
          <a:xfrm>
            <a:off x="13795326" y="6251314"/>
            <a:ext cx="3463974" cy="9766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No Redundancy by Design</a:t>
            </a:r>
          </a:p>
        </p:txBody>
      </p:sp>
      <p:sp>
        <p:nvSpPr>
          <p:cNvPr id="24" name="TextBox 24"/>
          <p:cNvSpPr txBox="1"/>
          <p:nvPr/>
        </p:nvSpPr>
        <p:spPr>
          <a:xfrm>
            <a:off x="8822077" y="6251314"/>
            <a:ext cx="3463974" cy="976614"/>
          </a:xfrm>
          <a:prstGeom prst="rect">
            <a:avLst/>
          </a:prstGeom>
        </p:spPr>
        <p:txBody>
          <a:bodyPr lIns="0" tIns="0" rIns="0" bIns="0" rtlCol="0" anchor="t">
            <a:spAutoFit/>
          </a:bodyPr>
          <a:lstStyle/>
          <a:p>
            <a:pPr marL="0" lvl="0" indent="0" algn="l">
              <a:lnSpc>
                <a:spcPts val="3920"/>
              </a:lnSpc>
              <a:spcBef>
                <a:spcPct val="0"/>
              </a:spcBef>
            </a:pPr>
            <a:r>
              <a:rPr lang="en-US" sz="2800" b="1">
                <a:solidFill>
                  <a:srgbClr val="FFFFFF"/>
                </a:solidFill>
                <a:latin typeface="Canva Sans Bold"/>
                <a:ea typeface="Canva Sans Bold"/>
                <a:cs typeface="Canva Sans Bold"/>
                <a:sym typeface="Canva Sans Bold"/>
              </a:rPr>
              <a:t>Legacy Protocol Vulnerabilities</a:t>
            </a:r>
          </a:p>
        </p:txBody>
      </p:sp>
      <p:grpSp>
        <p:nvGrpSpPr>
          <p:cNvPr id="27" name="Group 26">
            <a:extLst>
              <a:ext uri="{FF2B5EF4-FFF2-40B4-BE49-F238E27FC236}">
                <a16:creationId xmlns:a16="http://schemas.microsoft.com/office/drawing/2014/main" id="{B68DC5A4-3C4E-7876-A0C8-3B9EFDD36D19}"/>
              </a:ext>
            </a:extLst>
          </p:cNvPr>
          <p:cNvGrpSpPr/>
          <p:nvPr/>
        </p:nvGrpSpPr>
        <p:grpSpPr>
          <a:xfrm>
            <a:off x="16973621" y="8970630"/>
            <a:ext cx="1104900" cy="1109382"/>
            <a:chOff x="8458200" y="1333500"/>
            <a:chExt cx="1104900" cy="1109382"/>
          </a:xfrm>
        </p:grpSpPr>
        <p:sp>
          <p:nvSpPr>
            <p:cNvPr id="28" name="Rectangle 27">
              <a:extLst>
                <a:ext uri="{FF2B5EF4-FFF2-40B4-BE49-F238E27FC236}">
                  <a16:creationId xmlns:a16="http://schemas.microsoft.com/office/drawing/2014/main" id="{4DE644E9-26F5-9758-3783-E80333533B83}"/>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ECCBABF-2463-ECE4-FC6F-19ECA3284271}"/>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52D8C0B-8341-596A-07B1-DC30B693520E}"/>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22E6224-1F4B-5A37-EDEB-5E792A5A8A24}"/>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Freeform 13">
            <a:extLst>
              <a:ext uri="{FF2B5EF4-FFF2-40B4-BE49-F238E27FC236}">
                <a16:creationId xmlns:a16="http://schemas.microsoft.com/office/drawing/2014/main" id="{C4E0DC67-A46F-6FAF-E081-A566FDD25A3E}"/>
              </a:ext>
            </a:extLst>
          </p:cNvPr>
          <p:cNvSpPr/>
          <p:nvPr/>
        </p:nvSpPr>
        <p:spPr>
          <a:xfrm>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8"/>
                </a:ext>
              </a:extLst>
            </a:blip>
            <a:stretch>
              <a:fillRect t="-127730" r="-182074"/>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hlinkClick r:id="" action="ppaction://media"/>
            <a:extLst>
              <a:ext uri="{FF2B5EF4-FFF2-40B4-BE49-F238E27FC236}">
                <a16:creationId xmlns:a16="http://schemas.microsoft.com/office/drawing/2014/main" id="{35843D79-DA00-2038-1FB9-0A55AB186A67}"/>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sp>
        <p:nvSpPr>
          <p:cNvPr id="21" name="Rectangle 20">
            <a:extLst>
              <a:ext uri="{FF2B5EF4-FFF2-40B4-BE49-F238E27FC236}">
                <a16:creationId xmlns:a16="http://schemas.microsoft.com/office/drawing/2014/main" id="{C2823D44-E3B8-32D6-20DF-C50B57E6D351}"/>
              </a:ext>
            </a:extLst>
          </p:cNvPr>
          <p:cNvSpPr/>
          <p:nvPr/>
        </p:nvSpPr>
        <p:spPr>
          <a:xfrm>
            <a:off x="6927" y="-86218"/>
            <a:ext cx="18281073" cy="10373218"/>
          </a:xfrm>
          <a:prstGeom prst="rect">
            <a:avLst/>
          </a:prstGeom>
          <a:gradFill flip="none" rotWithShape="1">
            <a:gsLst>
              <a:gs pos="0">
                <a:srgbClr val="001136">
                  <a:alpha val="100000"/>
                </a:srgbClr>
              </a:gs>
              <a:gs pos="34000">
                <a:srgbClr val="001136">
                  <a:alpha val="100000"/>
                </a:srgbClr>
              </a:gs>
              <a:gs pos="100000">
                <a:srgbClr val="001136">
                  <a:alpha val="0"/>
                </a:srgbClr>
              </a:gs>
            </a:gsLst>
            <a:lin ang="81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4B3BF51-0E3B-02ED-A853-5EED93D97B4B}"/>
              </a:ext>
            </a:extLst>
          </p:cNvPr>
          <p:cNvSpPr txBox="1"/>
          <p:nvPr/>
        </p:nvSpPr>
        <p:spPr>
          <a:xfrm>
            <a:off x="5943600" y="5443261"/>
            <a:ext cx="6029326" cy="707886"/>
          </a:xfrm>
          <a:prstGeom prst="rect">
            <a:avLst/>
          </a:prstGeom>
          <a:noFill/>
        </p:spPr>
        <p:txBody>
          <a:bodyPr wrap="square">
            <a:spAutoFit/>
          </a:bodyPr>
          <a:lstStyle/>
          <a:p>
            <a:r>
              <a:rPr lang="en-US" sz="4000" b="1" dirty="0">
                <a:solidFill>
                  <a:schemeClr val="bg1"/>
                </a:solidFill>
                <a:latin typeface="Pattanakarn SemiCondensed Medium"/>
                <a:ea typeface="Pattanakarn SemiCondensed Medium"/>
                <a:cs typeface="Pattanakarn SemiCondensed Medium"/>
                <a:sym typeface="Pattanakarn SemiCondensed Medium"/>
                <a:hlinkClick r:id="rId6"/>
              </a:rPr>
              <a:t>Atta</a:t>
            </a:r>
            <a:r>
              <a:rPr lang="en-US" sz="4000" b="1" dirty="0">
                <a:solidFill>
                  <a:srgbClr val="FFFFFF"/>
                </a:solidFill>
                <a:latin typeface="Pattanakarn SemiCondensed Medium"/>
                <a:ea typeface="Pattanakarn SemiCondensed Medium"/>
                <a:cs typeface="Pattanakarn SemiCondensed Medium"/>
                <a:sym typeface="Pattanakarn SemiCondensed Medium"/>
                <a:hlinkClick r:id="rId6"/>
              </a:rPr>
              <a:t>ck</a:t>
            </a:r>
            <a:r>
              <a:rPr lang="en-US" sz="4000" b="1" dirty="0">
                <a:solidFill>
                  <a:schemeClr val="bg1"/>
                </a:solidFill>
                <a:latin typeface="Pattanakarn SemiCondensed Medium"/>
                <a:ea typeface="Pattanakarn SemiCondensed Medium"/>
                <a:cs typeface="Pattanakarn SemiCondensed Medium"/>
                <a:sym typeface="Pattanakarn SemiCondensed Medium"/>
                <a:hlinkClick r:id="rId6"/>
              </a:rPr>
              <a:t> Demonstration</a:t>
            </a:r>
            <a:endParaRPr lang="en-US" sz="4000" dirty="0">
              <a:solidFill>
                <a:schemeClr val="bg1"/>
              </a:solidFill>
            </a:endParaRPr>
          </a:p>
        </p:txBody>
      </p:sp>
      <p:sp>
        <p:nvSpPr>
          <p:cNvPr id="20" name="TextBox 15">
            <a:extLst>
              <a:ext uri="{FF2B5EF4-FFF2-40B4-BE49-F238E27FC236}">
                <a16:creationId xmlns:a16="http://schemas.microsoft.com/office/drawing/2014/main" id="{C8537F75-891C-1523-2C48-A3B030BAA51C}"/>
              </a:ext>
            </a:extLst>
          </p:cNvPr>
          <p:cNvSpPr txBox="1"/>
          <p:nvPr/>
        </p:nvSpPr>
        <p:spPr>
          <a:xfrm>
            <a:off x="5943600" y="4135852"/>
            <a:ext cx="7200900" cy="1307409"/>
          </a:xfrm>
          <a:prstGeom prst="rect">
            <a:avLst/>
          </a:prstGeom>
        </p:spPr>
        <p:txBody>
          <a:bodyPr wrap="square" lIns="0" tIns="0" rIns="0" bIns="0" rtlCol="0" anchor="t">
            <a:spAutoFit/>
          </a:bodyPr>
          <a:lstStyle/>
          <a:p>
            <a:pPr marL="0" lvl="0" indent="0" algn="l">
              <a:lnSpc>
                <a:spcPts val="4935"/>
              </a:lnSpc>
              <a:spcBef>
                <a:spcPct val="0"/>
              </a:spcBef>
            </a:pPr>
            <a:r>
              <a:rPr lang="en-US" sz="5400" b="1" dirty="0">
                <a:solidFill>
                  <a:srgbClr val="FFFFFF"/>
                </a:solidFill>
                <a:latin typeface="Pattanakarn SemiCondensed Medium"/>
                <a:ea typeface="Pattanakarn SemiCondensed Medium"/>
                <a:cs typeface="Pattanakarn SemiCondensed Medium"/>
                <a:sym typeface="Pattanakarn SemiCondensed Medium"/>
              </a:rPr>
              <a:t>What Would This Look Like?</a:t>
            </a:r>
          </a:p>
        </p:txBody>
      </p:sp>
      <p:grpSp>
        <p:nvGrpSpPr>
          <p:cNvPr id="22" name="Group 21">
            <a:extLst>
              <a:ext uri="{FF2B5EF4-FFF2-40B4-BE49-F238E27FC236}">
                <a16:creationId xmlns:a16="http://schemas.microsoft.com/office/drawing/2014/main" id="{88FA6448-9B0F-A235-6126-B147F05AA4FE}"/>
              </a:ext>
            </a:extLst>
          </p:cNvPr>
          <p:cNvGrpSpPr/>
          <p:nvPr/>
        </p:nvGrpSpPr>
        <p:grpSpPr>
          <a:xfrm>
            <a:off x="16973621" y="8970630"/>
            <a:ext cx="1104900" cy="1109382"/>
            <a:chOff x="8458200" y="1333500"/>
            <a:chExt cx="1104900" cy="1109382"/>
          </a:xfrm>
        </p:grpSpPr>
        <p:sp>
          <p:nvSpPr>
            <p:cNvPr id="23" name="Rectangle 22">
              <a:extLst>
                <a:ext uri="{FF2B5EF4-FFF2-40B4-BE49-F238E27FC236}">
                  <a16:creationId xmlns:a16="http://schemas.microsoft.com/office/drawing/2014/main" id="{19B19FAC-50DC-3E51-FF0B-0066C9682169}"/>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9C6D27A-E95A-0878-E009-A34A24567313}"/>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0D33712-354D-C8BA-10D3-F36273A7A5C4}"/>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38165FB-EEC2-106C-07A1-2F12F80DA9DC}"/>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Freeform 13">
            <a:extLst>
              <a:ext uri="{FF2B5EF4-FFF2-40B4-BE49-F238E27FC236}">
                <a16:creationId xmlns:a16="http://schemas.microsoft.com/office/drawing/2014/main" id="{1239B240-87B3-7B3B-8BFA-7F882C11B03C}"/>
              </a:ext>
            </a:extLst>
          </p:cNvPr>
          <p:cNvSpPr/>
          <p:nvPr/>
        </p:nvSpPr>
        <p:spPr>
          <a:xfrm rot="5400000">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7"/>
                </a:ext>
              </a:extLst>
            </a:blip>
            <a:stretch>
              <a:fillRect t="-127730" r="-182074"/>
            </a:stretch>
          </a:blipFill>
        </p:spPr>
        <p:txBody>
          <a:bodyPr/>
          <a:lstStyle/>
          <a:p>
            <a:endParaRPr lang="en-US"/>
          </a:p>
        </p:txBody>
      </p:sp>
    </p:spTree>
    <p:extLst>
      <p:ext uri="{BB962C8B-B14F-4D97-AF65-F5344CB8AC3E}">
        <p14:creationId xmlns:p14="http://schemas.microsoft.com/office/powerpoint/2010/main" val="2273225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grpSp>
        <p:nvGrpSpPr>
          <p:cNvPr id="4" name="Group 4"/>
          <p:cNvGrpSpPr/>
          <p:nvPr/>
        </p:nvGrpSpPr>
        <p:grpSpPr>
          <a:xfrm>
            <a:off x="0"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0000">
                    <a:alpha val="100000"/>
                  </a:srgbClr>
                </a:gs>
                <a:gs pos="50000">
                  <a:srgbClr val="001136">
                    <a:alpha val="100000"/>
                  </a:srgbClr>
                </a:gs>
                <a:gs pos="100000">
                  <a:srgbClr val="001136">
                    <a:alpha val="0"/>
                  </a:srgbClr>
                </a:gs>
              </a:gsLst>
              <a:path path="circle">
                <a:fillToRect r="100000" b="100000"/>
              </a:path>
              <a:tileRect l="-100000" t="-100000"/>
            </a:gradFill>
          </p:spPr>
          <p:txBody>
            <a:bodyPr/>
            <a:lstStyle/>
            <a:p>
              <a:endParaRPr lang="en-US"/>
            </a:p>
          </p:txBody>
        </p:sp>
        <p:sp>
          <p:nvSpPr>
            <p:cNvPr id="6" name="TextBox 6"/>
            <p:cNvSpPr txBox="1"/>
            <p:nvPr/>
          </p:nvSpPr>
          <p:spPr>
            <a:xfrm>
              <a:off x="0" y="-38100"/>
              <a:ext cx="4816593" cy="2747433"/>
            </a:xfrm>
            <a:prstGeom prst="rect">
              <a:avLst/>
            </a:prstGeom>
          </p:spPr>
          <p:txBody>
            <a:bodyPr lIns="50800" tIns="50800" rIns="50800" bIns="50800" rtlCol="0" anchor="ctr"/>
            <a:lstStyle/>
            <a:p>
              <a:pPr marL="0" lvl="0" indent="0" algn="ctr">
                <a:lnSpc>
                  <a:spcPts val="2337"/>
                </a:lnSpc>
                <a:spcBef>
                  <a:spcPct val="0"/>
                </a:spcBef>
              </a:pPr>
              <a:endParaRPr/>
            </a:p>
          </p:txBody>
        </p:sp>
      </p:grpSp>
      <p:sp>
        <p:nvSpPr>
          <p:cNvPr id="3" name="Freeform 3"/>
          <p:cNvSpPr/>
          <p:nvPr/>
        </p:nvSpPr>
        <p:spPr>
          <a:xfrm flipH="1" flipV="1">
            <a:off x="8756589" y="743700"/>
            <a:ext cx="9531407" cy="8348738"/>
          </a:xfrm>
          <a:custGeom>
            <a:avLst/>
            <a:gdLst/>
            <a:ahLst/>
            <a:cxnLst/>
            <a:rect l="l" t="t" r="r" b="b"/>
            <a:pathLst>
              <a:path w="13527672" h="12293272">
                <a:moveTo>
                  <a:pt x="13527672" y="12293272"/>
                </a:moveTo>
                <a:lnTo>
                  <a:pt x="0" y="12293272"/>
                </a:lnTo>
                <a:lnTo>
                  <a:pt x="0" y="0"/>
                </a:lnTo>
                <a:lnTo>
                  <a:pt x="13527672" y="0"/>
                </a:lnTo>
                <a:lnTo>
                  <a:pt x="13527672" y="12293272"/>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1028700" y="2527955"/>
            <a:ext cx="9164950" cy="1000274"/>
          </a:xfrm>
          <a:prstGeom prst="rect">
            <a:avLst/>
          </a:prstGeom>
        </p:spPr>
        <p:txBody>
          <a:bodyPr lIns="0" tIns="0" rIns="0" bIns="0" rtlCol="0" anchor="t">
            <a:spAutoFit/>
          </a:bodyPr>
          <a:lstStyle/>
          <a:p>
            <a:pPr marL="0" lvl="0" indent="0" algn="l">
              <a:lnSpc>
                <a:spcPts val="7813"/>
              </a:lnSpc>
              <a:spcBef>
                <a:spcPct val="0"/>
              </a:spcBef>
            </a:pPr>
            <a:r>
              <a:rPr lang="en-US" sz="5581" b="1" dirty="0">
                <a:solidFill>
                  <a:srgbClr val="FFFFFF"/>
                </a:solidFill>
                <a:latin typeface="Pattanakarn SemiCondensed Medium"/>
                <a:ea typeface="Pattanakarn SemiCondensed Medium"/>
                <a:cs typeface="Pattanakarn SemiCondensed Medium"/>
                <a:sym typeface="Pattanakarn SemiCondensed Medium"/>
              </a:rPr>
              <a:t>The Back Door Is</a:t>
            </a:r>
          </a:p>
        </p:txBody>
      </p:sp>
      <p:sp>
        <p:nvSpPr>
          <p:cNvPr id="8" name="TextBox 8"/>
          <p:cNvSpPr txBox="1"/>
          <p:nvPr/>
        </p:nvSpPr>
        <p:spPr>
          <a:xfrm>
            <a:off x="1028700" y="3584986"/>
            <a:ext cx="9164950" cy="1000274"/>
          </a:xfrm>
          <a:prstGeom prst="rect">
            <a:avLst/>
          </a:prstGeom>
        </p:spPr>
        <p:txBody>
          <a:bodyPr lIns="0" tIns="0" rIns="0" bIns="0" rtlCol="0" anchor="t">
            <a:spAutoFit/>
          </a:bodyPr>
          <a:lstStyle/>
          <a:p>
            <a:pPr marL="0" lvl="0" indent="0" algn="l">
              <a:lnSpc>
                <a:spcPts val="7813"/>
              </a:lnSpc>
              <a:spcBef>
                <a:spcPct val="0"/>
              </a:spcBef>
            </a:pPr>
            <a:r>
              <a:rPr lang="en-US" sz="5581" b="1" dirty="0">
                <a:solidFill>
                  <a:srgbClr val="FFFFFF"/>
                </a:solidFill>
                <a:latin typeface="Pattanakarn SemiCondensed Medium"/>
                <a:ea typeface="Pattanakarn SemiCondensed Medium"/>
                <a:cs typeface="Pattanakarn SemiCondensed Medium"/>
                <a:sym typeface="Pattanakarn SemiCondensed Medium"/>
              </a:rPr>
              <a:t>Labeled "Vendor Portal"</a:t>
            </a:r>
          </a:p>
        </p:txBody>
      </p:sp>
      <p:grpSp>
        <p:nvGrpSpPr>
          <p:cNvPr id="9" name="Group 9"/>
          <p:cNvGrpSpPr/>
          <p:nvPr/>
        </p:nvGrpSpPr>
        <p:grpSpPr>
          <a:xfrm>
            <a:off x="1595092" y="7486508"/>
            <a:ext cx="7452944" cy="708962"/>
            <a:chOff x="0" y="0"/>
            <a:chExt cx="4272272" cy="406400"/>
          </a:xfrm>
        </p:grpSpPr>
        <p:sp>
          <p:nvSpPr>
            <p:cNvPr id="10" name="Freeform 10"/>
            <p:cNvSpPr/>
            <p:nvPr/>
          </p:nvSpPr>
          <p:spPr>
            <a:xfrm>
              <a:off x="0" y="0"/>
              <a:ext cx="4272272" cy="406400"/>
            </a:xfrm>
            <a:custGeom>
              <a:avLst/>
              <a:gdLst/>
              <a:ahLst/>
              <a:cxnLst/>
              <a:rect l="l" t="t" r="r" b="b"/>
              <a:pathLst>
                <a:path w="4272272" h="406400">
                  <a:moveTo>
                    <a:pt x="4069072" y="0"/>
                  </a:moveTo>
                  <a:cubicBezTo>
                    <a:pt x="4181296" y="0"/>
                    <a:pt x="4272272" y="90976"/>
                    <a:pt x="4272272" y="203200"/>
                  </a:cubicBezTo>
                  <a:cubicBezTo>
                    <a:pt x="4272272" y="315424"/>
                    <a:pt x="4181296" y="406400"/>
                    <a:pt x="4069072"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1" name="TextBox 11"/>
            <p:cNvSpPr txBox="1"/>
            <p:nvPr/>
          </p:nvSpPr>
          <p:spPr>
            <a:xfrm>
              <a:off x="0" y="-57150"/>
              <a:ext cx="4272272" cy="463550"/>
            </a:xfrm>
            <a:prstGeom prst="rect">
              <a:avLst/>
            </a:prstGeom>
          </p:spPr>
          <p:txBody>
            <a:bodyPr lIns="50800" tIns="50800" rIns="50800" bIns="50800" rtlCol="0" anchor="ctr"/>
            <a:lstStyle/>
            <a:p>
              <a:pPr marL="0" lvl="0" indent="0" algn="ctr">
                <a:lnSpc>
                  <a:spcPts val="3643"/>
                </a:lnSpc>
              </a:pPr>
              <a:endParaRPr/>
            </a:p>
          </p:txBody>
        </p:sp>
      </p:grpSp>
      <p:grpSp>
        <p:nvGrpSpPr>
          <p:cNvPr id="12" name="Group 12"/>
          <p:cNvGrpSpPr/>
          <p:nvPr/>
        </p:nvGrpSpPr>
        <p:grpSpPr>
          <a:xfrm>
            <a:off x="9239964" y="7486508"/>
            <a:ext cx="7452944" cy="708962"/>
            <a:chOff x="0" y="0"/>
            <a:chExt cx="4272272" cy="406400"/>
          </a:xfrm>
        </p:grpSpPr>
        <p:sp>
          <p:nvSpPr>
            <p:cNvPr id="13" name="Freeform 13"/>
            <p:cNvSpPr/>
            <p:nvPr/>
          </p:nvSpPr>
          <p:spPr>
            <a:xfrm>
              <a:off x="0" y="0"/>
              <a:ext cx="4272272" cy="406400"/>
            </a:xfrm>
            <a:custGeom>
              <a:avLst/>
              <a:gdLst/>
              <a:ahLst/>
              <a:cxnLst/>
              <a:rect l="l" t="t" r="r" b="b"/>
              <a:pathLst>
                <a:path w="4272272" h="406400">
                  <a:moveTo>
                    <a:pt x="4069072" y="0"/>
                  </a:moveTo>
                  <a:cubicBezTo>
                    <a:pt x="4181296" y="0"/>
                    <a:pt x="4272272" y="90976"/>
                    <a:pt x="4272272" y="203200"/>
                  </a:cubicBezTo>
                  <a:cubicBezTo>
                    <a:pt x="4272272" y="315424"/>
                    <a:pt x="4181296" y="406400"/>
                    <a:pt x="4069072"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4" name="TextBox 14"/>
            <p:cNvSpPr txBox="1"/>
            <p:nvPr/>
          </p:nvSpPr>
          <p:spPr>
            <a:xfrm>
              <a:off x="0" y="-57150"/>
              <a:ext cx="4272272" cy="463550"/>
            </a:xfrm>
            <a:prstGeom prst="rect">
              <a:avLst/>
            </a:prstGeom>
          </p:spPr>
          <p:txBody>
            <a:bodyPr lIns="50800" tIns="50800" rIns="50800" bIns="50800" rtlCol="0" anchor="ctr"/>
            <a:lstStyle/>
            <a:p>
              <a:pPr marL="0" lvl="0" indent="0" algn="ctr">
                <a:lnSpc>
                  <a:spcPts val="3643"/>
                </a:lnSpc>
              </a:pPr>
              <a:endParaRPr/>
            </a:p>
          </p:txBody>
        </p:sp>
      </p:grpSp>
      <p:grpSp>
        <p:nvGrpSpPr>
          <p:cNvPr id="15" name="Group 15"/>
          <p:cNvGrpSpPr/>
          <p:nvPr/>
        </p:nvGrpSpPr>
        <p:grpSpPr>
          <a:xfrm>
            <a:off x="1595092" y="8356262"/>
            <a:ext cx="7452944" cy="708962"/>
            <a:chOff x="0" y="0"/>
            <a:chExt cx="4272272" cy="406400"/>
          </a:xfrm>
        </p:grpSpPr>
        <p:sp>
          <p:nvSpPr>
            <p:cNvPr id="16" name="Freeform 16"/>
            <p:cNvSpPr/>
            <p:nvPr/>
          </p:nvSpPr>
          <p:spPr>
            <a:xfrm>
              <a:off x="0" y="0"/>
              <a:ext cx="4272272" cy="406400"/>
            </a:xfrm>
            <a:custGeom>
              <a:avLst/>
              <a:gdLst/>
              <a:ahLst/>
              <a:cxnLst/>
              <a:rect l="l" t="t" r="r" b="b"/>
              <a:pathLst>
                <a:path w="4272272" h="406400">
                  <a:moveTo>
                    <a:pt x="4069072" y="0"/>
                  </a:moveTo>
                  <a:cubicBezTo>
                    <a:pt x="4181296" y="0"/>
                    <a:pt x="4272272" y="90976"/>
                    <a:pt x="4272272" y="203200"/>
                  </a:cubicBezTo>
                  <a:cubicBezTo>
                    <a:pt x="4272272" y="315424"/>
                    <a:pt x="4181296" y="406400"/>
                    <a:pt x="4069072"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7" name="TextBox 17"/>
            <p:cNvSpPr txBox="1"/>
            <p:nvPr/>
          </p:nvSpPr>
          <p:spPr>
            <a:xfrm>
              <a:off x="0" y="-57150"/>
              <a:ext cx="4272272" cy="463550"/>
            </a:xfrm>
            <a:prstGeom prst="rect">
              <a:avLst/>
            </a:prstGeom>
          </p:spPr>
          <p:txBody>
            <a:bodyPr lIns="50800" tIns="50800" rIns="50800" bIns="50800" rtlCol="0" anchor="ctr"/>
            <a:lstStyle/>
            <a:p>
              <a:pPr marL="0" lvl="0" indent="0" algn="ctr">
                <a:lnSpc>
                  <a:spcPts val="3643"/>
                </a:lnSpc>
              </a:pPr>
              <a:endParaRPr/>
            </a:p>
          </p:txBody>
        </p:sp>
      </p:grpSp>
      <p:grpSp>
        <p:nvGrpSpPr>
          <p:cNvPr id="18" name="Group 18"/>
          <p:cNvGrpSpPr/>
          <p:nvPr/>
        </p:nvGrpSpPr>
        <p:grpSpPr>
          <a:xfrm>
            <a:off x="9239964" y="8356262"/>
            <a:ext cx="7452944" cy="708962"/>
            <a:chOff x="0" y="0"/>
            <a:chExt cx="4272272" cy="406400"/>
          </a:xfrm>
        </p:grpSpPr>
        <p:sp>
          <p:nvSpPr>
            <p:cNvPr id="19" name="Freeform 19"/>
            <p:cNvSpPr/>
            <p:nvPr/>
          </p:nvSpPr>
          <p:spPr>
            <a:xfrm>
              <a:off x="0" y="0"/>
              <a:ext cx="4272272" cy="406400"/>
            </a:xfrm>
            <a:custGeom>
              <a:avLst/>
              <a:gdLst/>
              <a:ahLst/>
              <a:cxnLst/>
              <a:rect l="l" t="t" r="r" b="b"/>
              <a:pathLst>
                <a:path w="4272272" h="406400">
                  <a:moveTo>
                    <a:pt x="4069072" y="0"/>
                  </a:moveTo>
                  <a:cubicBezTo>
                    <a:pt x="4181296" y="0"/>
                    <a:pt x="4272272" y="90976"/>
                    <a:pt x="4272272" y="203200"/>
                  </a:cubicBezTo>
                  <a:cubicBezTo>
                    <a:pt x="4272272" y="315424"/>
                    <a:pt x="4181296" y="406400"/>
                    <a:pt x="4069072" y="406400"/>
                  </a:cubicBezTo>
                  <a:lnTo>
                    <a:pt x="203200" y="406400"/>
                  </a:lnTo>
                  <a:cubicBezTo>
                    <a:pt x="90976" y="406400"/>
                    <a:pt x="0" y="315424"/>
                    <a:pt x="0" y="203200"/>
                  </a:cubicBezTo>
                  <a:cubicBezTo>
                    <a:pt x="0" y="90976"/>
                    <a:pt x="90976" y="0"/>
                    <a:pt x="203200" y="0"/>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20" name="TextBox 20"/>
            <p:cNvSpPr txBox="1"/>
            <p:nvPr/>
          </p:nvSpPr>
          <p:spPr>
            <a:xfrm>
              <a:off x="0" y="-57150"/>
              <a:ext cx="4272272" cy="463550"/>
            </a:xfrm>
            <a:prstGeom prst="rect">
              <a:avLst/>
            </a:prstGeom>
          </p:spPr>
          <p:txBody>
            <a:bodyPr lIns="50800" tIns="50800" rIns="50800" bIns="50800" rtlCol="0" anchor="ctr"/>
            <a:lstStyle/>
            <a:p>
              <a:pPr marL="0" lvl="0" indent="0" algn="ctr">
                <a:lnSpc>
                  <a:spcPts val="3643"/>
                </a:lnSpc>
              </a:pPr>
              <a:endParaRPr/>
            </a:p>
          </p:txBody>
        </p:sp>
      </p:grpSp>
      <p:grpSp>
        <p:nvGrpSpPr>
          <p:cNvPr id="21" name="Group 21"/>
          <p:cNvGrpSpPr/>
          <p:nvPr/>
        </p:nvGrpSpPr>
        <p:grpSpPr>
          <a:xfrm>
            <a:off x="10581782" y="1336077"/>
            <a:ext cx="6111126" cy="5273085"/>
            <a:chOff x="0" y="0"/>
            <a:chExt cx="903568" cy="779658"/>
          </a:xfrm>
        </p:grpSpPr>
        <p:sp>
          <p:nvSpPr>
            <p:cNvPr id="22" name="Freeform 22"/>
            <p:cNvSpPr/>
            <p:nvPr/>
          </p:nvSpPr>
          <p:spPr>
            <a:xfrm>
              <a:off x="0" y="0"/>
              <a:ext cx="903568" cy="779658"/>
            </a:xfrm>
            <a:custGeom>
              <a:avLst/>
              <a:gdLst/>
              <a:ahLst/>
              <a:cxnLst/>
              <a:rect l="l" t="t" r="r" b="b"/>
              <a:pathLst>
                <a:path w="903568" h="779658">
                  <a:moveTo>
                    <a:pt x="44340" y="0"/>
                  </a:moveTo>
                  <a:lnTo>
                    <a:pt x="859228" y="0"/>
                  </a:lnTo>
                  <a:cubicBezTo>
                    <a:pt x="870988" y="0"/>
                    <a:pt x="882266" y="4672"/>
                    <a:pt x="890581" y="12987"/>
                  </a:cubicBezTo>
                  <a:cubicBezTo>
                    <a:pt x="898896" y="21302"/>
                    <a:pt x="903568" y="32580"/>
                    <a:pt x="903568" y="44340"/>
                  </a:cubicBezTo>
                  <a:lnTo>
                    <a:pt x="903568" y="735318"/>
                  </a:lnTo>
                  <a:cubicBezTo>
                    <a:pt x="903568" y="759807"/>
                    <a:pt x="883716" y="779658"/>
                    <a:pt x="859228" y="779658"/>
                  </a:cubicBezTo>
                  <a:lnTo>
                    <a:pt x="44340" y="779658"/>
                  </a:lnTo>
                  <a:cubicBezTo>
                    <a:pt x="19852" y="779658"/>
                    <a:pt x="0" y="759807"/>
                    <a:pt x="0" y="735318"/>
                  </a:cubicBezTo>
                  <a:lnTo>
                    <a:pt x="0" y="44340"/>
                  </a:lnTo>
                  <a:cubicBezTo>
                    <a:pt x="0" y="19852"/>
                    <a:pt x="19852" y="0"/>
                    <a:pt x="44340" y="0"/>
                  </a:cubicBezTo>
                  <a:close/>
                </a:path>
              </a:pathLst>
            </a:custGeom>
            <a:blipFill>
              <a:blip r:embed="rId7"/>
              <a:stretch>
                <a:fillRect l="-3345" r="-3345"/>
              </a:stretch>
            </a:blipFill>
          </p:spPr>
          <p:txBody>
            <a:bodyPr/>
            <a:lstStyle/>
            <a:p>
              <a:endParaRPr lang="en-US"/>
            </a:p>
          </p:txBody>
        </p:sp>
      </p:grpSp>
      <p:sp>
        <p:nvSpPr>
          <p:cNvPr id="23" name="TextBox 23"/>
          <p:cNvSpPr txBox="1"/>
          <p:nvPr/>
        </p:nvSpPr>
        <p:spPr>
          <a:xfrm>
            <a:off x="1886535" y="7581360"/>
            <a:ext cx="6870058" cy="462155"/>
          </a:xfrm>
          <a:prstGeom prst="rect">
            <a:avLst/>
          </a:prstGeom>
        </p:spPr>
        <p:txBody>
          <a:bodyPr lIns="0" tIns="0" rIns="0" bIns="0" rtlCol="0" anchor="t">
            <a:spAutoFit/>
          </a:bodyPr>
          <a:lstStyle/>
          <a:p>
            <a:pPr marL="0" lvl="0" indent="0" algn="ctr">
              <a:lnSpc>
                <a:spcPts val="3770"/>
              </a:lnSpc>
              <a:spcBef>
                <a:spcPct val="0"/>
              </a:spcBef>
            </a:pPr>
            <a:r>
              <a:rPr lang="en-US" sz="2692" dirty="0">
                <a:solidFill>
                  <a:srgbClr val="FFFFFF"/>
                </a:solidFill>
                <a:latin typeface="Canva Sans"/>
                <a:ea typeface="Canva Sans"/>
                <a:cs typeface="Canva Sans"/>
                <a:sym typeface="Canva Sans"/>
              </a:rPr>
              <a:t>VPN credentials shared across teams</a:t>
            </a:r>
          </a:p>
        </p:txBody>
      </p:sp>
      <p:sp>
        <p:nvSpPr>
          <p:cNvPr id="24" name="TextBox 24"/>
          <p:cNvSpPr txBox="1"/>
          <p:nvPr/>
        </p:nvSpPr>
        <p:spPr>
          <a:xfrm>
            <a:off x="9531407" y="7581360"/>
            <a:ext cx="6870058" cy="462155"/>
          </a:xfrm>
          <a:prstGeom prst="rect">
            <a:avLst/>
          </a:prstGeom>
        </p:spPr>
        <p:txBody>
          <a:bodyPr lIns="0" tIns="0" rIns="0" bIns="0" rtlCol="0" anchor="t">
            <a:spAutoFit/>
          </a:bodyPr>
          <a:lstStyle/>
          <a:p>
            <a:pPr marL="0" lvl="0" indent="0" algn="ctr">
              <a:lnSpc>
                <a:spcPts val="3770"/>
              </a:lnSpc>
              <a:spcBef>
                <a:spcPct val="0"/>
              </a:spcBef>
            </a:pPr>
            <a:r>
              <a:rPr lang="en-US" sz="2692">
                <a:solidFill>
                  <a:srgbClr val="FFFFFF"/>
                </a:solidFill>
                <a:latin typeface="Canva Sans"/>
                <a:ea typeface="Canva Sans"/>
                <a:cs typeface="Canva Sans"/>
                <a:sym typeface="Canva Sans"/>
              </a:rPr>
              <a:t>Unmonitored remote desktop sessions</a:t>
            </a:r>
          </a:p>
        </p:txBody>
      </p:sp>
      <p:sp>
        <p:nvSpPr>
          <p:cNvPr id="25" name="TextBox 25"/>
          <p:cNvSpPr txBox="1"/>
          <p:nvPr/>
        </p:nvSpPr>
        <p:spPr>
          <a:xfrm>
            <a:off x="1886535" y="8451114"/>
            <a:ext cx="6870058" cy="462155"/>
          </a:xfrm>
          <a:prstGeom prst="rect">
            <a:avLst/>
          </a:prstGeom>
        </p:spPr>
        <p:txBody>
          <a:bodyPr lIns="0" tIns="0" rIns="0" bIns="0" rtlCol="0" anchor="t">
            <a:spAutoFit/>
          </a:bodyPr>
          <a:lstStyle/>
          <a:p>
            <a:pPr marL="0" lvl="0" indent="0" algn="ctr">
              <a:lnSpc>
                <a:spcPts val="3770"/>
              </a:lnSpc>
              <a:spcBef>
                <a:spcPct val="0"/>
              </a:spcBef>
            </a:pPr>
            <a:r>
              <a:rPr lang="en-US" sz="2692" dirty="0">
                <a:solidFill>
                  <a:srgbClr val="FFFFFF"/>
                </a:solidFill>
                <a:latin typeface="Canva Sans"/>
                <a:ea typeface="Canva Sans"/>
                <a:cs typeface="Canva Sans"/>
                <a:sym typeface="Canva Sans"/>
              </a:rPr>
              <a:t>Third-party software update channels</a:t>
            </a:r>
          </a:p>
        </p:txBody>
      </p:sp>
      <p:sp>
        <p:nvSpPr>
          <p:cNvPr id="26" name="TextBox 26"/>
          <p:cNvSpPr txBox="1"/>
          <p:nvPr/>
        </p:nvSpPr>
        <p:spPr>
          <a:xfrm>
            <a:off x="9531407" y="8451114"/>
            <a:ext cx="6870058" cy="462155"/>
          </a:xfrm>
          <a:prstGeom prst="rect">
            <a:avLst/>
          </a:prstGeom>
        </p:spPr>
        <p:txBody>
          <a:bodyPr lIns="0" tIns="0" rIns="0" bIns="0" rtlCol="0" anchor="t">
            <a:spAutoFit/>
          </a:bodyPr>
          <a:lstStyle/>
          <a:p>
            <a:pPr marL="0" lvl="0" indent="0" algn="ctr">
              <a:lnSpc>
                <a:spcPts val="3770"/>
              </a:lnSpc>
              <a:spcBef>
                <a:spcPct val="0"/>
              </a:spcBef>
            </a:pPr>
            <a:r>
              <a:rPr lang="en-US" sz="2692">
                <a:solidFill>
                  <a:srgbClr val="FFFFFF"/>
                </a:solidFill>
                <a:latin typeface="Canva Sans"/>
                <a:ea typeface="Canva Sans"/>
                <a:cs typeface="Canva Sans"/>
                <a:sym typeface="Canva Sans"/>
              </a:rPr>
              <a:t>Legacy support access never revoked</a:t>
            </a:r>
          </a:p>
        </p:txBody>
      </p:sp>
      <p:sp>
        <p:nvSpPr>
          <p:cNvPr id="27" name="TextBox 27"/>
          <p:cNvSpPr txBox="1"/>
          <p:nvPr/>
        </p:nvSpPr>
        <p:spPr>
          <a:xfrm>
            <a:off x="1028700" y="4729921"/>
            <a:ext cx="8223465" cy="1542795"/>
          </a:xfrm>
          <a:prstGeom prst="rect">
            <a:avLst/>
          </a:prstGeom>
        </p:spPr>
        <p:txBody>
          <a:bodyPr lIns="0" tIns="0" rIns="0" bIns="0" rtlCol="0" anchor="t">
            <a:spAutoFit/>
          </a:bodyPr>
          <a:lstStyle/>
          <a:p>
            <a:pPr lvl="0">
              <a:lnSpc>
                <a:spcPts val="2435"/>
              </a:lnSpc>
              <a:spcBef>
                <a:spcPct val="0"/>
              </a:spcBef>
            </a:pPr>
            <a:r>
              <a:rPr lang="en-US" sz="2400" dirty="0">
                <a:solidFill>
                  <a:schemeClr val="bg1"/>
                </a:solidFill>
              </a:rPr>
              <a:t>Real-world precedents: SolarWinds, Kaseya, </a:t>
            </a:r>
            <a:r>
              <a:rPr lang="en-US" sz="2400" dirty="0" err="1">
                <a:solidFill>
                  <a:schemeClr val="bg1"/>
                </a:solidFill>
              </a:rPr>
              <a:t>MOVEit</a:t>
            </a:r>
            <a:r>
              <a:rPr lang="en-US" sz="2400" dirty="0">
                <a:solidFill>
                  <a:schemeClr val="bg1"/>
                </a:solidFill>
              </a:rPr>
              <a:t>, Colonial Pipeline. NERC CIP-013.</a:t>
            </a:r>
            <a:br>
              <a:rPr lang="en-US" sz="2400" dirty="0">
                <a:solidFill>
                  <a:schemeClr val="bg1"/>
                </a:solidFill>
              </a:rPr>
            </a:br>
            <a:r>
              <a:rPr lang="en-US" sz="2400" i="1" dirty="0">
                <a:solidFill>
                  <a:schemeClr val="bg1"/>
                </a:solidFill>
              </a:rPr>
              <a:t>Supply Chain Risk Management requires Royal Duke to assess and monitor cyber risks from third-party vendors across all High and Medium Impact Cyber Systems.</a:t>
            </a:r>
            <a:endParaRPr lang="en-US" sz="2400" dirty="0">
              <a:solidFill>
                <a:schemeClr val="bg1"/>
              </a:solidFill>
              <a:latin typeface="Canva Sans"/>
              <a:ea typeface="Canva Sans"/>
              <a:cs typeface="Canva Sans"/>
              <a:sym typeface="Canva Sans"/>
            </a:endParaRPr>
          </a:p>
        </p:txBody>
      </p:sp>
      <p:grpSp>
        <p:nvGrpSpPr>
          <p:cNvPr id="32" name="Group 31">
            <a:extLst>
              <a:ext uri="{FF2B5EF4-FFF2-40B4-BE49-F238E27FC236}">
                <a16:creationId xmlns:a16="http://schemas.microsoft.com/office/drawing/2014/main" id="{242A33FF-9C9C-5AC7-A518-94CCB2BB3316}"/>
              </a:ext>
            </a:extLst>
          </p:cNvPr>
          <p:cNvGrpSpPr/>
          <p:nvPr/>
        </p:nvGrpSpPr>
        <p:grpSpPr>
          <a:xfrm>
            <a:off x="16973621" y="8970630"/>
            <a:ext cx="1104900" cy="1109382"/>
            <a:chOff x="8458200" y="1333500"/>
            <a:chExt cx="1104900" cy="1109382"/>
          </a:xfrm>
        </p:grpSpPr>
        <p:sp>
          <p:nvSpPr>
            <p:cNvPr id="33" name="Rectangle 32">
              <a:extLst>
                <a:ext uri="{FF2B5EF4-FFF2-40B4-BE49-F238E27FC236}">
                  <a16:creationId xmlns:a16="http://schemas.microsoft.com/office/drawing/2014/main" id="{57D63FBE-22C0-C48F-C885-61E686F6102C}"/>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7707B2D-2012-87D1-666E-1123A88EFF29}"/>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BAE358C-BC4C-F992-F5C0-05F8E80AE85B}"/>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BCEF53D-73C2-58EF-FE41-29B7913B2E20}"/>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13">
            <a:extLst>
              <a:ext uri="{FF2B5EF4-FFF2-40B4-BE49-F238E27FC236}">
                <a16:creationId xmlns:a16="http://schemas.microsoft.com/office/drawing/2014/main" id="{ECA5D16F-387A-691E-179C-41658794D150}"/>
              </a:ext>
            </a:extLst>
          </p:cNvPr>
          <p:cNvSpPr/>
          <p:nvPr/>
        </p:nvSpPr>
        <p:spPr>
          <a:xfrm>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8"/>
                </a:ext>
              </a:extLst>
            </a:blip>
            <a:stretch>
              <a:fillRect t="-127730" r="-182074"/>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0" y="0"/>
            <a:ext cx="18288000" cy="10287000"/>
          </a:xfrm>
          <a:prstGeom prst="rect">
            <a:avLst/>
          </a:prstGeom>
        </p:spPr>
      </p:pic>
      <p:sp>
        <p:nvSpPr>
          <p:cNvPr id="39" name="Rectangle 38">
            <a:extLst>
              <a:ext uri="{FF2B5EF4-FFF2-40B4-BE49-F238E27FC236}">
                <a16:creationId xmlns:a16="http://schemas.microsoft.com/office/drawing/2014/main" id="{E6618386-AE5D-411B-A322-CA03A6F1D3B0}"/>
              </a:ext>
            </a:extLst>
          </p:cNvPr>
          <p:cNvSpPr/>
          <p:nvPr/>
        </p:nvSpPr>
        <p:spPr>
          <a:xfrm>
            <a:off x="0" y="0"/>
            <a:ext cx="18309807" cy="10287000"/>
          </a:xfrm>
          <a:prstGeom prst="rect">
            <a:avLst/>
          </a:prstGeom>
          <a:gradFill flip="none" rotWithShape="1">
            <a:gsLst>
              <a:gs pos="0">
                <a:srgbClr val="001136">
                  <a:alpha val="100000"/>
                </a:srgbClr>
              </a:gs>
              <a:gs pos="24000">
                <a:srgbClr val="001136">
                  <a:alpha val="100000"/>
                </a:srgbClr>
              </a:gs>
              <a:gs pos="100000">
                <a:srgbClr val="001136">
                  <a:alpha val="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1"/>
          <p:cNvGrpSpPr/>
          <p:nvPr/>
        </p:nvGrpSpPr>
        <p:grpSpPr>
          <a:xfrm>
            <a:off x="8817063" y="3591533"/>
            <a:ext cx="9143996" cy="5329650"/>
            <a:chOff x="-11739" y="-31162"/>
            <a:chExt cx="1416645" cy="820397"/>
          </a:xfrm>
        </p:grpSpPr>
        <p:sp>
          <p:nvSpPr>
            <p:cNvPr id="22" name="Freeform 22"/>
            <p:cNvSpPr/>
            <p:nvPr/>
          </p:nvSpPr>
          <p:spPr>
            <a:xfrm>
              <a:off x="-11739" y="-31162"/>
              <a:ext cx="1416645" cy="820397"/>
            </a:xfrm>
            <a:custGeom>
              <a:avLst/>
              <a:gdLst/>
              <a:ahLst/>
              <a:cxnLst/>
              <a:rect l="l" t="t" r="r" b="b"/>
              <a:pathLst>
                <a:path w="1416645" h="820397">
                  <a:moveTo>
                    <a:pt x="34745" y="0"/>
                  </a:moveTo>
                  <a:lnTo>
                    <a:pt x="1381900" y="0"/>
                  </a:lnTo>
                  <a:cubicBezTo>
                    <a:pt x="1401089" y="0"/>
                    <a:pt x="1416645" y="15556"/>
                    <a:pt x="1416645" y="34745"/>
                  </a:cubicBezTo>
                  <a:lnTo>
                    <a:pt x="1416645" y="785652"/>
                  </a:lnTo>
                  <a:cubicBezTo>
                    <a:pt x="1416645" y="794867"/>
                    <a:pt x="1412984" y="803705"/>
                    <a:pt x="1406468" y="810221"/>
                  </a:cubicBezTo>
                  <a:cubicBezTo>
                    <a:pt x="1399952" y="816737"/>
                    <a:pt x="1391115" y="820397"/>
                    <a:pt x="1381900" y="820397"/>
                  </a:cubicBezTo>
                  <a:lnTo>
                    <a:pt x="34745" y="820397"/>
                  </a:lnTo>
                  <a:cubicBezTo>
                    <a:pt x="15556" y="820397"/>
                    <a:pt x="0" y="804841"/>
                    <a:pt x="0" y="785652"/>
                  </a:cubicBezTo>
                  <a:lnTo>
                    <a:pt x="0" y="34745"/>
                  </a:lnTo>
                  <a:cubicBezTo>
                    <a:pt x="0" y="15556"/>
                    <a:pt x="15556" y="0"/>
                    <a:pt x="34745" y="0"/>
                  </a:cubicBezTo>
                  <a:close/>
                </a:path>
              </a:pathLst>
            </a:custGeom>
            <a:blipFill>
              <a:blip r:embed="rId6"/>
              <a:stretch>
                <a:fillRect l="-799" r="-799"/>
              </a:stretch>
            </a:blipFill>
          </p:spPr>
          <p:txBody>
            <a:bodyPr/>
            <a:lstStyle/>
            <a:p>
              <a:endParaRPr lang="en-US" dirty="0"/>
            </a:p>
          </p:txBody>
        </p:sp>
      </p:grpSp>
      <p:sp>
        <p:nvSpPr>
          <p:cNvPr id="23" name="Freeform 23"/>
          <p:cNvSpPr/>
          <p:nvPr/>
        </p:nvSpPr>
        <p:spPr>
          <a:xfrm flipH="1" flipV="1">
            <a:off x="11115195" y="0"/>
            <a:ext cx="7172805" cy="3143706"/>
          </a:xfrm>
          <a:custGeom>
            <a:avLst/>
            <a:gdLst/>
            <a:ahLst/>
            <a:cxnLst/>
            <a:rect l="l" t="t" r="r" b="b"/>
            <a:pathLst>
              <a:path w="13527672" h="12293272">
                <a:moveTo>
                  <a:pt x="13527672" y="12293272"/>
                </a:moveTo>
                <a:lnTo>
                  <a:pt x="0" y="12293272"/>
                </a:lnTo>
                <a:lnTo>
                  <a:pt x="0" y="0"/>
                </a:lnTo>
                <a:lnTo>
                  <a:pt x="13527672" y="0"/>
                </a:lnTo>
                <a:lnTo>
                  <a:pt x="13527672" y="12293272"/>
                </a:lnTo>
                <a:close/>
              </a:path>
            </a:pathLst>
          </a:custGeom>
          <a:blipFill>
            <a:blip>
              <a:extLst>
                <a:ext uri="{96DAC541-7B7A-43D3-8B79-37D633B846F1}">
                  <asvg:svgBlip xmlns:asvg="http://schemas.microsoft.com/office/drawing/2016/SVG/main" r:embed="rId7"/>
                </a:ext>
              </a:extLst>
            </a:blip>
            <a:stretch>
              <a:fillRect l="-10507" t="12792" r="7459" b="-138565"/>
            </a:stretch>
          </a:blipFill>
        </p:spPr>
        <p:txBody>
          <a:bodyPr/>
          <a:lstStyle/>
          <a:p>
            <a:endParaRPr lang="en-US" dirty="0"/>
          </a:p>
        </p:txBody>
      </p:sp>
      <p:sp>
        <p:nvSpPr>
          <p:cNvPr id="24" name="Freeform 24"/>
          <p:cNvSpPr/>
          <p:nvPr/>
        </p:nvSpPr>
        <p:spPr>
          <a:xfrm>
            <a:off x="8792997" y="9130260"/>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8"/>
                </a:ext>
              </a:extLst>
            </a:blip>
            <a:stretch>
              <a:fillRect t="-127730" r="-182074"/>
            </a:stretch>
          </a:blipFill>
        </p:spPr>
        <p:txBody>
          <a:bodyPr/>
          <a:lstStyle/>
          <a:p>
            <a:endParaRPr lang="en-US"/>
          </a:p>
        </p:txBody>
      </p:sp>
      <p:grpSp>
        <p:nvGrpSpPr>
          <p:cNvPr id="42" name="Group 41">
            <a:extLst>
              <a:ext uri="{FF2B5EF4-FFF2-40B4-BE49-F238E27FC236}">
                <a16:creationId xmlns:a16="http://schemas.microsoft.com/office/drawing/2014/main" id="{2C966F05-E694-71E5-7F62-1001B2DA9CA0}"/>
              </a:ext>
            </a:extLst>
          </p:cNvPr>
          <p:cNvGrpSpPr/>
          <p:nvPr/>
        </p:nvGrpSpPr>
        <p:grpSpPr>
          <a:xfrm>
            <a:off x="1028700" y="1296300"/>
            <a:ext cx="1050380" cy="7350095"/>
            <a:chOff x="1028700" y="1296300"/>
            <a:chExt cx="1050380" cy="7350095"/>
          </a:xfrm>
        </p:grpSpPr>
        <p:grpSp>
          <p:nvGrpSpPr>
            <p:cNvPr id="41" name="Group 40">
              <a:extLst>
                <a:ext uri="{FF2B5EF4-FFF2-40B4-BE49-F238E27FC236}">
                  <a16:creationId xmlns:a16="http://schemas.microsoft.com/office/drawing/2014/main" id="{9B2A29D9-AE48-F57A-196E-C89C09685C96}"/>
                </a:ext>
              </a:extLst>
            </p:cNvPr>
            <p:cNvGrpSpPr/>
            <p:nvPr/>
          </p:nvGrpSpPr>
          <p:grpSpPr>
            <a:xfrm>
              <a:off x="1028700" y="1296300"/>
              <a:ext cx="1050380" cy="7350095"/>
              <a:chOff x="1028700" y="1296300"/>
              <a:chExt cx="1050380" cy="7350095"/>
            </a:xfrm>
          </p:grpSpPr>
          <p:grpSp>
            <p:nvGrpSpPr>
              <p:cNvPr id="9" name="Group 9"/>
              <p:cNvGrpSpPr/>
              <p:nvPr/>
            </p:nvGrpSpPr>
            <p:grpSpPr>
              <a:xfrm>
                <a:off x="1028700" y="1296300"/>
                <a:ext cx="1050380" cy="1050376"/>
                <a:chOff x="0" y="0"/>
                <a:chExt cx="299974" cy="299847"/>
              </a:xfrm>
            </p:grpSpPr>
            <p:sp>
              <p:nvSpPr>
                <p:cNvPr id="10" name="Freeform 10"/>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1" name="TextBox 11"/>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15" name="Group 15"/>
              <p:cNvGrpSpPr/>
              <p:nvPr/>
            </p:nvGrpSpPr>
            <p:grpSpPr>
              <a:xfrm>
                <a:off x="1028700" y="5496488"/>
                <a:ext cx="1050380" cy="1050376"/>
                <a:chOff x="0" y="0"/>
                <a:chExt cx="299974" cy="299847"/>
              </a:xfrm>
            </p:grpSpPr>
            <p:sp>
              <p:nvSpPr>
                <p:cNvPr id="16" name="Freeform 16"/>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7" name="TextBox 17"/>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18" name="Group 18"/>
              <p:cNvGrpSpPr/>
              <p:nvPr/>
            </p:nvGrpSpPr>
            <p:grpSpPr>
              <a:xfrm>
                <a:off x="1028700" y="7596019"/>
                <a:ext cx="1050380" cy="1050376"/>
                <a:chOff x="0" y="0"/>
                <a:chExt cx="299974" cy="299847"/>
              </a:xfrm>
            </p:grpSpPr>
            <p:sp>
              <p:nvSpPr>
                <p:cNvPr id="19" name="Freeform 19"/>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20" name="TextBox 20"/>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40" name="Group 39">
                <a:extLst>
                  <a:ext uri="{FF2B5EF4-FFF2-40B4-BE49-F238E27FC236}">
                    <a16:creationId xmlns:a16="http://schemas.microsoft.com/office/drawing/2014/main" id="{3A7A5769-3334-697B-CD45-C02A92FB3DB9}"/>
                  </a:ext>
                </a:extLst>
              </p:cNvPr>
              <p:cNvGrpSpPr/>
              <p:nvPr/>
            </p:nvGrpSpPr>
            <p:grpSpPr>
              <a:xfrm>
                <a:off x="1028700" y="3396958"/>
                <a:ext cx="1050380" cy="1050376"/>
                <a:chOff x="1028700" y="3396958"/>
                <a:chExt cx="1050380" cy="1050376"/>
              </a:xfrm>
            </p:grpSpPr>
            <p:grpSp>
              <p:nvGrpSpPr>
                <p:cNvPr id="12" name="Group 12"/>
                <p:cNvGrpSpPr/>
                <p:nvPr/>
              </p:nvGrpSpPr>
              <p:grpSpPr>
                <a:xfrm>
                  <a:off x="1028700" y="3396958"/>
                  <a:ext cx="1050380" cy="1050376"/>
                  <a:chOff x="0" y="0"/>
                  <a:chExt cx="299974" cy="299847"/>
                </a:xfrm>
              </p:grpSpPr>
              <p:sp>
                <p:nvSpPr>
                  <p:cNvPr id="13" name="Freeform 13"/>
                  <p:cNvSpPr/>
                  <p:nvPr/>
                </p:nvSpPr>
                <p:spPr>
                  <a:xfrm>
                    <a:off x="0" y="0"/>
                    <a:ext cx="299974" cy="299847"/>
                  </a:xfrm>
                  <a:custGeom>
                    <a:avLst/>
                    <a:gdLst/>
                    <a:ahLst/>
                    <a:cxnLst/>
                    <a:rect l="l" t="t" r="r" b="b"/>
                    <a:pathLst>
                      <a:path w="299974" h="299847">
                        <a:moveTo>
                          <a:pt x="299974" y="110559"/>
                        </a:moveTo>
                        <a:lnTo>
                          <a:pt x="299974" y="189288"/>
                        </a:lnTo>
                        <a:cubicBezTo>
                          <a:pt x="299974" y="250348"/>
                          <a:pt x="250475" y="299847"/>
                          <a:pt x="189415" y="299847"/>
                        </a:cubicBezTo>
                        <a:lnTo>
                          <a:pt x="110559" y="299847"/>
                        </a:lnTo>
                        <a:cubicBezTo>
                          <a:pt x="49499" y="299847"/>
                          <a:pt x="0" y="250348"/>
                          <a:pt x="0" y="189288"/>
                        </a:cubicBezTo>
                        <a:lnTo>
                          <a:pt x="0" y="110559"/>
                        </a:lnTo>
                        <a:cubicBezTo>
                          <a:pt x="0" y="49499"/>
                          <a:pt x="49499" y="0"/>
                          <a:pt x="110559" y="0"/>
                        </a:cubicBezTo>
                        <a:lnTo>
                          <a:pt x="189415" y="0"/>
                        </a:lnTo>
                        <a:cubicBezTo>
                          <a:pt x="250475" y="0"/>
                          <a:pt x="299974" y="49499"/>
                          <a:pt x="299974" y="110559"/>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4" name="TextBox 14"/>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sp>
              <p:nvSpPr>
                <p:cNvPr id="26" name="Freeform 26"/>
                <p:cNvSpPr/>
                <p:nvPr/>
              </p:nvSpPr>
              <p:spPr>
                <a:xfrm>
                  <a:off x="1322542" y="3690797"/>
                  <a:ext cx="462697" cy="462697"/>
                </a:xfrm>
                <a:custGeom>
                  <a:avLst/>
                  <a:gdLst/>
                  <a:ahLst/>
                  <a:cxnLst/>
                  <a:rect l="l" t="t" r="r" b="b"/>
                  <a:pathLst>
                    <a:path w="462697" h="462697">
                      <a:moveTo>
                        <a:pt x="0" y="0"/>
                      </a:moveTo>
                      <a:lnTo>
                        <a:pt x="462697" y="0"/>
                      </a:lnTo>
                      <a:lnTo>
                        <a:pt x="462697" y="462697"/>
                      </a:lnTo>
                      <a:lnTo>
                        <a:pt x="0" y="46269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grpSp>
        <p:sp>
          <p:nvSpPr>
            <p:cNvPr id="25" name="Freeform 25"/>
            <p:cNvSpPr/>
            <p:nvPr/>
          </p:nvSpPr>
          <p:spPr>
            <a:xfrm>
              <a:off x="1322542" y="1590140"/>
              <a:ext cx="462697" cy="462697"/>
            </a:xfrm>
            <a:custGeom>
              <a:avLst/>
              <a:gdLst/>
              <a:ahLst/>
              <a:cxnLst/>
              <a:rect l="l" t="t" r="r" b="b"/>
              <a:pathLst>
                <a:path w="462697" h="462697">
                  <a:moveTo>
                    <a:pt x="0" y="0"/>
                  </a:moveTo>
                  <a:lnTo>
                    <a:pt x="462697" y="0"/>
                  </a:lnTo>
                  <a:lnTo>
                    <a:pt x="462697" y="462697"/>
                  </a:lnTo>
                  <a:lnTo>
                    <a:pt x="0" y="46269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sp>
        <p:nvSpPr>
          <p:cNvPr id="27" name="Freeform 27"/>
          <p:cNvSpPr/>
          <p:nvPr/>
        </p:nvSpPr>
        <p:spPr>
          <a:xfrm>
            <a:off x="1322542" y="5791454"/>
            <a:ext cx="462697" cy="462697"/>
          </a:xfrm>
          <a:custGeom>
            <a:avLst/>
            <a:gdLst/>
            <a:ahLst/>
            <a:cxnLst/>
            <a:rect l="l" t="t" r="r" b="b"/>
            <a:pathLst>
              <a:path w="462697" h="462697">
                <a:moveTo>
                  <a:pt x="0" y="0"/>
                </a:moveTo>
                <a:lnTo>
                  <a:pt x="462697" y="0"/>
                </a:lnTo>
                <a:lnTo>
                  <a:pt x="462697" y="462698"/>
                </a:lnTo>
                <a:lnTo>
                  <a:pt x="0" y="46269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8" name="Freeform 28"/>
          <p:cNvSpPr/>
          <p:nvPr/>
        </p:nvSpPr>
        <p:spPr>
          <a:xfrm>
            <a:off x="1322542" y="7892112"/>
            <a:ext cx="462697" cy="462697"/>
          </a:xfrm>
          <a:custGeom>
            <a:avLst/>
            <a:gdLst/>
            <a:ahLst/>
            <a:cxnLst/>
            <a:rect l="l" t="t" r="r" b="b"/>
            <a:pathLst>
              <a:path w="462697" h="462697">
                <a:moveTo>
                  <a:pt x="0" y="0"/>
                </a:moveTo>
                <a:lnTo>
                  <a:pt x="462697" y="0"/>
                </a:lnTo>
                <a:lnTo>
                  <a:pt x="462697" y="462697"/>
                </a:lnTo>
                <a:lnTo>
                  <a:pt x="0" y="46269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TextBox 29"/>
          <p:cNvSpPr txBox="1"/>
          <p:nvPr/>
        </p:nvSpPr>
        <p:spPr>
          <a:xfrm>
            <a:off x="9079112" y="1720464"/>
            <a:ext cx="8619898" cy="1661993"/>
          </a:xfrm>
          <a:prstGeom prst="rect">
            <a:avLst/>
          </a:prstGeom>
        </p:spPr>
        <p:txBody>
          <a:bodyPr wrap="square" lIns="0" tIns="0" rIns="0" bIns="0" rtlCol="0" anchor="t">
            <a:spAutoFit/>
          </a:bodyPr>
          <a:lstStyle/>
          <a:p>
            <a:pPr marL="0" lvl="0" indent="0" algn="l">
              <a:spcBef>
                <a:spcPct val="0"/>
              </a:spcBef>
            </a:pPr>
            <a:r>
              <a:rPr lang="en-US" sz="5400" b="1" dirty="0">
                <a:solidFill>
                  <a:srgbClr val="FFFFFF"/>
                </a:solidFill>
                <a:latin typeface="Pattanakarn SemiCondensed Medium"/>
                <a:ea typeface="Pattanakarn SemiCondensed Medium"/>
                <a:cs typeface="Pattanakarn SemiCondensed Medium"/>
                <a:sym typeface="Pattanakarn SemiCondensed Medium"/>
              </a:rPr>
              <a:t>Someone Just Covered Your Windshield  </a:t>
            </a:r>
          </a:p>
        </p:txBody>
      </p:sp>
      <p:sp>
        <p:nvSpPr>
          <p:cNvPr id="31" name="TextBox 31"/>
          <p:cNvSpPr txBox="1"/>
          <p:nvPr/>
        </p:nvSpPr>
        <p:spPr>
          <a:xfrm>
            <a:off x="2422938" y="1874438"/>
            <a:ext cx="5213918" cy="574966"/>
          </a:xfrm>
          <a:prstGeom prst="rect">
            <a:avLst/>
          </a:prstGeom>
        </p:spPr>
        <p:txBody>
          <a:bodyPr lIns="0" tIns="0" rIns="0" bIns="0" rtlCol="0" anchor="t">
            <a:spAutoFit/>
          </a:bodyPr>
          <a:lstStyle/>
          <a:p>
            <a:pPr lvl="0">
              <a:lnSpc>
                <a:spcPts val="2230"/>
              </a:lnSpc>
              <a:spcBef>
                <a:spcPct val="0"/>
              </a:spcBef>
            </a:pPr>
            <a:r>
              <a:rPr lang="en-US" sz="2400" dirty="0">
                <a:solidFill>
                  <a:schemeClr val="bg1"/>
                </a:solidFill>
              </a:rPr>
              <a:t>HMI shows normal while systems diverge catastrophically</a:t>
            </a:r>
            <a:r>
              <a:rPr lang="en-US" sz="1600" dirty="0"/>
              <a:t>.</a:t>
            </a:r>
            <a:endParaRPr lang="en-US" sz="1593" dirty="0">
              <a:solidFill>
                <a:srgbClr val="FFFFFF"/>
              </a:solidFill>
              <a:latin typeface="Canva Sans"/>
              <a:ea typeface="Canva Sans"/>
              <a:cs typeface="Canva Sans"/>
              <a:sym typeface="Canva Sans"/>
            </a:endParaRPr>
          </a:p>
        </p:txBody>
      </p:sp>
      <p:sp>
        <p:nvSpPr>
          <p:cNvPr id="32" name="TextBox 32"/>
          <p:cNvSpPr txBox="1"/>
          <p:nvPr/>
        </p:nvSpPr>
        <p:spPr>
          <a:xfrm>
            <a:off x="2422938" y="3975095"/>
            <a:ext cx="5213918" cy="574581"/>
          </a:xfrm>
          <a:prstGeom prst="rect">
            <a:avLst/>
          </a:prstGeom>
        </p:spPr>
        <p:txBody>
          <a:bodyPr lIns="0" tIns="0" rIns="0" bIns="0" rtlCol="0" anchor="t">
            <a:spAutoFit/>
          </a:bodyPr>
          <a:lstStyle/>
          <a:p>
            <a:pPr lvl="0">
              <a:lnSpc>
                <a:spcPts val="2230"/>
              </a:lnSpc>
              <a:spcBef>
                <a:spcPct val="0"/>
              </a:spcBef>
            </a:pPr>
            <a:r>
              <a:rPr lang="en-US" sz="2400" dirty="0">
                <a:solidFill>
                  <a:schemeClr val="bg1"/>
                </a:solidFill>
              </a:rPr>
              <a:t>Forensic trails erased, lateral movement hidden.</a:t>
            </a:r>
            <a:endParaRPr lang="en-US" sz="2400" dirty="0">
              <a:solidFill>
                <a:schemeClr val="bg1"/>
              </a:solidFill>
              <a:latin typeface="Canva Sans"/>
              <a:ea typeface="Canva Sans"/>
              <a:cs typeface="Canva Sans"/>
              <a:sym typeface="Canva Sans"/>
            </a:endParaRPr>
          </a:p>
        </p:txBody>
      </p:sp>
      <p:sp>
        <p:nvSpPr>
          <p:cNvPr id="33" name="TextBox 33"/>
          <p:cNvSpPr txBox="1"/>
          <p:nvPr/>
        </p:nvSpPr>
        <p:spPr>
          <a:xfrm>
            <a:off x="2422938" y="1239150"/>
            <a:ext cx="4600916" cy="4813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SCADA Blindness</a:t>
            </a:r>
          </a:p>
        </p:txBody>
      </p:sp>
      <p:sp>
        <p:nvSpPr>
          <p:cNvPr id="34" name="TextBox 34"/>
          <p:cNvSpPr txBox="1"/>
          <p:nvPr/>
        </p:nvSpPr>
        <p:spPr>
          <a:xfrm>
            <a:off x="2422938" y="3339808"/>
            <a:ext cx="4600916" cy="4813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Log Tampering</a:t>
            </a:r>
          </a:p>
        </p:txBody>
      </p:sp>
      <p:sp>
        <p:nvSpPr>
          <p:cNvPr id="35" name="TextBox 35"/>
          <p:cNvSpPr txBox="1"/>
          <p:nvPr/>
        </p:nvSpPr>
        <p:spPr>
          <a:xfrm>
            <a:off x="2422938" y="6074626"/>
            <a:ext cx="5213918" cy="574581"/>
          </a:xfrm>
          <a:prstGeom prst="rect">
            <a:avLst/>
          </a:prstGeom>
        </p:spPr>
        <p:txBody>
          <a:bodyPr lIns="0" tIns="0" rIns="0" bIns="0" rtlCol="0" anchor="t">
            <a:spAutoFit/>
          </a:bodyPr>
          <a:lstStyle/>
          <a:p>
            <a:pPr lvl="0">
              <a:lnSpc>
                <a:spcPts val="2230"/>
              </a:lnSpc>
              <a:spcBef>
                <a:spcPct val="0"/>
              </a:spcBef>
            </a:pPr>
            <a:r>
              <a:rPr lang="en-US" sz="2400" dirty="0">
                <a:solidFill>
                  <a:schemeClr val="bg1"/>
                </a:solidFill>
              </a:rPr>
              <a:t>IDS reports all-clear while breach accelerates. </a:t>
            </a:r>
            <a:endParaRPr lang="en-US" sz="2400" dirty="0">
              <a:solidFill>
                <a:schemeClr val="bg1"/>
              </a:solidFill>
              <a:latin typeface="Canva Sans"/>
              <a:ea typeface="Canva Sans"/>
              <a:cs typeface="Canva Sans"/>
              <a:sym typeface="Canva Sans"/>
            </a:endParaRPr>
          </a:p>
        </p:txBody>
      </p:sp>
      <p:sp>
        <p:nvSpPr>
          <p:cNvPr id="36" name="TextBox 36"/>
          <p:cNvSpPr txBox="1"/>
          <p:nvPr/>
        </p:nvSpPr>
        <p:spPr>
          <a:xfrm>
            <a:off x="2422938" y="5439338"/>
            <a:ext cx="5213918" cy="4813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Alert Suppression</a:t>
            </a:r>
          </a:p>
        </p:txBody>
      </p:sp>
      <p:sp>
        <p:nvSpPr>
          <p:cNvPr id="37" name="TextBox 37"/>
          <p:cNvSpPr txBox="1"/>
          <p:nvPr/>
        </p:nvSpPr>
        <p:spPr>
          <a:xfrm>
            <a:off x="2422938" y="8174156"/>
            <a:ext cx="5213918" cy="856709"/>
          </a:xfrm>
          <a:prstGeom prst="rect">
            <a:avLst/>
          </a:prstGeom>
        </p:spPr>
        <p:txBody>
          <a:bodyPr lIns="0" tIns="0" rIns="0" bIns="0" rtlCol="0" anchor="t">
            <a:spAutoFit/>
          </a:bodyPr>
          <a:lstStyle/>
          <a:p>
            <a:pPr lvl="0">
              <a:lnSpc>
                <a:spcPts val="2230"/>
              </a:lnSpc>
              <a:spcBef>
                <a:spcPct val="0"/>
              </a:spcBef>
            </a:pPr>
            <a:r>
              <a:rPr lang="en-US" sz="2400" dirty="0">
                <a:solidFill>
                  <a:schemeClr val="bg1"/>
                </a:solidFill>
              </a:rPr>
              <a:t>Pressure, temperature, flow rates appear nominal while conditions approach failure.</a:t>
            </a:r>
            <a:endParaRPr lang="en-US" sz="2400" dirty="0">
              <a:solidFill>
                <a:schemeClr val="bg1"/>
              </a:solidFill>
              <a:latin typeface="Canva Sans"/>
              <a:ea typeface="Canva Sans"/>
              <a:cs typeface="Canva Sans"/>
              <a:sym typeface="Canva Sans"/>
            </a:endParaRPr>
          </a:p>
        </p:txBody>
      </p:sp>
      <p:sp>
        <p:nvSpPr>
          <p:cNvPr id="38" name="TextBox 38"/>
          <p:cNvSpPr txBox="1"/>
          <p:nvPr/>
        </p:nvSpPr>
        <p:spPr>
          <a:xfrm>
            <a:off x="2422938" y="7538869"/>
            <a:ext cx="4600916" cy="4813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Sensor Spoofing</a:t>
            </a:r>
          </a:p>
        </p:txBody>
      </p:sp>
      <p:grpSp>
        <p:nvGrpSpPr>
          <p:cNvPr id="43" name="Group 42">
            <a:extLst>
              <a:ext uri="{FF2B5EF4-FFF2-40B4-BE49-F238E27FC236}">
                <a16:creationId xmlns:a16="http://schemas.microsoft.com/office/drawing/2014/main" id="{F1300DA0-C9FC-AD73-97D0-74C4C8D0C478}"/>
              </a:ext>
            </a:extLst>
          </p:cNvPr>
          <p:cNvGrpSpPr/>
          <p:nvPr/>
        </p:nvGrpSpPr>
        <p:grpSpPr>
          <a:xfrm>
            <a:off x="16973621" y="8970630"/>
            <a:ext cx="1104900" cy="1109382"/>
            <a:chOff x="8458200" y="1333500"/>
            <a:chExt cx="1104900" cy="1109382"/>
          </a:xfrm>
        </p:grpSpPr>
        <p:sp>
          <p:nvSpPr>
            <p:cNvPr id="44" name="Rectangle 43">
              <a:extLst>
                <a:ext uri="{FF2B5EF4-FFF2-40B4-BE49-F238E27FC236}">
                  <a16:creationId xmlns:a16="http://schemas.microsoft.com/office/drawing/2014/main" id="{DE7F8B39-A64B-8B62-BA15-20C512B8AFE9}"/>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6E06C8A-7E63-BAAB-9819-2D65CAD8DA5E}"/>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EC6DABE-9400-CD2E-3549-542664439AC4}"/>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4B9D2603-64B7-F09D-0EBE-E2E6289B2A89}"/>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t="164" b="164"/>
          <a:stretch>
            <a:fillRect/>
          </a:stretch>
        </p:blipFill>
        <p:spPr>
          <a:xfrm>
            <a:off x="-55418" y="-1"/>
            <a:ext cx="18398834" cy="10287000"/>
          </a:xfrm>
          <a:prstGeom prst="rect">
            <a:avLst/>
          </a:prstGeom>
        </p:spPr>
      </p:pic>
      <p:sp>
        <p:nvSpPr>
          <p:cNvPr id="33" name="Rectangle 32">
            <a:extLst>
              <a:ext uri="{FF2B5EF4-FFF2-40B4-BE49-F238E27FC236}">
                <a16:creationId xmlns:a16="http://schemas.microsoft.com/office/drawing/2014/main" id="{40B285EB-CDA9-0F2C-5EBF-B34F494A19A6}"/>
              </a:ext>
            </a:extLst>
          </p:cNvPr>
          <p:cNvSpPr/>
          <p:nvPr/>
        </p:nvSpPr>
        <p:spPr>
          <a:xfrm>
            <a:off x="-59892" y="-58044"/>
            <a:ext cx="18254412" cy="10403085"/>
          </a:xfrm>
          <a:prstGeom prst="rect">
            <a:avLst/>
          </a:prstGeom>
          <a:gradFill flip="none" rotWithShape="1">
            <a:gsLst>
              <a:gs pos="0">
                <a:srgbClr val="001136">
                  <a:alpha val="100000"/>
                </a:srgbClr>
              </a:gs>
              <a:gs pos="24000">
                <a:srgbClr val="001136">
                  <a:alpha val="100000"/>
                </a:srgbClr>
              </a:gs>
              <a:gs pos="100000">
                <a:srgbClr val="001136">
                  <a:alpha val="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6"/>
          <p:cNvSpPr txBox="1"/>
          <p:nvPr/>
        </p:nvSpPr>
        <p:spPr>
          <a:xfrm>
            <a:off x="4166945" y="1785171"/>
            <a:ext cx="9954105" cy="1661993"/>
          </a:xfrm>
          <a:prstGeom prst="rect">
            <a:avLst/>
          </a:prstGeom>
        </p:spPr>
        <p:txBody>
          <a:bodyPr lIns="0" tIns="0" rIns="0" bIns="0" rtlCol="0" anchor="t">
            <a:spAutoFit/>
          </a:bodyPr>
          <a:lstStyle/>
          <a:p>
            <a:pPr marL="0" lvl="0" indent="0" algn="ctr">
              <a:spcBef>
                <a:spcPct val="0"/>
              </a:spcBef>
            </a:pPr>
            <a:r>
              <a:rPr lang="en-US" sz="5400" b="1" dirty="0">
                <a:solidFill>
                  <a:srgbClr val="FFFFFF"/>
                </a:solidFill>
                <a:latin typeface="Pattanakarn SemiCondensed Medium"/>
                <a:ea typeface="Pattanakarn SemiCondensed Medium"/>
                <a:cs typeface="Pattanakarn SemiCondensed Medium"/>
                <a:sym typeface="Pattanakarn SemiCondensed Medium"/>
              </a:rPr>
              <a:t>The Kill Chain Just Got Killed</a:t>
            </a:r>
          </a:p>
        </p:txBody>
      </p:sp>
      <p:sp>
        <p:nvSpPr>
          <p:cNvPr id="7" name="TextBox 7"/>
          <p:cNvSpPr txBox="1"/>
          <p:nvPr/>
        </p:nvSpPr>
        <p:spPr>
          <a:xfrm>
            <a:off x="11325797" y="3914448"/>
            <a:ext cx="5065277" cy="481314"/>
          </a:xfrm>
          <a:prstGeom prst="rect">
            <a:avLst/>
          </a:prstGeom>
        </p:spPr>
        <p:txBody>
          <a:bodyPr lIns="0" tIns="0" rIns="0" bIns="0" rtlCol="0" anchor="t">
            <a:spAutoFit/>
          </a:bodyPr>
          <a:lstStyle/>
          <a:p>
            <a:pPr marL="0" lvl="0" indent="0" algn="l">
              <a:lnSpc>
                <a:spcPts val="3920"/>
              </a:lnSpc>
              <a:spcBef>
                <a:spcPct val="0"/>
              </a:spcBef>
            </a:pPr>
            <a:r>
              <a:rPr lang="en-US" sz="2800" b="1">
                <a:solidFill>
                  <a:srgbClr val="FFFFFF"/>
                </a:solidFill>
                <a:latin typeface="Canva Sans Bold"/>
                <a:ea typeface="Canva Sans Bold"/>
                <a:cs typeface="Canva Sans Bold"/>
                <a:sym typeface="Canva Sans Bold"/>
              </a:rPr>
              <a:t>Implementation Failure</a:t>
            </a:r>
          </a:p>
        </p:txBody>
      </p:sp>
      <p:grpSp>
        <p:nvGrpSpPr>
          <p:cNvPr id="8" name="Group 8"/>
          <p:cNvGrpSpPr/>
          <p:nvPr/>
        </p:nvGrpSpPr>
        <p:grpSpPr>
          <a:xfrm>
            <a:off x="1896926" y="4035159"/>
            <a:ext cx="1279832" cy="1279827"/>
            <a:chOff x="0" y="0"/>
            <a:chExt cx="299974" cy="299847"/>
          </a:xfrm>
        </p:grpSpPr>
        <p:sp>
          <p:nvSpPr>
            <p:cNvPr id="9" name="Freeform 9"/>
            <p:cNvSpPr/>
            <p:nvPr/>
          </p:nvSpPr>
          <p:spPr>
            <a:xfrm>
              <a:off x="0" y="0"/>
              <a:ext cx="299974" cy="299847"/>
            </a:xfrm>
            <a:custGeom>
              <a:avLst/>
              <a:gdLst/>
              <a:ahLst/>
              <a:cxnLst/>
              <a:rect l="l" t="t" r="r" b="b"/>
              <a:pathLst>
                <a:path w="299974" h="299847">
                  <a:moveTo>
                    <a:pt x="299974" y="139131"/>
                  </a:moveTo>
                  <a:lnTo>
                    <a:pt x="299974" y="160716"/>
                  </a:lnTo>
                  <a:cubicBezTo>
                    <a:pt x="299974" y="197616"/>
                    <a:pt x="285316" y="233004"/>
                    <a:pt x="259224" y="259097"/>
                  </a:cubicBezTo>
                  <a:cubicBezTo>
                    <a:pt x="233131" y="285189"/>
                    <a:pt x="197743" y="299847"/>
                    <a:pt x="160843" y="299847"/>
                  </a:cubicBezTo>
                  <a:lnTo>
                    <a:pt x="139131" y="299847"/>
                  </a:lnTo>
                  <a:cubicBezTo>
                    <a:pt x="102231" y="299847"/>
                    <a:pt x="66843" y="285189"/>
                    <a:pt x="40750" y="259097"/>
                  </a:cubicBezTo>
                  <a:cubicBezTo>
                    <a:pt x="14658" y="233004"/>
                    <a:pt x="0" y="197616"/>
                    <a:pt x="0" y="160716"/>
                  </a:cubicBezTo>
                  <a:lnTo>
                    <a:pt x="0" y="139131"/>
                  </a:lnTo>
                  <a:cubicBezTo>
                    <a:pt x="0" y="102231"/>
                    <a:pt x="14658" y="66843"/>
                    <a:pt x="40750" y="40750"/>
                  </a:cubicBezTo>
                  <a:cubicBezTo>
                    <a:pt x="66843" y="14658"/>
                    <a:pt x="102231" y="0"/>
                    <a:pt x="139131" y="0"/>
                  </a:cubicBezTo>
                  <a:lnTo>
                    <a:pt x="160843" y="0"/>
                  </a:lnTo>
                  <a:cubicBezTo>
                    <a:pt x="197743" y="0"/>
                    <a:pt x="233131" y="14658"/>
                    <a:pt x="259224" y="40750"/>
                  </a:cubicBezTo>
                  <a:cubicBezTo>
                    <a:pt x="285316" y="66843"/>
                    <a:pt x="299974" y="102231"/>
                    <a:pt x="299974" y="139131"/>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0" name="TextBox 10"/>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11" name="Group 11"/>
          <p:cNvGrpSpPr/>
          <p:nvPr/>
        </p:nvGrpSpPr>
        <p:grpSpPr>
          <a:xfrm>
            <a:off x="9703065" y="4035159"/>
            <a:ext cx="1279832" cy="1279827"/>
            <a:chOff x="0" y="0"/>
            <a:chExt cx="299974" cy="299847"/>
          </a:xfrm>
        </p:grpSpPr>
        <p:sp>
          <p:nvSpPr>
            <p:cNvPr id="12" name="Freeform 12"/>
            <p:cNvSpPr/>
            <p:nvPr/>
          </p:nvSpPr>
          <p:spPr>
            <a:xfrm>
              <a:off x="0" y="0"/>
              <a:ext cx="299974" cy="299847"/>
            </a:xfrm>
            <a:custGeom>
              <a:avLst/>
              <a:gdLst/>
              <a:ahLst/>
              <a:cxnLst/>
              <a:rect l="l" t="t" r="r" b="b"/>
              <a:pathLst>
                <a:path w="299974" h="299847">
                  <a:moveTo>
                    <a:pt x="299974" y="139131"/>
                  </a:moveTo>
                  <a:lnTo>
                    <a:pt x="299974" y="160716"/>
                  </a:lnTo>
                  <a:cubicBezTo>
                    <a:pt x="299974" y="197616"/>
                    <a:pt x="285316" y="233004"/>
                    <a:pt x="259224" y="259097"/>
                  </a:cubicBezTo>
                  <a:cubicBezTo>
                    <a:pt x="233131" y="285189"/>
                    <a:pt x="197743" y="299847"/>
                    <a:pt x="160843" y="299847"/>
                  </a:cubicBezTo>
                  <a:lnTo>
                    <a:pt x="139131" y="299847"/>
                  </a:lnTo>
                  <a:cubicBezTo>
                    <a:pt x="102231" y="299847"/>
                    <a:pt x="66843" y="285189"/>
                    <a:pt x="40750" y="259097"/>
                  </a:cubicBezTo>
                  <a:cubicBezTo>
                    <a:pt x="14658" y="233004"/>
                    <a:pt x="0" y="197616"/>
                    <a:pt x="0" y="160716"/>
                  </a:cubicBezTo>
                  <a:lnTo>
                    <a:pt x="0" y="139131"/>
                  </a:lnTo>
                  <a:cubicBezTo>
                    <a:pt x="0" y="102231"/>
                    <a:pt x="14658" y="66843"/>
                    <a:pt x="40750" y="40750"/>
                  </a:cubicBezTo>
                  <a:cubicBezTo>
                    <a:pt x="66843" y="14658"/>
                    <a:pt x="102231" y="0"/>
                    <a:pt x="139131" y="0"/>
                  </a:cubicBezTo>
                  <a:lnTo>
                    <a:pt x="160843" y="0"/>
                  </a:lnTo>
                  <a:cubicBezTo>
                    <a:pt x="197743" y="0"/>
                    <a:pt x="233131" y="14658"/>
                    <a:pt x="259224" y="40750"/>
                  </a:cubicBezTo>
                  <a:cubicBezTo>
                    <a:pt x="285316" y="66843"/>
                    <a:pt x="299974" y="102231"/>
                    <a:pt x="299974" y="139131"/>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3" name="TextBox 13"/>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14" name="Group 14"/>
          <p:cNvGrpSpPr/>
          <p:nvPr/>
        </p:nvGrpSpPr>
        <p:grpSpPr>
          <a:xfrm>
            <a:off x="1896926" y="6839836"/>
            <a:ext cx="1279832" cy="1279827"/>
            <a:chOff x="0" y="0"/>
            <a:chExt cx="299974" cy="299847"/>
          </a:xfrm>
        </p:grpSpPr>
        <p:sp>
          <p:nvSpPr>
            <p:cNvPr id="15" name="Freeform 15"/>
            <p:cNvSpPr/>
            <p:nvPr/>
          </p:nvSpPr>
          <p:spPr>
            <a:xfrm>
              <a:off x="0" y="0"/>
              <a:ext cx="299974" cy="299847"/>
            </a:xfrm>
            <a:custGeom>
              <a:avLst/>
              <a:gdLst/>
              <a:ahLst/>
              <a:cxnLst/>
              <a:rect l="l" t="t" r="r" b="b"/>
              <a:pathLst>
                <a:path w="299974" h="299847">
                  <a:moveTo>
                    <a:pt x="299974" y="139131"/>
                  </a:moveTo>
                  <a:lnTo>
                    <a:pt x="299974" y="160716"/>
                  </a:lnTo>
                  <a:cubicBezTo>
                    <a:pt x="299974" y="197616"/>
                    <a:pt x="285316" y="233004"/>
                    <a:pt x="259224" y="259097"/>
                  </a:cubicBezTo>
                  <a:cubicBezTo>
                    <a:pt x="233131" y="285189"/>
                    <a:pt x="197743" y="299847"/>
                    <a:pt x="160843" y="299847"/>
                  </a:cubicBezTo>
                  <a:lnTo>
                    <a:pt x="139131" y="299847"/>
                  </a:lnTo>
                  <a:cubicBezTo>
                    <a:pt x="102231" y="299847"/>
                    <a:pt x="66843" y="285189"/>
                    <a:pt x="40750" y="259097"/>
                  </a:cubicBezTo>
                  <a:cubicBezTo>
                    <a:pt x="14658" y="233004"/>
                    <a:pt x="0" y="197616"/>
                    <a:pt x="0" y="160716"/>
                  </a:cubicBezTo>
                  <a:lnTo>
                    <a:pt x="0" y="139131"/>
                  </a:lnTo>
                  <a:cubicBezTo>
                    <a:pt x="0" y="102231"/>
                    <a:pt x="14658" y="66843"/>
                    <a:pt x="40750" y="40750"/>
                  </a:cubicBezTo>
                  <a:cubicBezTo>
                    <a:pt x="66843" y="14658"/>
                    <a:pt x="102231" y="0"/>
                    <a:pt x="139131" y="0"/>
                  </a:cubicBezTo>
                  <a:lnTo>
                    <a:pt x="160843" y="0"/>
                  </a:lnTo>
                  <a:cubicBezTo>
                    <a:pt x="197743" y="0"/>
                    <a:pt x="233131" y="14658"/>
                    <a:pt x="259224" y="40750"/>
                  </a:cubicBezTo>
                  <a:cubicBezTo>
                    <a:pt x="285316" y="66843"/>
                    <a:pt x="299974" y="102231"/>
                    <a:pt x="299974" y="139131"/>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6" name="TextBox 16"/>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grpSp>
        <p:nvGrpSpPr>
          <p:cNvPr id="17" name="Group 17"/>
          <p:cNvGrpSpPr/>
          <p:nvPr/>
        </p:nvGrpSpPr>
        <p:grpSpPr>
          <a:xfrm>
            <a:off x="9703065" y="6839836"/>
            <a:ext cx="1279832" cy="1279827"/>
            <a:chOff x="0" y="0"/>
            <a:chExt cx="299974" cy="299847"/>
          </a:xfrm>
        </p:grpSpPr>
        <p:sp>
          <p:nvSpPr>
            <p:cNvPr id="18" name="Freeform 18"/>
            <p:cNvSpPr/>
            <p:nvPr/>
          </p:nvSpPr>
          <p:spPr>
            <a:xfrm>
              <a:off x="0" y="0"/>
              <a:ext cx="299974" cy="299847"/>
            </a:xfrm>
            <a:custGeom>
              <a:avLst/>
              <a:gdLst/>
              <a:ahLst/>
              <a:cxnLst/>
              <a:rect l="l" t="t" r="r" b="b"/>
              <a:pathLst>
                <a:path w="299974" h="299847">
                  <a:moveTo>
                    <a:pt x="299974" y="139131"/>
                  </a:moveTo>
                  <a:lnTo>
                    <a:pt x="299974" y="160716"/>
                  </a:lnTo>
                  <a:cubicBezTo>
                    <a:pt x="299974" y="197616"/>
                    <a:pt x="285316" y="233004"/>
                    <a:pt x="259224" y="259097"/>
                  </a:cubicBezTo>
                  <a:cubicBezTo>
                    <a:pt x="233131" y="285189"/>
                    <a:pt x="197743" y="299847"/>
                    <a:pt x="160843" y="299847"/>
                  </a:cubicBezTo>
                  <a:lnTo>
                    <a:pt x="139131" y="299847"/>
                  </a:lnTo>
                  <a:cubicBezTo>
                    <a:pt x="102231" y="299847"/>
                    <a:pt x="66843" y="285189"/>
                    <a:pt x="40750" y="259097"/>
                  </a:cubicBezTo>
                  <a:cubicBezTo>
                    <a:pt x="14658" y="233004"/>
                    <a:pt x="0" y="197616"/>
                    <a:pt x="0" y="160716"/>
                  </a:cubicBezTo>
                  <a:lnTo>
                    <a:pt x="0" y="139131"/>
                  </a:lnTo>
                  <a:cubicBezTo>
                    <a:pt x="0" y="102231"/>
                    <a:pt x="14658" y="66843"/>
                    <a:pt x="40750" y="40750"/>
                  </a:cubicBezTo>
                  <a:cubicBezTo>
                    <a:pt x="66843" y="14658"/>
                    <a:pt x="102231" y="0"/>
                    <a:pt x="139131" y="0"/>
                  </a:cubicBezTo>
                  <a:lnTo>
                    <a:pt x="160843" y="0"/>
                  </a:lnTo>
                  <a:cubicBezTo>
                    <a:pt x="197743" y="0"/>
                    <a:pt x="233131" y="14658"/>
                    <a:pt x="259224" y="40750"/>
                  </a:cubicBezTo>
                  <a:cubicBezTo>
                    <a:pt x="285316" y="66843"/>
                    <a:pt x="299974" y="102231"/>
                    <a:pt x="299974" y="139131"/>
                  </a:cubicBezTo>
                  <a:close/>
                </a:path>
              </a:pathLst>
            </a:custGeom>
            <a:gradFill rotWithShape="1">
              <a:gsLst>
                <a:gs pos="0">
                  <a:srgbClr val="0093A7">
                    <a:alpha val="100000"/>
                  </a:srgbClr>
                </a:gs>
                <a:gs pos="100000">
                  <a:srgbClr val="24409B">
                    <a:alpha val="100000"/>
                  </a:srgbClr>
                </a:gs>
              </a:gsLst>
              <a:lin ang="0"/>
            </a:gradFill>
          </p:spPr>
          <p:txBody>
            <a:bodyPr/>
            <a:lstStyle/>
            <a:p>
              <a:endParaRPr lang="en-US"/>
            </a:p>
          </p:txBody>
        </p:sp>
        <p:sp>
          <p:nvSpPr>
            <p:cNvPr id="19" name="TextBox 19"/>
            <p:cNvSpPr txBox="1"/>
            <p:nvPr/>
          </p:nvSpPr>
          <p:spPr>
            <a:xfrm>
              <a:off x="0" y="-28575"/>
              <a:ext cx="299974" cy="328422"/>
            </a:xfrm>
            <a:prstGeom prst="rect">
              <a:avLst/>
            </a:prstGeom>
          </p:spPr>
          <p:txBody>
            <a:bodyPr lIns="50800" tIns="50800" rIns="50800" bIns="50800" rtlCol="0" anchor="ctr"/>
            <a:lstStyle/>
            <a:p>
              <a:pPr marL="0" lvl="0" indent="0" algn="ctr">
                <a:lnSpc>
                  <a:spcPts val="2523"/>
                </a:lnSpc>
              </a:pPr>
              <a:endParaRPr/>
            </a:p>
          </p:txBody>
        </p:sp>
      </p:grpSp>
      <p:sp>
        <p:nvSpPr>
          <p:cNvPr id="20" name="Freeform 20"/>
          <p:cNvSpPr/>
          <p:nvPr/>
        </p:nvSpPr>
        <p:spPr>
          <a:xfrm flipH="1" flipV="1">
            <a:off x="14088393" y="-1"/>
            <a:ext cx="4199605" cy="4933424"/>
          </a:xfrm>
          <a:custGeom>
            <a:avLst/>
            <a:gdLst/>
            <a:ahLst/>
            <a:cxnLst/>
            <a:rect l="l" t="t" r="r" b="b"/>
            <a:pathLst>
              <a:path w="13527672" h="12293272">
                <a:moveTo>
                  <a:pt x="13527672" y="12293272"/>
                </a:moveTo>
                <a:lnTo>
                  <a:pt x="0" y="12293272"/>
                </a:lnTo>
                <a:lnTo>
                  <a:pt x="0" y="0"/>
                </a:lnTo>
                <a:lnTo>
                  <a:pt x="13527672" y="0"/>
                </a:lnTo>
                <a:lnTo>
                  <a:pt x="13527672" y="12293272"/>
                </a:lnTo>
                <a:close/>
              </a:path>
            </a:pathLst>
          </a:custGeom>
          <a:blipFill>
            <a:blip>
              <a:extLst>
                <a:ext uri="{96DAC541-7B7A-43D3-8B79-37D633B846F1}">
                  <asvg:svgBlip xmlns:asvg="http://schemas.microsoft.com/office/drawing/2016/SVG/main" r:embed="rId6"/>
                </a:ext>
              </a:extLst>
            </a:blip>
            <a:stretch>
              <a:fillRect l="-222118" t="1" b="-149184"/>
            </a:stretch>
          </a:blipFill>
        </p:spPr>
        <p:txBody>
          <a:bodyPr/>
          <a:lstStyle/>
          <a:p>
            <a:endParaRPr lang="en-US"/>
          </a:p>
        </p:txBody>
      </p:sp>
      <p:sp>
        <p:nvSpPr>
          <p:cNvPr id="21" name="Freeform 21"/>
          <p:cNvSpPr/>
          <p:nvPr/>
        </p:nvSpPr>
        <p:spPr>
          <a:xfrm rot="5400000">
            <a:off x="343426" y="934189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7"/>
                </a:ext>
              </a:extLst>
            </a:blip>
            <a:stretch>
              <a:fillRect t="-127730" r="-182074"/>
            </a:stretch>
          </a:blipFill>
        </p:spPr>
        <p:txBody>
          <a:bodyPr/>
          <a:lstStyle/>
          <a:p>
            <a:endParaRPr lang="en-US"/>
          </a:p>
        </p:txBody>
      </p:sp>
      <p:sp>
        <p:nvSpPr>
          <p:cNvPr id="22" name="Freeform 22"/>
          <p:cNvSpPr/>
          <p:nvPr/>
        </p:nvSpPr>
        <p:spPr>
          <a:xfrm>
            <a:off x="2278489" y="4416719"/>
            <a:ext cx="516706" cy="516706"/>
          </a:xfrm>
          <a:custGeom>
            <a:avLst/>
            <a:gdLst/>
            <a:ahLst/>
            <a:cxnLst/>
            <a:rect l="l" t="t" r="r" b="b"/>
            <a:pathLst>
              <a:path w="516706" h="516706">
                <a:moveTo>
                  <a:pt x="0" y="0"/>
                </a:moveTo>
                <a:lnTo>
                  <a:pt x="516706" y="0"/>
                </a:lnTo>
                <a:lnTo>
                  <a:pt x="516706" y="516706"/>
                </a:lnTo>
                <a:lnTo>
                  <a:pt x="0" y="51670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 name="Freeform 23"/>
          <p:cNvSpPr/>
          <p:nvPr/>
        </p:nvSpPr>
        <p:spPr>
          <a:xfrm>
            <a:off x="10084628" y="4416719"/>
            <a:ext cx="516706" cy="516706"/>
          </a:xfrm>
          <a:custGeom>
            <a:avLst/>
            <a:gdLst/>
            <a:ahLst/>
            <a:cxnLst/>
            <a:rect l="l" t="t" r="r" b="b"/>
            <a:pathLst>
              <a:path w="516706" h="516706">
                <a:moveTo>
                  <a:pt x="0" y="0"/>
                </a:moveTo>
                <a:lnTo>
                  <a:pt x="516706" y="0"/>
                </a:lnTo>
                <a:lnTo>
                  <a:pt x="516706" y="516706"/>
                </a:lnTo>
                <a:lnTo>
                  <a:pt x="0" y="51670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4" name="Freeform 24"/>
          <p:cNvSpPr/>
          <p:nvPr/>
        </p:nvSpPr>
        <p:spPr>
          <a:xfrm>
            <a:off x="2278489" y="7221396"/>
            <a:ext cx="516706" cy="516706"/>
          </a:xfrm>
          <a:custGeom>
            <a:avLst/>
            <a:gdLst/>
            <a:ahLst/>
            <a:cxnLst/>
            <a:rect l="l" t="t" r="r" b="b"/>
            <a:pathLst>
              <a:path w="516706" h="516706">
                <a:moveTo>
                  <a:pt x="0" y="0"/>
                </a:moveTo>
                <a:lnTo>
                  <a:pt x="516706" y="0"/>
                </a:lnTo>
                <a:lnTo>
                  <a:pt x="516706" y="516706"/>
                </a:lnTo>
                <a:lnTo>
                  <a:pt x="0" y="51670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5" name="Freeform 25"/>
          <p:cNvSpPr/>
          <p:nvPr/>
        </p:nvSpPr>
        <p:spPr>
          <a:xfrm>
            <a:off x="10084628" y="7221396"/>
            <a:ext cx="516706" cy="516706"/>
          </a:xfrm>
          <a:custGeom>
            <a:avLst/>
            <a:gdLst/>
            <a:ahLst/>
            <a:cxnLst/>
            <a:rect l="l" t="t" r="r" b="b"/>
            <a:pathLst>
              <a:path w="516706" h="516706">
                <a:moveTo>
                  <a:pt x="0" y="0"/>
                </a:moveTo>
                <a:lnTo>
                  <a:pt x="516706" y="0"/>
                </a:lnTo>
                <a:lnTo>
                  <a:pt x="516706" y="516706"/>
                </a:lnTo>
                <a:lnTo>
                  <a:pt x="0" y="51670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6" name="TextBox 26"/>
          <p:cNvSpPr txBox="1"/>
          <p:nvPr/>
        </p:nvSpPr>
        <p:spPr>
          <a:xfrm>
            <a:off x="3515878" y="7420879"/>
            <a:ext cx="4883366" cy="1369022"/>
          </a:xfrm>
          <a:prstGeom prst="rect">
            <a:avLst/>
          </a:prstGeom>
        </p:spPr>
        <p:txBody>
          <a:bodyPr lIns="0" tIns="0" rIns="0" bIns="0" rtlCol="0" anchor="t">
            <a:spAutoFit/>
          </a:bodyPr>
          <a:lstStyle/>
          <a:p>
            <a:pPr marL="0" lvl="0" indent="0" algn="l">
              <a:lnSpc>
                <a:spcPts val="2242"/>
              </a:lnSpc>
              <a:spcBef>
                <a:spcPct val="0"/>
              </a:spcBef>
            </a:pPr>
            <a:r>
              <a:rPr lang="en-US" sz="1601" dirty="0">
                <a:solidFill>
                  <a:srgbClr val="FFFFFF"/>
                </a:solidFill>
                <a:latin typeface="Canva Sans"/>
                <a:ea typeface="Canva Sans"/>
                <a:cs typeface="Canva Sans"/>
                <a:sym typeface="Canva Sans"/>
              </a:rPr>
              <a:t>Kill Chain methodology emphasizes breaking attack sequences early. But most implementations focus on late-stage detection—alerting after reconnaissance, weaponization, and delivery phases have already succeeded.</a:t>
            </a:r>
          </a:p>
        </p:txBody>
      </p:sp>
      <p:sp>
        <p:nvSpPr>
          <p:cNvPr id="27" name="TextBox 27"/>
          <p:cNvSpPr txBox="1"/>
          <p:nvPr/>
        </p:nvSpPr>
        <p:spPr>
          <a:xfrm>
            <a:off x="11325797" y="7420879"/>
            <a:ext cx="4883366" cy="1369022"/>
          </a:xfrm>
          <a:prstGeom prst="rect">
            <a:avLst/>
          </a:prstGeom>
        </p:spPr>
        <p:txBody>
          <a:bodyPr lIns="0" tIns="0" rIns="0" bIns="0" rtlCol="0" anchor="t">
            <a:spAutoFit/>
          </a:bodyPr>
          <a:lstStyle/>
          <a:p>
            <a:pPr marL="0" lvl="0" indent="0" algn="l">
              <a:lnSpc>
                <a:spcPts val="2242"/>
              </a:lnSpc>
              <a:spcBef>
                <a:spcPct val="0"/>
              </a:spcBef>
            </a:pPr>
            <a:r>
              <a:rPr lang="en-US" sz="1601" dirty="0">
                <a:solidFill>
                  <a:srgbClr val="FFFFFF"/>
                </a:solidFill>
                <a:latin typeface="Canva Sans"/>
                <a:ea typeface="Canva Sans"/>
                <a:cs typeface="Canva Sans"/>
                <a:sym typeface="Canva Sans"/>
              </a:rPr>
              <a:t>Threat actors study defensive frameworks and specifically design attacks to exploit their assumptions. Static models cannot counter adversaries who evolve faster than annual security reviews.</a:t>
            </a:r>
          </a:p>
        </p:txBody>
      </p:sp>
      <p:sp>
        <p:nvSpPr>
          <p:cNvPr id="28" name="TextBox 28"/>
          <p:cNvSpPr txBox="1"/>
          <p:nvPr/>
        </p:nvSpPr>
        <p:spPr>
          <a:xfrm>
            <a:off x="3515878" y="4568785"/>
            <a:ext cx="4883366" cy="1682897"/>
          </a:xfrm>
          <a:prstGeom prst="rect">
            <a:avLst/>
          </a:prstGeom>
        </p:spPr>
        <p:txBody>
          <a:bodyPr lIns="0" tIns="0" rIns="0" bIns="0" rtlCol="0" anchor="t">
            <a:spAutoFit/>
          </a:bodyPr>
          <a:lstStyle/>
          <a:p>
            <a:pPr lvl="0">
              <a:lnSpc>
                <a:spcPts val="2242"/>
              </a:lnSpc>
              <a:spcBef>
                <a:spcPct val="0"/>
              </a:spcBef>
            </a:pPr>
            <a:r>
              <a:rPr lang="en-US" sz="1600" dirty="0">
                <a:solidFill>
                  <a:schemeClr val="bg1"/>
                </a:solidFill>
              </a:rPr>
              <a:t>Lockheed Martin's Cyber Kill Chain revolutionized threat modeling in 2011. This week, a pro-Iranian group </a:t>
            </a:r>
            <a:r>
              <a:rPr lang="en-US" sz="1600" i="1" dirty="0">
                <a:solidFill>
                  <a:schemeClr val="bg1"/>
                </a:solidFill>
              </a:rPr>
              <a:t>claimed</a:t>
            </a:r>
            <a:r>
              <a:rPr lang="en-US" sz="1600" dirty="0">
                <a:solidFill>
                  <a:schemeClr val="bg1"/>
                </a:solidFill>
              </a:rPr>
              <a:t> a breach — unverified by U.S. intelligence as of March 24, 2026. Confirmed or not, the plausibility alone proves knowing the playbook doesn't guarantee winning the game.</a:t>
            </a:r>
            <a:endParaRPr lang="en-US" sz="1601" dirty="0">
              <a:solidFill>
                <a:schemeClr val="bg1"/>
              </a:solidFill>
              <a:latin typeface="Canva Sans"/>
              <a:ea typeface="Canva Sans"/>
              <a:cs typeface="Canva Sans"/>
              <a:sym typeface="Canva Sans"/>
            </a:endParaRPr>
          </a:p>
        </p:txBody>
      </p:sp>
      <p:sp>
        <p:nvSpPr>
          <p:cNvPr id="29" name="TextBox 29"/>
          <p:cNvSpPr txBox="1"/>
          <p:nvPr/>
        </p:nvSpPr>
        <p:spPr>
          <a:xfrm>
            <a:off x="11325797" y="4568785"/>
            <a:ext cx="4883366" cy="1369022"/>
          </a:xfrm>
          <a:prstGeom prst="rect">
            <a:avLst/>
          </a:prstGeom>
        </p:spPr>
        <p:txBody>
          <a:bodyPr lIns="0" tIns="0" rIns="0" bIns="0" rtlCol="0" anchor="t">
            <a:spAutoFit/>
          </a:bodyPr>
          <a:lstStyle/>
          <a:p>
            <a:pPr marL="0" lvl="0" indent="0" algn="l">
              <a:lnSpc>
                <a:spcPts val="2242"/>
              </a:lnSpc>
              <a:spcBef>
                <a:spcPct val="0"/>
              </a:spcBef>
            </a:pPr>
            <a:r>
              <a:rPr lang="en-US" sz="1601">
                <a:solidFill>
                  <a:srgbClr val="FFFFFF"/>
                </a:solidFill>
                <a:latin typeface="Canva Sans"/>
                <a:ea typeface="Canva Sans"/>
                <a:cs typeface="Canva Sans"/>
                <a:sym typeface="Canva Sans"/>
              </a:rPr>
              <a:t>Organizations adopt frameworks as compliance checkboxes rather than operational doctrine. The gap between documented controls and actual defensive posture creates exploitable blind spots adversaries actively target.</a:t>
            </a:r>
          </a:p>
        </p:txBody>
      </p:sp>
      <p:sp>
        <p:nvSpPr>
          <p:cNvPr id="30" name="TextBox 30"/>
          <p:cNvSpPr txBox="1"/>
          <p:nvPr/>
        </p:nvSpPr>
        <p:spPr>
          <a:xfrm>
            <a:off x="3515878" y="6766541"/>
            <a:ext cx="5065277" cy="481314"/>
          </a:xfrm>
          <a:prstGeom prst="rect">
            <a:avLst/>
          </a:prstGeom>
        </p:spPr>
        <p:txBody>
          <a:bodyPr lIns="0" tIns="0" rIns="0" bIns="0" rtlCol="0" anchor="t">
            <a:spAutoFit/>
          </a:bodyPr>
          <a:lstStyle/>
          <a:p>
            <a:pPr marL="0" lvl="0" indent="0" algn="l">
              <a:lnSpc>
                <a:spcPts val="3920"/>
              </a:lnSpc>
              <a:spcBef>
                <a:spcPct val="0"/>
              </a:spcBef>
            </a:pPr>
            <a:r>
              <a:rPr lang="en-US" sz="2800" b="1">
                <a:solidFill>
                  <a:srgbClr val="FFFFFF"/>
                </a:solidFill>
                <a:latin typeface="Canva Sans Bold"/>
                <a:ea typeface="Canva Sans Bold"/>
                <a:cs typeface="Canva Sans Bold"/>
                <a:sym typeface="Canva Sans Bold"/>
              </a:rPr>
              <a:t>Detection vs. Prevention</a:t>
            </a:r>
          </a:p>
        </p:txBody>
      </p:sp>
      <p:sp>
        <p:nvSpPr>
          <p:cNvPr id="31" name="TextBox 31"/>
          <p:cNvSpPr txBox="1"/>
          <p:nvPr/>
        </p:nvSpPr>
        <p:spPr>
          <a:xfrm>
            <a:off x="11325797" y="6766541"/>
            <a:ext cx="5065277" cy="481314"/>
          </a:xfrm>
          <a:prstGeom prst="rect">
            <a:avLst/>
          </a:prstGeom>
        </p:spPr>
        <p:txBody>
          <a:bodyPr lIns="0" tIns="0" rIns="0" bIns="0" rtlCol="0" anchor="t">
            <a:spAutoFit/>
          </a:bodyPr>
          <a:lstStyle/>
          <a:p>
            <a:pPr marL="0" lvl="0" indent="0" algn="l">
              <a:lnSpc>
                <a:spcPts val="3920"/>
              </a:lnSpc>
              <a:spcBef>
                <a:spcPct val="0"/>
              </a:spcBef>
            </a:pPr>
            <a:r>
              <a:rPr lang="en-US" sz="2800" b="1">
                <a:solidFill>
                  <a:srgbClr val="FFFFFF"/>
                </a:solidFill>
                <a:latin typeface="Canva Sans Bold"/>
                <a:ea typeface="Canva Sans Bold"/>
                <a:cs typeface="Canva Sans Bold"/>
                <a:sym typeface="Canva Sans Bold"/>
              </a:rPr>
              <a:t>Adaptive Adversaries</a:t>
            </a:r>
          </a:p>
        </p:txBody>
      </p:sp>
      <p:sp>
        <p:nvSpPr>
          <p:cNvPr id="32" name="TextBox 32"/>
          <p:cNvSpPr txBox="1"/>
          <p:nvPr/>
        </p:nvSpPr>
        <p:spPr>
          <a:xfrm>
            <a:off x="3515878" y="3914448"/>
            <a:ext cx="5065277" cy="481314"/>
          </a:xfrm>
          <a:prstGeom prst="rect">
            <a:avLst/>
          </a:prstGeom>
        </p:spPr>
        <p:txBody>
          <a:bodyPr lIns="0" tIns="0" rIns="0" bIns="0" rtlCol="0" anchor="t">
            <a:spAutoFit/>
          </a:bodyPr>
          <a:lstStyle/>
          <a:p>
            <a:pPr marL="0" lvl="0" indent="0" algn="l">
              <a:lnSpc>
                <a:spcPts val="3920"/>
              </a:lnSpc>
              <a:spcBef>
                <a:spcPct val="0"/>
              </a:spcBef>
            </a:pPr>
            <a:r>
              <a:rPr lang="en-US" sz="2800" b="1" dirty="0">
                <a:solidFill>
                  <a:srgbClr val="FFFFFF"/>
                </a:solidFill>
                <a:latin typeface="Canva Sans Bold"/>
                <a:ea typeface="Canva Sans Bold"/>
                <a:cs typeface="Canva Sans Bold"/>
                <a:sym typeface="Canva Sans Bold"/>
              </a:rPr>
              <a:t>Theoretical Excellence</a:t>
            </a:r>
          </a:p>
        </p:txBody>
      </p:sp>
      <p:grpSp>
        <p:nvGrpSpPr>
          <p:cNvPr id="34" name="Group 33">
            <a:extLst>
              <a:ext uri="{FF2B5EF4-FFF2-40B4-BE49-F238E27FC236}">
                <a16:creationId xmlns:a16="http://schemas.microsoft.com/office/drawing/2014/main" id="{1D33B681-C933-7DCC-3467-DFBFE33B6AEF}"/>
              </a:ext>
            </a:extLst>
          </p:cNvPr>
          <p:cNvGrpSpPr/>
          <p:nvPr/>
        </p:nvGrpSpPr>
        <p:grpSpPr>
          <a:xfrm>
            <a:off x="16973621" y="8970630"/>
            <a:ext cx="1104900" cy="1109382"/>
            <a:chOff x="8458200" y="1333500"/>
            <a:chExt cx="1104900" cy="1109382"/>
          </a:xfrm>
        </p:grpSpPr>
        <p:sp>
          <p:nvSpPr>
            <p:cNvPr id="35" name="Rectangle 34">
              <a:extLst>
                <a:ext uri="{FF2B5EF4-FFF2-40B4-BE49-F238E27FC236}">
                  <a16:creationId xmlns:a16="http://schemas.microsoft.com/office/drawing/2014/main" id="{C5674058-B498-20E1-2690-C3D85BEEDF88}"/>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4FF270D-2C89-AC04-56F5-44484DF456CF}"/>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393C013-7D34-E5B9-6D60-374CB528ECBE}"/>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06EADEC-A5EC-6E2F-495F-F5E3DF0C6EC6}"/>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E7F26-D220-EC8E-CCBC-69504592FAA7}"/>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5DA6DE48-DDCF-40AA-F5AF-D84693D1244C}"/>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94" t="164" r="3316" b="3275"/>
          <a:stretch>
            <a:fillRect/>
          </a:stretch>
        </p:blipFill>
        <p:spPr>
          <a:xfrm>
            <a:off x="-200935" y="-154780"/>
            <a:ext cx="18488935" cy="10441780"/>
          </a:xfrm>
          <a:prstGeom prst="rect">
            <a:avLst/>
          </a:prstGeom>
        </p:spPr>
      </p:pic>
      <p:sp>
        <p:nvSpPr>
          <p:cNvPr id="4" name="Rectangle 3">
            <a:extLst>
              <a:ext uri="{FF2B5EF4-FFF2-40B4-BE49-F238E27FC236}">
                <a16:creationId xmlns:a16="http://schemas.microsoft.com/office/drawing/2014/main" id="{3A547478-7411-6230-108C-F47BA9077033}"/>
              </a:ext>
            </a:extLst>
          </p:cNvPr>
          <p:cNvSpPr/>
          <p:nvPr/>
        </p:nvSpPr>
        <p:spPr>
          <a:xfrm>
            <a:off x="-200936" y="-172436"/>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95EAE34-8DB8-1C3C-19AD-9AFC7C1BBE99}"/>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Three Risks. Three Fixes.</a:t>
            </a:r>
            <a:br>
              <a:rPr lang="en-US" sz="7200" b="1" dirty="0">
                <a:solidFill>
                  <a:schemeClr val="bg1"/>
                </a:solidFill>
                <a:latin typeface="Pattanakarn SemiCondensed Medium"/>
                <a:ea typeface="Pattanakarn SemiCondensed Medium"/>
                <a:cs typeface="Pattanakarn SemiCondensed Medium"/>
                <a:sym typeface="Pattanakarn SemiCondensed Medium"/>
              </a:rPr>
            </a:br>
            <a:r>
              <a:rPr lang="en-US" sz="7200" b="1" dirty="0">
                <a:solidFill>
                  <a:schemeClr val="bg1"/>
                </a:solidFill>
                <a:latin typeface="Pattanakarn SemiCondensed Medium"/>
                <a:ea typeface="Pattanakarn SemiCondensed Medium"/>
                <a:cs typeface="Pattanakarn SemiCondensed Medium"/>
                <a:sym typeface="Pattanakarn SemiCondensed Medium"/>
              </a:rPr>
              <a:t>A Price Tag for Both.</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16486A3D-FD9E-9526-C8C0-BA6FDB10D1F8}"/>
              </a:ext>
            </a:extLst>
          </p:cNvPr>
          <p:cNvSpPr txBox="1"/>
          <p:nvPr/>
        </p:nvSpPr>
        <p:spPr>
          <a:xfrm>
            <a:off x="514106" y="3281246"/>
            <a:ext cx="15945093" cy="6124754"/>
          </a:xfrm>
          <a:prstGeom prst="rect">
            <a:avLst/>
          </a:prstGeom>
          <a:noFill/>
        </p:spPr>
        <p:txBody>
          <a:bodyPr wrap="square">
            <a:spAutoFit/>
          </a:bodyPr>
          <a:lstStyle/>
          <a:p>
            <a:pPr marL="514350" indent="-514350">
              <a:buFont typeface="+mj-lt"/>
              <a:buAutoNum type="arabicPeriod"/>
            </a:pPr>
            <a:r>
              <a:rPr lang="en-US" sz="2800" b="1" u="sng" dirty="0">
                <a:solidFill>
                  <a:schemeClr val="bg1"/>
                </a:solidFill>
              </a:rPr>
              <a:t>Remote Access Compromise</a:t>
            </a:r>
            <a:r>
              <a:rPr lang="en-US" sz="2800" u="sng" dirty="0">
                <a:solidFill>
                  <a:schemeClr val="bg1"/>
                </a:solidFill>
              </a:rPr>
              <a:t> </a:t>
            </a:r>
            <a:r>
              <a:rPr lang="en-US" sz="2800" dirty="0">
                <a:solidFill>
                  <a:schemeClr val="bg1"/>
                </a:solidFill>
              </a:rPr>
              <a:t>| Likelihood: </a:t>
            </a:r>
            <a:r>
              <a:rPr lang="en-US" sz="2800" b="1" dirty="0">
                <a:solidFill>
                  <a:schemeClr val="bg1"/>
                </a:solidFill>
              </a:rPr>
              <a:t>HIGH</a:t>
            </a:r>
            <a:r>
              <a:rPr lang="en-US" sz="2800" dirty="0">
                <a:solidFill>
                  <a:schemeClr val="bg1"/>
                </a:solidFill>
              </a:rPr>
              <a:t> | Impact: </a:t>
            </a:r>
            <a:r>
              <a:rPr lang="en-US" sz="2800" b="1" dirty="0">
                <a:solidFill>
                  <a:schemeClr val="bg1"/>
                </a:solidFill>
              </a:rPr>
              <a:t>CRITICAL</a:t>
            </a:r>
            <a:r>
              <a:rPr lang="en-US" sz="2800" dirty="0">
                <a:solidFill>
                  <a:schemeClr val="bg1"/>
                </a:solidFill>
              </a:rPr>
              <a:t> </a:t>
            </a:r>
            <a:r>
              <a:rPr lang="en-US" sz="2800" b="1" dirty="0">
                <a:solidFill>
                  <a:schemeClr val="bg1"/>
                </a:solidFill>
              </a:rPr>
              <a:t>Scenario</a:t>
            </a:r>
            <a:r>
              <a:rPr lang="en-US" sz="2800" dirty="0">
                <a:solidFill>
                  <a:schemeClr val="bg1"/>
                </a:solidFill>
              </a:rPr>
              <a:t>: </a:t>
            </a:r>
            <a:r>
              <a:rPr lang="en-US" sz="2800" b="1" dirty="0">
                <a:solidFill>
                  <a:schemeClr val="bg1"/>
                </a:solidFill>
              </a:rPr>
              <a:t>Vendor RDP </a:t>
            </a:r>
            <a:r>
              <a:rPr lang="en-US" sz="2800" dirty="0">
                <a:solidFill>
                  <a:schemeClr val="bg1"/>
                </a:solidFill>
              </a:rPr>
              <a:t>session with shared credentials hijacked via credential stuffing. Attacker gains </a:t>
            </a:r>
            <a:r>
              <a:rPr lang="en-US" sz="2800" b="1" dirty="0">
                <a:solidFill>
                  <a:schemeClr val="bg1"/>
                </a:solidFill>
              </a:rPr>
              <a:t>SCADA HMI </a:t>
            </a:r>
            <a:r>
              <a:rPr lang="en-US" sz="2800" dirty="0">
                <a:solidFill>
                  <a:schemeClr val="bg1"/>
                </a:solidFill>
              </a:rPr>
              <a:t>access and begins enumerating Royal Duke's OT network. Mitigation: MFA on all remote access + privileged access management | Cost: Low–Medium | Benefit: Eliminates the #1 OT entry vector</a:t>
            </a:r>
            <a:br>
              <a:rPr lang="en-US" sz="2800" dirty="0">
                <a:solidFill>
                  <a:schemeClr val="bg1"/>
                </a:solidFill>
              </a:rPr>
            </a:br>
            <a:endParaRPr lang="en-US" sz="2800" dirty="0">
              <a:solidFill>
                <a:schemeClr val="bg1"/>
              </a:solidFill>
            </a:endParaRPr>
          </a:p>
          <a:p>
            <a:pPr marL="514350" indent="-514350">
              <a:buFont typeface="+mj-lt"/>
              <a:buAutoNum type="arabicPeriod"/>
            </a:pPr>
            <a:r>
              <a:rPr lang="en-US" sz="2800" b="1" u="sng" dirty="0">
                <a:solidFill>
                  <a:schemeClr val="bg1"/>
                </a:solidFill>
              </a:rPr>
              <a:t>Loss of Situational Awareness</a:t>
            </a:r>
            <a:r>
              <a:rPr lang="en-US" sz="2800" u="sng" dirty="0">
                <a:solidFill>
                  <a:schemeClr val="bg1"/>
                </a:solidFill>
              </a:rPr>
              <a:t> </a:t>
            </a:r>
            <a:r>
              <a:rPr lang="en-US" sz="2800" dirty="0">
                <a:solidFill>
                  <a:schemeClr val="bg1"/>
                </a:solidFill>
              </a:rPr>
              <a:t>| Likelihood: </a:t>
            </a:r>
            <a:r>
              <a:rPr lang="en-US" sz="2800" b="1" dirty="0">
                <a:solidFill>
                  <a:schemeClr val="bg1"/>
                </a:solidFill>
              </a:rPr>
              <a:t>HIGH</a:t>
            </a:r>
            <a:r>
              <a:rPr lang="en-US" sz="2800" dirty="0">
                <a:solidFill>
                  <a:schemeClr val="bg1"/>
                </a:solidFill>
              </a:rPr>
              <a:t> | Impact: </a:t>
            </a:r>
            <a:r>
              <a:rPr lang="en-US" sz="2800" b="1" dirty="0">
                <a:solidFill>
                  <a:schemeClr val="bg1"/>
                </a:solidFill>
              </a:rPr>
              <a:t>CRITICAL Scenario</a:t>
            </a:r>
            <a:r>
              <a:rPr lang="en-US" sz="2800" dirty="0">
                <a:solidFill>
                  <a:schemeClr val="bg1"/>
                </a:solidFill>
              </a:rPr>
              <a:t>: Adversary compromises HMI historian, suppresses alerts. Operators see normal operations for 72 hours while attacker moves laterally toward substation PLCs. Mitigation: Passive OT network monitoring (Dragos/</a:t>
            </a:r>
            <a:r>
              <a:rPr lang="en-US" sz="2800" dirty="0" err="1">
                <a:solidFill>
                  <a:schemeClr val="bg1"/>
                </a:solidFill>
              </a:rPr>
              <a:t>Claroty</a:t>
            </a:r>
            <a:r>
              <a:rPr lang="en-US" sz="2800" dirty="0">
                <a:solidFill>
                  <a:schemeClr val="bg1"/>
                </a:solidFill>
              </a:rPr>
              <a:t>) + SOC integration | Cost: Medium | Benefit: Detects threats already inside the perimeter</a:t>
            </a:r>
            <a:br>
              <a:rPr lang="en-US" sz="2800" dirty="0">
                <a:solidFill>
                  <a:schemeClr val="bg1"/>
                </a:solidFill>
              </a:rPr>
            </a:br>
            <a:endParaRPr lang="en-US" sz="2800" dirty="0">
              <a:solidFill>
                <a:schemeClr val="bg1"/>
              </a:solidFill>
            </a:endParaRPr>
          </a:p>
          <a:p>
            <a:pPr marL="514350" indent="-514350">
              <a:buFont typeface="+mj-lt"/>
              <a:buAutoNum type="arabicPeriod"/>
            </a:pPr>
            <a:r>
              <a:rPr lang="en-US" sz="2800" b="1" u="sng" dirty="0">
                <a:solidFill>
                  <a:schemeClr val="bg1"/>
                </a:solidFill>
              </a:rPr>
              <a:t>PLC Logic Manipulation</a:t>
            </a:r>
            <a:r>
              <a:rPr lang="en-US" sz="2800" u="sng" dirty="0">
                <a:solidFill>
                  <a:schemeClr val="bg1"/>
                </a:solidFill>
              </a:rPr>
              <a:t> </a:t>
            </a:r>
            <a:r>
              <a:rPr lang="en-US" sz="2800" dirty="0">
                <a:solidFill>
                  <a:schemeClr val="bg1"/>
                </a:solidFill>
              </a:rPr>
              <a:t>| Likelihood: </a:t>
            </a:r>
            <a:r>
              <a:rPr lang="en-US" sz="2800" b="1" dirty="0">
                <a:solidFill>
                  <a:schemeClr val="bg1"/>
                </a:solidFill>
              </a:rPr>
              <a:t>MEDIUM</a:t>
            </a:r>
            <a:r>
              <a:rPr lang="en-US" sz="2800" dirty="0">
                <a:solidFill>
                  <a:schemeClr val="bg1"/>
                </a:solidFill>
              </a:rPr>
              <a:t> | Impact: </a:t>
            </a:r>
            <a:r>
              <a:rPr lang="en-US" sz="2800" b="1" dirty="0">
                <a:solidFill>
                  <a:schemeClr val="bg1"/>
                </a:solidFill>
              </a:rPr>
              <a:t>HIGH</a:t>
            </a:r>
            <a:r>
              <a:rPr lang="en-US" sz="2800" dirty="0">
                <a:solidFill>
                  <a:schemeClr val="bg1"/>
                </a:solidFill>
              </a:rPr>
              <a:t> Scenario: Threat actor modifies pump pressure setpoints and disables safety interlocks. Water delivery to three data center campuses degrades over 18 hours. Mitigation: PLC integrity monitoring + IT/OT network segmentation | </a:t>
            </a:r>
            <a:r>
              <a:rPr lang="en-US" sz="2800" b="1" dirty="0">
                <a:solidFill>
                  <a:schemeClr val="bg1"/>
                </a:solidFill>
              </a:rPr>
              <a:t>Cost: Medium–High </a:t>
            </a:r>
            <a:r>
              <a:rPr lang="en-US" sz="2800" dirty="0">
                <a:solidFill>
                  <a:schemeClr val="bg1"/>
                </a:solidFill>
              </a:rPr>
              <a:t> Benefit: Prevents kinetic physical impact</a:t>
            </a:r>
          </a:p>
        </p:txBody>
      </p:sp>
      <p:grpSp>
        <p:nvGrpSpPr>
          <p:cNvPr id="2" name="Group 1">
            <a:extLst>
              <a:ext uri="{FF2B5EF4-FFF2-40B4-BE49-F238E27FC236}">
                <a16:creationId xmlns:a16="http://schemas.microsoft.com/office/drawing/2014/main" id="{C5FCB892-743B-1BE9-0AB8-83B4F3B6F884}"/>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83E79A20-5D72-B11E-24BF-B15752DAD153}"/>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293EBAC-B30E-2D04-BD80-C5DA2A34670F}"/>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2969999-9EA5-6389-6D72-646AB0C7B31B}"/>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77E8397-66F3-5F76-4517-B98F0E36DC17}"/>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3">
            <a:extLst>
              <a:ext uri="{FF2B5EF4-FFF2-40B4-BE49-F238E27FC236}">
                <a16:creationId xmlns:a16="http://schemas.microsoft.com/office/drawing/2014/main" id="{FAD70497-4BC9-E481-74A7-04FF538D45E3}"/>
              </a:ext>
            </a:extLst>
          </p:cNvPr>
          <p:cNvSpPr/>
          <p:nvPr/>
        </p:nvSpPr>
        <p:spPr>
          <a:xfrm rot="5400000">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6"/>
                </a:ext>
              </a:extLst>
            </a:blip>
            <a:stretch>
              <a:fillRect t="-127730" r="-182074"/>
            </a:stretch>
          </a:blipFill>
        </p:spPr>
        <p:txBody>
          <a:bodyPr/>
          <a:lstStyle/>
          <a:p>
            <a:endParaRPr lang="en-US"/>
          </a:p>
        </p:txBody>
      </p:sp>
    </p:spTree>
    <p:extLst>
      <p:ext uri="{BB962C8B-B14F-4D97-AF65-F5344CB8AC3E}">
        <p14:creationId xmlns:p14="http://schemas.microsoft.com/office/powerpoint/2010/main" val="424914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136">
            <a:alpha val="100000"/>
          </a:srgbClr>
        </a:solidFill>
        <a:effectLst/>
      </p:bgPr>
    </p:bg>
    <p:spTree>
      <p:nvGrpSpPr>
        <p:cNvPr id="1" name=""/>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D68C7D27-BBF8-8526-75F4-6E49C492E97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DD5CA452-0BA6-1C06-3B3D-D3C2A4E1C5B2}"/>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1B2117C-4BAE-42DE-6BF5-5BACAFA8105B}"/>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Turn the Lights On. Learn What’s in the Room. Own it!</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3EA0494D-9BF2-71DC-A370-41BAF832D6D2}"/>
              </a:ext>
            </a:extLst>
          </p:cNvPr>
          <p:cNvSpPr txBox="1"/>
          <p:nvPr/>
        </p:nvSpPr>
        <p:spPr>
          <a:xfrm>
            <a:off x="514107" y="3281246"/>
            <a:ext cx="11731354" cy="6124754"/>
          </a:xfrm>
          <a:prstGeom prst="rect">
            <a:avLst/>
          </a:prstGeom>
          <a:noFill/>
        </p:spPr>
        <p:txBody>
          <a:bodyPr wrap="square">
            <a:spAutoFit/>
          </a:bodyPr>
          <a:lstStyle/>
          <a:p>
            <a:pPr>
              <a:buNone/>
            </a:pPr>
            <a:r>
              <a:rPr lang="en-US" sz="2800" b="1" dirty="0">
                <a:solidFill>
                  <a:schemeClr val="bg1"/>
                </a:solidFill>
              </a:rPr>
              <a:t>Phase 1: Survive (0–90 Days)</a:t>
            </a:r>
            <a:r>
              <a:rPr lang="en-US" sz="2800" dirty="0">
                <a:solidFill>
                  <a:schemeClr val="bg1"/>
                </a:solidFill>
              </a:rPr>
              <a:t> — NIST CSF: GOVERN · IDENTIFY · PROTECT OT asset inventory (all PLCs, RTUs, HMIs) | Designate OT security lead, establish risk tolerance | Enforce MFA on remote access (CIP-007) | Vendor risk assessment — CIP-013 compliance | IR playbooks for OT scenarios</a:t>
            </a:r>
            <a:br>
              <a:rPr lang="en-US" sz="2800" dirty="0">
                <a:solidFill>
                  <a:schemeClr val="bg1"/>
                </a:solidFill>
              </a:rPr>
            </a:br>
            <a:endParaRPr lang="en-US" sz="2800" dirty="0">
              <a:solidFill>
                <a:schemeClr val="bg1"/>
              </a:solidFill>
            </a:endParaRPr>
          </a:p>
          <a:p>
            <a:pPr>
              <a:buNone/>
            </a:pPr>
            <a:r>
              <a:rPr lang="en-US" sz="2800" b="1" dirty="0">
                <a:solidFill>
                  <a:schemeClr val="bg1"/>
                </a:solidFill>
              </a:rPr>
              <a:t>Phase 2: See (3–9 Months) </a:t>
            </a:r>
            <a:r>
              <a:rPr lang="en-US" sz="2800" dirty="0">
                <a:solidFill>
                  <a:schemeClr val="bg1"/>
                </a:solidFill>
              </a:rPr>
              <a:t>— NIST CSF: DETECT · RESPOND Deploy passive OT network monitoring | Integrate OT alerts into SOC | Tabletop: substation + water failure scenario | Anomaly baseline for normal OT behavior | CIP-015 internal network security monitoring</a:t>
            </a:r>
            <a:br>
              <a:rPr lang="en-US" sz="2800" dirty="0">
                <a:solidFill>
                  <a:schemeClr val="bg1"/>
                </a:solidFill>
              </a:rPr>
            </a:br>
            <a:endParaRPr lang="en-US" sz="2800" dirty="0">
              <a:solidFill>
                <a:schemeClr val="bg1"/>
              </a:solidFill>
            </a:endParaRPr>
          </a:p>
          <a:p>
            <a:pPr>
              <a:buNone/>
            </a:pPr>
            <a:r>
              <a:rPr lang="en-US" sz="2800" b="1" dirty="0">
                <a:solidFill>
                  <a:schemeClr val="bg1"/>
                </a:solidFill>
              </a:rPr>
              <a:t>Phase 3: Lead (9–18 Months)</a:t>
            </a:r>
            <a:r>
              <a:rPr lang="en-US" sz="2800" dirty="0">
                <a:solidFill>
                  <a:schemeClr val="bg1"/>
                </a:solidFill>
              </a:rPr>
              <a:t> — NIST CSF: PROTECT · RECOVER · GOVERN IT/OT network segmentation (DMZ enforcement) | Risk-based vulnerability management | Business continuity and OT recovery plans | Continuous assessment, annual tabletops | Third-party audit against NERC CIP standards</a:t>
            </a:r>
          </a:p>
        </p:txBody>
      </p:sp>
      <p:grpSp>
        <p:nvGrpSpPr>
          <p:cNvPr id="17" name="Group 16">
            <a:extLst>
              <a:ext uri="{FF2B5EF4-FFF2-40B4-BE49-F238E27FC236}">
                <a16:creationId xmlns:a16="http://schemas.microsoft.com/office/drawing/2014/main" id="{A7FBACEE-363C-B676-2780-3232047757B6}"/>
              </a:ext>
            </a:extLst>
          </p:cNvPr>
          <p:cNvGrpSpPr/>
          <p:nvPr/>
        </p:nvGrpSpPr>
        <p:grpSpPr>
          <a:xfrm>
            <a:off x="16973621" y="8970630"/>
            <a:ext cx="1104900" cy="1109382"/>
            <a:chOff x="8458200" y="1333500"/>
            <a:chExt cx="1104900" cy="1109382"/>
          </a:xfrm>
        </p:grpSpPr>
        <p:sp>
          <p:nvSpPr>
            <p:cNvPr id="18" name="Rectangle 17">
              <a:extLst>
                <a:ext uri="{FF2B5EF4-FFF2-40B4-BE49-F238E27FC236}">
                  <a16:creationId xmlns:a16="http://schemas.microsoft.com/office/drawing/2014/main" id="{72DA4AE0-8F05-C5F5-370E-C68C913FF872}"/>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D517761-E3E9-181B-3770-E9BC9FFBB606}"/>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570DF7-D4FE-EC0C-D95B-1841DF4B0EB9}"/>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70C1B95-6417-E053-AA2D-A906A5E104BD}"/>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Freeform 13">
            <a:extLst>
              <a:ext uri="{FF2B5EF4-FFF2-40B4-BE49-F238E27FC236}">
                <a16:creationId xmlns:a16="http://schemas.microsoft.com/office/drawing/2014/main" id="{3CAEC623-0E45-8F4D-B047-C239B62F7BEE}"/>
              </a:ext>
            </a:extLst>
          </p:cNvPr>
          <p:cNvSpPr/>
          <p:nvPr/>
        </p:nvSpPr>
        <p:spPr>
          <a:xfrm rot="5400000">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6"/>
                </a:ext>
              </a:extLst>
            </a:blip>
            <a:stretch>
              <a:fillRect t="-127730" r="-182074"/>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136">
            <a:alpha val="100000"/>
          </a:srgbClr>
        </a:solidFill>
        <a:effectLst/>
      </p:bgPr>
    </p:bg>
    <p:spTree>
      <p:nvGrpSpPr>
        <p:cNvPr id="1" name=""/>
        <p:cNvGrpSpPr/>
        <p:nvPr/>
      </p:nvGrpSpPr>
      <p:grpSpPr>
        <a:xfrm>
          <a:off x="0" y="0"/>
          <a:ext cx="0" cy="0"/>
          <a:chOff x="0" y="0"/>
          <a:chExt cx="0" cy="0"/>
        </a:xfrm>
      </p:grpSpPr>
      <p:pic>
        <p:nvPicPr>
          <p:cNvPr id="8" name="Picture 2">
            <a:hlinkClick r:id="" action="ppaction://media"/>
            <a:extLst>
              <a:ext uri="{FF2B5EF4-FFF2-40B4-BE49-F238E27FC236}">
                <a16:creationId xmlns:a16="http://schemas.microsoft.com/office/drawing/2014/main" id="{E74E05DE-19CB-BDA4-FE94-1F750AD3CFFB}"/>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94" t="164" r="3316" b="3275"/>
          <a:stretch>
            <a:fillRect/>
          </a:stretch>
        </p:blipFill>
        <p:spPr>
          <a:xfrm>
            <a:off x="-200935" y="-77390"/>
            <a:ext cx="18488935" cy="10441780"/>
          </a:xfrm>
          <a:prstGeom prst="rect">
            <a:avLst/>
          </a:prstGeom>
        </p:spPr>
      </p:pic>
      <p:sp>
        <p:nvSpPr>
          <p:cNvPr id="16" name="Rectangle 15">
            <a:extLst>
              <a:ext uri="{FF2B5EF4-FFF2-40B4-BE49-F238E27FC236}">
                <a16:creationId xmlns:a16="http://schemas.microsoft.com/office/drawing/2014/main" id="{E46C86DF-4DF9-89ED-7963-991A41BEC5B8}"/>
              </a:ext>
            </a:extLst>
          </p:cNvPr>
          <p:cNvSpPr/>
          <p:nvPr/>
        </p:nvSpPr>
        <p:spPr>
          <a:xfrm>
            <a:off x="-208825" y="-77390"/>
            <a:ext cx="18504714" cy="10403085"/>
          </a:xfrm>
          <a:prstGeom prst="rect">
            <a:avLst/>
          </a:prstGeom>
          <a:gradFill flip="none" rotWithShape="1">
            <a:gsLst>
              <a:gs pos="0">
                <a:srgbClr val="001136">
                  <a:alpha val="100000"/>
                </a:srgbClr>
              </a:gs>
              <a:gs pos="24000">
                <a:srgbClr val="001136">
                  <a:alpha val="100000"/>
                </a:srgbClr>
              </a:gs>
              <a:gs pos="100000">
                <a:srgbClr val="001136">
                  <a:alpha val="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48F977-16CB-1A86-9CB0-BFC31FC2406F}"/>
              </a:ext>
            </a:extLst>
          </p:cNvPr>
          <p:cNvSpPr txBox="1"/>
          <p:nvPr/>
        </p:nvSpPr>
        <p:spPr>
          <a:xfrm>
            <a:off x="533400" y="1688895"/>
            <a:ext cx="12031578" cy="744435"/>
          </a:xfrm>
          <a:prstGeom prst="rect">
            <a:avLst/>
          </a:prstGeom>
          <a:noFill/>
        </p:spPr>
        <p:txBody>
          <a:bodyPr wrap="square">
            <a:spAutoFit/>
          </a:bodyPr>
          <a:lstStyle/>
          <a:p>
            <a:pPr>
              <a:lnSpc>
                <a:spcPts val="3920"/>
              </a:lnSpc>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Framework Alignment</a:t>
            </a:r>
            <a:endParaRPr lang="en-US" sz="7200" b="1" dirty="0">
              <a:solidFill>
                <a:schemeClr val="bg1"/>
              </a:solidFill>
              <a:latin typeface="Canva Sans Bold"/>
              <a:ea typeface="Canva Sans Bold"/>
              <a:cs typeface="Canva Sans Bold"/>
              <a:sym typeface="Canva Sans Bold"/>
            </a:endParaRPr>
          </a:p>
        </p:txBody>
      </p:sp>
      <p:graphicFrame>
        <p:nvGraphicFramePr>
          <p:cNvPr id="12" name="Table 11">
            <a:extLst>
              <a:ext uri="{FF2B5EF4-FFF2-40B4-BE49-F238E27FC236}">
                <a16:creationId xmlns:a16="http://schemas.microsoft.com/office/drawing/2014/main" id="{3A54E193-5F7E-B2BA-5A4E-001C43782F17}"/>
              </a:ext>
            </a:extLst>
          </p:cNvPr>
          <p:cNvGraphicFramePr>
            <a:graphicFrameLocks noGrp="1"/>
          </p:cNvGraphicFramePr>
          <p:nvPr>
            <p:extLst>
              <p:ext uri="{D42A27DB-BD31-4B8C-83A1-F6EECF244321}">
                <p14:modId xmlns:p14="http://schemas.microsoft.com/office/powerpoint/2010/main" val="3955331361"/>
              </p:ext>
            </p:extLst>
          </p:nvPr>
        </p:nvGraphicFramePr>
        <p:xfrm>
          <a:off x="533400" y="2606204"/>
          <a:ext cx="17221200" cy="7135705"/>
        </p:xfrm>
        <a:graphic>
          <a:graphicData uri="http://schemas.openxmlformats.org/drawingml/2006/table">
            <a:tbl>
              <a:tblPr>
                <a:tableStyleId>{BDBED569-4797-4DF1-A0F4-6AAB3CD982D8}</a:tableStyleId>
              </a:tblPr>
              <a:tblGrid>
                <a:gridCol w="2590800">
                  <a:extLst>
                    <a:ext uri="{9D8B030D-6E8A-4147-A177-3AD203B41FA5}">
                      <a16:colId xmlns:a16="http://schemas.microsoft.com/office/drawing/2014/main" val="2370878626"/>
                    </a:ext>
                  </a:extLst>
                </a:gridCol>
                <a:gridCol w="3581400">
                  <a:extLst>
                    <a:ext uri="{9D8B030D-6E8A-4147-A177-3AD203B41FA5}">
                      <a16:colId xmlns:a16="http://schemas.microsoft.com/office/drawing/2014/main" val="1728849466"/>
                    </a:ext>
                  </a:extLst>
                </a:gridCol>
                <a:gridCol w="4160520">
                  <a:extLst>
                    <a:ext uri="{9D8B030D-6E8A-4147-A177-3AD203B41FA5}">
                      <a16:colId xmlns:a16="http://schemas.microsoft.com/office/drawing/2014/main" val="1291582438"/>
                    </a:ext>
                  </a:extLst>
                </a:gridCol>
                <a:gridCol w="2316480">
                  <a:extLst>
                    <a:ext uri="{9D8B030D-6E8A-4147-A177-3AD203B41FA5}">
                      <a16:colId xmlns:a16="http://schemas.microsoft.com/office/drawing/2014/main" val="2095702505"/>
                    </a:ext>
                  </a:extLst>
                </a:gridCol>
                <a:gridCol w="4572000">
                  <a:extLst>
                    <a:ext uri="{9D8B030D-6E8A-4147-A177-3AD203B41FA5}">
                      <a16:colId xmlns:a16="http://schemas.microsoft.com/office/drawing/2014/main" val="1953126420"/>
                    </a:ext>
                  </a:extLst>
                </a:gridCol>
              </a:tblGrid>
              <a:tr h="603481">
                <a:tc>
                  <a:txBody>
                    <a:bodyPr/>
                    <a:lstStyle/>
                    <a:p>
                      <a:pPr algn="ctr">
                        <a:buNone/>
                      </a:pPr>
                      <a:r>
                        <a:rPr lang="en-US" sz="2800" b="1" dirty="0">
                          <a:solidFill>
                            <a:schemeClr val="tx2"/>
                          </a:solidFill>
                        </a:rPr>
                        <a:t>Phase</a:t>
                      </a:r>
                      <a:endParaRPr lang="en-US" sz="2800" b="1" i="0" dirty="0">
                        <a:solidFill>
                          <a:schemeClr val="tx2"/>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solidFill>
                      <a:schemeClr val="bg1"/>
                    </a:solidFill>
                  </a:tcPr>
                </a:tc>
                <a:tc>
                  <a:txBody>
                    <a:bodyPr/>
                    <a:lstStyle/>
                    <a:p>
                      <a:pPr algn="ctr">
                        <a:buNone/>
                      </a:pPr>
                      <a:r>
                        <a:rPr lang="en-US" sz="2800" b="1" dirty="0">
                          <a:solidFill>
                            <a:schemeClr val="tx2"/>
                          </a:solidFill>
                        </a:rPr>
                        <a:t>NIST CSF 2.0</a:t>
                      </a:r>
                      <a:endParaRPr lang="en-US" sz="2800" b="1" i="0" dirty="0">
                        <a:solidFill>
                          <a:schemeClr val="tx2"/>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solidFill>
                      <a:schemeClr val="bg1"/>
                    </a:solidFill>
                  </a:tcPr>
                </a:tc>
                <a:tc>
                  <a:txBody>
                    <a:bodyPr/>
                    <a:lstStyle/>
                    <a:p>
                      <a:pPr algn="ctr">
                        <a:buNone/>
                      </a:pPr>
                      <a:r>
                        <a:rPr lang="en-US" sz="2800" b="1" dirty="0">
                          <a:solidFill>
                            <a:schemeClr val="tx2"/>
                          </a:solidFill>
                        </a:rPr>
                        <a:t>ASD OT Principle</a:t>
                      </a:r>
                      <a:endParaRPr lang="en-US" sz="2800" b="1" i="0" dirty="0">
                        <a:solidFill>
                          <a:schemeClr val="tx2"/>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solidFill>
                      <a:schemeClr val="bg1"/>
                    </a:solidFill>
                  </a:tcPr>
                </a:tc>
                <a:tc>
                  <a:txBody>
                    <a:bodyPr/>
                    <a:lstStyle/>
                    <a:p>
                      <a:pPr algn="ctr">
                        <a:buNone/>
                      </a:pPr>
                      <a:r>
                        <a:rPr lang="en-US" sz="2800" b="1" dirty="0">
                          <a:solidFill>
                            <a:schemeClr val="tx2"/>
                          </a:solidFill>
                        </a:rPr>
                        <a:t>NERC CIP</a:t>
                      </a:r>
                      <a:endParaRPr lang="en-US" sz="2800" b="1" i="0" dirty="0">
                        <a:solidFill>
                          <a:schemeClr val="tx2"/>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solidFill>
                      <a:schemeClr val="bg1"/>
                    </a:solidFill>
                  </a:tcPr>
                </a:tc>
                <a:tc>
                  <a:txBody>
                    <a:bodyPr/>
                    <a:lstStyle/>
                    <a:p>
                      <a:pPr algn="ctr">
                        <a:buNone/>
                      </a:pPr>
                      <a:r>
                        <a:rPr lang="en-US" sz="2800" b="1" dirty="0">
                          <a:solidFill>
                            <a:schemeClr val="tx2"/>
                          </a:solidFill>
                        </a:rPr>
                        <a:t>Action</a:t>
                      </a:r>
                      <a:endParaRPr lang="en-US" sz="2800" b="1" i="0" dirty="0">
                        <a:solidFill>
                          <a:schemeClr val="tx2"/>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solidFill>
                      <a:schemeClr val="bg1"/>
                    </a:solidFill>
                  </a:tcPr>
                </a:tc>
                <a:extLst>
                  <a:ext uri="{0D108BD9-81ED-4DB2-BD59-A6C34878D82A}">
                    <a16:rowId xmlns:a16="http://schemas.microsoft.com/office/drawing/2014/main" val="3626064640"/>
                  </a:ext>
                </a:extLst>
              </a:tr>
              <a:tr h="1900937">
                <a:tc>
                  <a:txBody>
                    <a:bodyPr/>
                    <a:lstStyle/>
                    <a:p>
                      <a:pPr>
                        <a:buNone/>
                      </a:pPr>
                      <a:r>
                        <a:rPr lang="en-US" sz="2800" b="1" dirty="0">
                          <a:solidFill>
                            <a:schemeClr val="bg1"/>
                          </a:solidFill>
                        </a:rPr>
                        <a:t>Phase 1: Survive</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a:solidFill>
                            <a:schemeClr val="bg1"/>
                          </a:solidFill>
                        </a:rPr>
                        <a:t>GOVERN, IDENTIFY, PROTECT</a:t>
                      </a:r>
                      <a:endParaRPr lang="en-US" sz="2800" b="1" i="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Safety First (#1)</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CIP-002, CIP-007, CIP-013</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Asset inventory, OT security lead, MFA, vendor risk assessment, IR playbooks</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extLst>
                  <a:ext uri="{0D108BD9-81ED-4DB2-BD59-A6C34878D82A}">
                    <a16:rowId xmlns:a16="http://schemas.microsoft.com/office/drawing/2014/main" val="3943241367"/>
                  </a:ext>
                </a:extLst>
              </a:tr>
              <a:tr h="2160428">
                <a:tc>
                  <a:txBody>
                    <a:bodyPr/>
                    <a:lstStyle/>
                    <a:p>
                      <a:pPr>
                        <a:buNone/>
                      </a:pPr>
                      <a:r>
                        <a:rPr lang="en-US" sz="2800" b="1" dirty="0">
                          <a:solidFill>
                            <a:schemeClr val="bg1"/>
                          </a:solidFill>
                        </a:rPr>
                        <a:t>Phase 2: See</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DETECT, RESPOND</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Network Separation (#2)</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CIP-007, CIP-015</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Passive OT monitoring, SOC integration, tabletop exercises, anomaly baseline</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extLst>
                  <a:ext uri="{0D108BD9-81ED-4DB2-BD59-A6C34878D82A}">
                    <a16:rowId xmlns:a16="http://schemas.microsoft.com/office/drawing/2014/main" val="2920201728"/>
                  </a:ext>
                </a:extLst>
              </a:tr>
              <a:tr h="2470859">
                <a:tc>
                  <a:txBody>
                    <a:bodyPr/>
                    <a:lstStyle/>
                    <a:p>
                      <a:pPr>
                        <a:buNone/>
                      </a:pPr>
                      <a:r>
                        <a:rPr lang="en-US" sz="2800" b="1" dirty="0">
                          <a:solidFill>
                            <a:schemeClr val="bg1"/>
                          </a:solidFill>
                        </a:rPr>
                        <a:t>Phase 3: Lead</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a:solidFill>
                            <a:schemeClr val="bg1"/>
                          </a:solidFill>
                        </a:rPr>
                        <a:t>PROTECT, RECOVER, GOVERN</a:t>
                      </a:r>
                      <a:endParaRPr lang="en-US" sz="2800" b="1" i="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a:solidFill>
                            <a:schemeClr val="bg1"/>
                          </a:solidFill>
                        </a:rPr>
                        <a:t>Secure Remote Access (#4)</a:t>
                      </a:r>
                      <a:endParaRPr lang="en-US" sz="2800" b="1" i="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CIP-010, CIP-013</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tc>
                  <a:txBody>
                    <a:bodyPr/>
                    <a:lstStyle/>
                    <a:p>
                      <a:pPr>
                        <a:buNone/>
                      </a:pPr>
                      <a:r>
                        <a:rPr lang="en-US" sz="2800" b="1" dirty="0">
                          <a:solidFill>
                            <a:schemeClr val="bg1"/>
                          </a:solidFill>
                        </a:rPr>
                        <a:t>IT/OT segmentation, risk-based vuln </a:t>
                      </a:r>
                      <a:r>
                        <a:rPr lang="en-US" sz="2800" b="1" dirty="0" err="1">
                          <a:solidFill>
                            <a:schemeClr val="bg1"/>
                          </a:solidFill>
                        </a:rPr>
                        <a:t>mgmt</a:t>
                      </a:r>
                      <a:r>
                        <a:rPr lang="en-US" sz="2800" b="1" dirty="0">
                          <a:solidFill>
                            <a:schemeClr val="bg1"/>
                          </a:solidFill>
                        </a:rPr>
                        <a:t>, business continuity plan, continuous assessment</a:t>
                      </a:r>
                      <a:endParaRPr lang="en-US" sz="2800" b="1" i="0" dirty="0">
                        <a:solidFill>
                          <a:schemeClr val="bg1"/>
                        </a:solidFill>
                        <a:latin typeface="Arial" panose="020B0604020202020204" pitchFamily="34" charset="0"/>
                        <a:ea typeface="Tahoma" panose="020B0604030504040204" pitchFamily="34" charset="0"/>
                        <a:cs typeface="Arial" panose="020B0604020202020204" pitchFamily="34" charset="0"/>
                      </a:endParaRPr>
                    </a:p>
                  </a:txBody>
                  <a:tcPr marL="59552" marR="59552" marT="29776" marB="29776" anchor="ctr"/>
                </a:tc>
                <a:extLst>
                  <a:ext uri="{0D108BD9-81ED-4DB2-BD59-A6C34878D82A}">
                    <a16:rowId xmlns:a16="http://schemas.microsoft.com/office/drawing/2014/main" val="3369697277"/>
                  </a:ext>
                </a:extLst>
              </a:tr>
            </a:tbl>
          </a:graphicData>
        </a:graphic>
      </p:graphicFrame>
      <p:grpSp>
        <p:nvGrpSpPr>
          <p:cNvPr id="20" name="Group 19">
            <a:extLst>
              <a:ext uri="{FF2B5EF4-FFF2-40B4-BE49-F238E27FC236}">
                <a16:creationId xmlns:a16="http://schemas.microsoft.com/office/drawing/2014/main" id="{DE3EFB9B-25A9-CC56-28B3-7D7AC5F72FE9}"/>
              </a:ext>
            </a:extLst>
          </p:cNvPr>
          <p:cNvGrpSpPr/>
          <p:nvPr/>
        </p:nvGrpSpPr>
        <p:grpSpPr>
          <a:xfrm>
            <a:off x="16973621" y="8970630"/>
            <a:ext cx="1104900" cy="1109382"/>
            <a:chOff x="8458200" y="1333500"/>
            <a:chExt cx="1104900" cy="1109382"/>
          </a:xfrm>
        </p:grpSpPr>
        <p:sp>
          <p:nvSpPr>
            <p:cNvPr id="21" name="Rectangle 20">
              <a:extLst>
                <a:ext uri="{FF2B5EF4-FFF2-40B4-BE49-F238E27FC236}">
                  <a16:creationId xmlns:a16="http://schemas.microsoft.com/office/drawing/2014/main" id="{5158D588-E897-42B3-0ACA-ABFA6C5BDC14}"/>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9B01212-2755-EC9E-144E-94CCCA4086A7}"/>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DB34A02-F435-3350-DE1D-7C46E6A95209}"/>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54FDA39-CA72-EF11-7286-ABD2885169E0}"/>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Freeform 13">
            <a:extLst>
              <a:ext uri="{FF2B5EF4-FFF2-40B4-BE49-F238E27FC236}">
                <a16:creationId xmlns:a16="http://schemas.microsoft.com/office/drawing/2014/main" id="{344B09F8-B815-A663-6D5E-FAF06CA2C6B6}"/>
              </a:ext>
            </a:extLst>
          </p:cNvPr>
          <p:cNvSpPr/>
          <p:nvPr/>
        </p:nvSpPr>
        <p:spPr>
          <a:xfrm>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6"/>
                </a:ext>
              </a:extLst>
            </a:blip>
            <a:stretch>
              <a:fillRect t="-127730" r="-182074"/>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136">
            <a:alpha val="100000"/>
          </a:srgbClr>
        </a:solidFill>
        <a:effectLst/>
      </p:bgPr>
    </p:bg>
    <p:spTree>
      <p:nvGrpSpPr>
        <p:cNvPr id="1" name=""/>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4C4953B8-4BD6-B5A1-B280-CFA35B847A22}"/>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94" t="164" r="3316" b="3275"/>
          <a:stretch>
            <a:fillRect/>
          </a:stretch>
        </p:blipFill>
        <p:spPr>
          <a:xfrm>
            <a:off x="-131465" y="-107762"/>
            <a:ext cx="18488935" cy="10441780"/>
          </a:xfrm>
          <a:prstGeom prst="rect">
            <a:avLst/>
          </a:prstGeom>
        </p:spPr>
      </p:pic>
      <p:sp>
        <p:nvSpPr>
          <p:cNvPr id="8" name="TextBox 5">
            <a:extLst>
              <a:ext uri="{FF2B5EF4-FFF2-40B4-BE49-F238E27FC236}">
                <a16:creationId xmlns:a16="http://schemas.microsoft.com/office/drawing/2014/main" id="{5B9E7B36-EBC2-7AF8-3505-60649DA1D206}"/>
              </a:ext>
            </a:extLst>
          </p:cNvPr>
          <p:cNvSpPr txBox="1"/>
          <p:nvPr/>
        </p:nvSpPr>
        <p:spPr>
          <a:xfrm>
            <a:off x="-5962155" y="4372582"/>
            <a:ext cx="14734175" cy="10431661"/>
          </a:xfrm>
          <a:prstGeom prst="rect">
            <a:avLst/>
          </a:prstGeom>
        </p:spPr>
        <p:txBody>
          <a:bodyPr lIns="50800" tIns="50800" rIns="50800" bIns="50800" rtlCol="0" anchor="ctr"/>
          <a:lstStyle/>
          <a:p>
            <a:pPr marL="0" lvl="0" indent="0" algn="ctr">
              <a:lnSpc>
                <a:spcPts val="2659"/>
              </a:lnSpc>
              <a:spcBef>
                <a:spcPct val="0"/>
              </a:spcBef>
            </a:pPr>
            <a:r>
              <a:rPr lang="en-US" sz="1899" dirty="0">
                <a:solidFill>
                  <a:srgbClr val="000000"/>
                </a:solidFill>
                <a:latin typeface="Canva Sans"/>
                <a:ea typeface="Canva Sans"/>
                <a:cs typeface="Canva Sans"/>
                <a:sym typeface="Canva Sans"/>
              </a:rPr>
              <a:t>c</a:t>
            </a:r>
          </a:p>
        </p:txBody>
      </p:sp>
      <p:sp>
        <p:nvSpPr>
          <p:cNvPr id="10" name="Rectangle 9">
            <a:extLst>
              <a:ext uri="{FF2B5EF4-FFF2-40B4-BE49-F238E27FC236}">
                <a16:creationId xmlns:a16="http://schemas.microsoft.com/office/drawing/2014/main" id="{BA8F3D44-0B64-16AD-303F-C6B9E19133A2}"/>
              </a:ext>
            </a:extLst>
          </p:cNvPr>
          <p:cNvSpPr/>
          <p:nvPr/>
        </p:nvSpPr>
        <p:spPr>
          <a:xfrm>
            <a:off x="-131465" y="-125418"/>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p:cNvSpPr txBox="1"/>
          <p:nvPr/>
        </p:nvSpPr>
        <p:spPr>
          <a:xfrm>
            <a:off x="443026" y="3619500"/>
            <a:ext cx="13525500" cy="5078313"/>
          </a:xfrm>
          <a:prstGeom prst="rect">
            <a:avLst/>
          </a:prstGeom>
        </p:spPr>
        <p:txBody>
          <a:bodyPr wrap="square" lIns="0" tIns="0" rIns="0" bIns="0" rtlCol="0" anchor="t">
            <a:spAutoFit/>
          </a:bodyPr>
          <a:lstStyle/>
          <a:p>
            <a:pPr>
              <a:lnSpc>
                <a:spcPts val="3286"/>
              </a:lnSpc>
              <a:spcBef>
                <a:spcPct val="0"/>
              </a:spcBef>
            </a:pPr>
            <a:r>
              <a:rPr lang="en-US" sz="2800" b="1" dirty="0">
                <a:solidFill>
                  <a:srgbClr val="FFFFFF"/>
                </a:solidFill>
                <a:latin typeface="Canva Sans Bold"/>
                <a:ea typeface="Canva Sans Bold"/>
                <a:cs typeface="Canva Sans Bold"/>
                <a:sym typeface="Canva Sans Bold"/>
              </a:rPr>
              <a:t>The threat actors already know your architecture.</a:t>
            </a:r>
          </a:p>
          <a:p>
            <a:pPr>
              <a:lnSpc>
                <a:spcPts val="3286"/>
              </a:lnSpc>
              <a:spcBef>
                <a:spcPct val="0"/>
              </a:spcBef>
            </a:pPr>
            <a:r>
              <a:rPr lang="en-US" sz="2800" b="1" dirty="0">
                <a:solidFill>
                  <a:srgbClr val="FFFFFF"/>
                </a:solidFill>
                <a:latin typeface="Canva Sans Bold"/>
                <a:ea typeface="Canva Sans Bold"/>
                <a:cs typeface="Canva Sans Bold"/>
                <a:sym typeface="Canva Sans Bold"/>
              </a:rPr>
              <a:t>Volt Typhoon is pre-positioned. CyberAv3ngers is active. Sandworm is patient.</a:t>
            </a:r>
          </a:p>
          <a:p>
            <a:pPr>
              <a:lnSpc>
                <a:spcPts val="3286"/>
              </a:lnSpc>
              <a:spcBef>
                <a:spcPct val="0"/>
              </a:spcBef>
            </a:pPr>
            <a:endParaRPr lang="en-US" sz="2800" b="1" dirty="0">
              <a:solidFill>
                <a:srgbClr val="FFFFFF"/>
              </a:solidFill>
              <a:latin typeface="Canva Sans Bold"/>
              <a:ea typeface="Canva Sans Bold"/>
              <a:cs typeface="Canva Sans Bold"/>
              <a:sym typeface="Canva Sans Bold"/>
            </a:endParaRPr>
          </a:p>
          <a:p>
            <a:pPr>
              <a:lnSpc>
                <a:spcPts val="3286"/>
              </a:lnSpc>
              <a:spcBef>
                <a:spcPct val="0"/>
              </a:spcBef>
            </a:pPr>
            <a:r>
              <a:rPr lang="en-US" sz="2800" b="1" dirty="0">
                <a:solidFill>
                  <a:srgbClr val="FFFFFF"/>
                </a:solidFill>
                <a:latin typeface="Canva Sans Bold"/>
                <a:ea typeface="Canva Sans Bold"/>
                <a:cs typeface="Canva Sans Bold"/>
                <a:sym typeface="Canva Sans Bold"/>
              </a:rPr>
              <a:t>Inaction is not the absence of a decision.</a:t>
            </a:r>
          </a:p>
          <a:p>
            <a:pPr>
              <a:lnSpc>
                <a:spcPts val="3286"/>
              </a:lnSpc>
              <a:spcBef>
                <a:spcPct val="0"/>
              </a:spcBef>
            </a:pPr>
            <a:r>
              <a:rPr lang="en-US" sz="2800" b="1" dirty="0">
                <a:solidFill>
                  <a:srgbClr val="FFFFFF"/>
                </a:solidFill>
                <a:latin typeface="Canva Sans Bold"/>
                <a:ea typeface="Canva Sans Bold"/>
                <a:cs typeface="Canva Sans Bold"/>
                <a:sym typeface="Canva Sans Bold"/>
              </a:rPr>
              <a:t>It is a decision — with a cost.</a:t>
            </a:r>
          </a:p>
          <a:p>
            <a:pPr>
              <a:lnSpc>
                <a:spcPts val="3286"/>
              </a:lnSpc>
              <a:spcBef>
                <a:spcPct val="0"/>
              </a:spcBef>
            </a:pPr>
            <a:endParaRPr lang="en-US" sz="2800" b="1" dirty="0">
              <a:solidFill>
                <a:srgbClr val="FFFFFF"/>
              </a:solidFill>
              <a:latin typeface="Canva Sans Bold"/>
              <a:ea typeface="Canva Sans Bold"/>
              <a:cs typeface="Canva Sans Bold"/>
              <a:sym typeface="Canva Sans Bold"/>
            </a:endParaRPr>
          </a:p>
          <a:p>
            <a:pPr>
              <a:lnSpc>
                <a:spcPts val="3286"/>
              </a:lnSpc>
              <a:spcBef>
                <a:spcPct val="0"/>
              </a:spcBef>
            </a:pPr>
            <a:r>
              <a:rPr lang="en-US" sz="2800" b="1" dirty="0">
                <a:solidFill>
                  <a:srgbClr val="FFFFFF"/>
                </a:solidFill>
                <a:latin typeface="Canva Sans Bold"/>
                <a:ea typeface="Canva Sans Bold"/>
                <a:cs typeface="Canva Sans Bold"/>
                <a:sym typeface="Canva Sans Bold"/>
              </a:rPr>
              <a:t>The only question left:</a:t>
            </a:r>
          </a:p>
          <a:p>
            <a:pPr>
              <a:lnSpc>
                <a:spcPts val="3286"/>
              </a:lnSpc>
              <a:spcBef>
                <a:spcPct val="0"/>
              </a:spcBef>
            </a:pPr>
            <a:r>
              <a:rPr lang="en-US" sz="2800" b="1" dirty="0">
                <a:solidFill>
                  <a:srgbClr val="FFFFFF"/>
                </a:solidFill>
                <a:latin typeface="Canva Sans Bold"/>
                <a:ea typeface="Canva Sans Bold"/>
                <a:cs typeface="Canva Sans Bold"/>
                <a:sym typeface="Canva Sans Bold"/>
              </a:rPr>
              <a:t>Does Royal Duke Infrastructure Group know its own architecture better than they do?</a:t>
            </a:r>
          </a:p>
          <a:p>
            <a:pPr>
              <a:lnSpc>
                <a:spcPts val="3286"/>
              </a:lnSpc>
              <a:spcBef>
                <a:spcPct val="0"/>
              </a:spcBef>
            </a:pPr>
            <a:endParaRPr lang="en-US" sz="2800" b="1" dirty="0">
              <a:solidFill>
                <a:srgbClr val="FFFFFF"/>
              </a:solidFill>
              <a:latin typeface="Canva Sans Bold"/>
              <a:ea typeface="Canva Sans Bold"/>
              <a:cs typeface="Canva Sans Bold"/>
              <a:sym typeface="Canva Sans Bold"/>
            </a:endParaRPr>
          </a:p>
          <a:p>
            <a:pPr>
              <a:lnSpc>
                <a:spcPts val="3286"/>
              </a:lnSpc>
              <a:spcBef>
                <a:spcPct val="0"/>
              </a:spcBef>
            </a:pPr>
            <a:r>
              <a:rPr lang="en-US" sz="2800" b="1" dirty="0">
                <a:solidFill>
                  <a:srgbClr val="FFFFFF"/>
                </a:solidFill>
                <a:latin typeface="Canva Sans Bold"/>
                <a:ea typeface="Canva Sans Bold"/>
                <a:cs typeface="Canva Sans Bold"/>
                <a:sym typeface="Canva Sans Bold"/>
              </a:rPr>
              <a:t>Act now. Or explain later.</a:t>
            </a:r>
          </a:p>
        </p:txBody>
      </p:sp>
      <p:sp>
        <p:nvSpPr>
          <p:cNvPr id="4" name="TextBox 3">
            <a:extLst>
              <a:ext uri="{FF2B5EF4-FFF2-40B4-BE49-F238E27FC236}">
                <a16:creationId xmlns:a16="http://schemas.microsoft.com/office/drawing/2014/main" id="{FC2408E9-95D4-3257-7591-F8ADEF42FF24}"/>
              </a:ext>
            </a:extLst>
          </p:cNvPr>
          <p:cNvSpPr txBox="1"/>
          <p:nvPr/>
        </p:nvSpPr>
        <p:spPr>
          <a:xfrm>
            <a:off x="443026" y="976828"/>
            <a:ext cx="12031578"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You Don’t Get to </a:t>
            </a:r>
            <a:r>
              <a:rPr lang="en-US" sz="7200" b="1" dirty="0" err="1">
                <a:solidFill>
                  <a:schemeClr val="bg1"/>
                </a:solidFill>
                <a:latin typeface="Pattanakarn SemiCondensed Medium"/>
                <a:ea typeface="Pattanakarn SemiCondensed Medium"/>
                <a:cs typeface="Pattanakarn SemiCondensed Medium"/>
                <a:sym typeface="Pattanakarn SemiCondensed Medium"/>
              </a:rPr>
              <a:t>Opt</a:t>
            </a:r>
            <a:r>
              <a:rPr lang="en-US" sz="7200" b="1" dirty="0">
                <a:solidFill>
                  <a:schemeClr val="bg1"/>
                </a:solidFill>
                <a:latin typeface="Pattanakarn SemiCondensed Medium"/>
                <a:ea typeface="Pattanakarn SemiCondensed Medium"/>
                <a:cs typeface="Pattanakarn SemiCondensed Medium"/>
                <a:sym typeface="Pattanakarn SemiCondensed Medium"/>
              </a:rPr>
              <a:t> Out of Being a Target</a:t>
            </a:r>
            <a:endParaRPr lang="en-US" sz="7200" b="1" dirty="0">
              <a:solidFill>
                <a:schemeClr val="bg1"/>
              </a:solidFill>
              <a:latin typeface="Canva Sans Bold"/>
              <a:ea typeface="Canva Sans Bold"/>
              <a:cs typeface="Canva Sans Bold"/>
              <a:sym typeface="Canva Sans Bold"/>
            </a:endParaRPr>
          </a:p>
        </p:txBody>
      </p:sp>
      <p:grpSp>
        <p:nvGrpSpPr>
          <p:cNvPr id="11" name="Group 10">
            <a:extLst>
              <a:ext uri="{FF2B5EF4-FFF2-40B4-BE49-F238E27FC236}">
                <a16:creationId xmlns:a16="http://schemas.microsoft.com/office/drawing/2014/main" id="{EAFD1A7B-6F92-0CCF-81D4-26AAF2375D0E}"/>
              </a:ext>
            </a:extLst>
          </p:cNvPr>
          <p:cNvGrpSpPr/>
          <p:nvPr/>
        </p:nvGrpSpPr>
        <p:grpSpPr>
          <a:xfrm>
            <a:off x="16973621" y="8970630"/>
            <a:ext cx="1104900" cy="1109382"/>
            <a:chOff x="8458200" y="1333500"/>
            <a:chExt cx="1104900" cy="1109382"/>
          </a:xfrm>
        </p:grpSpPr>
        <p:sp>
          <p:nvSpPr>
            <p:cNvPr id="12" name="Rectangle 11">
              <a:extLst>
                <a:ext uri="{FF2B5EF4-FFF2-40B4-BE49-F238E27FC236}">
                  <a16:creationId xmlns:a16="http://schemas.microsoft.com/office/drawing/2014/main" id="{B87CE1A4-F358-2A77-DD60-E55BBD9C93E9}"/>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B367003-8F29-981E-9958-BFC91E026D3C}"/>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3D26D4E-5AE6-43E8-5D9D-F327305AEEA3}"/>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0C42915-F745-379C-16DE-3020B32EFF81}"/>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13">
            <a:extLst>
              <a:ext uri="{FF2B5EF4-FFF2-40B4-BE49-F238E27FC236}">
                <a16:creationId xmlns:a16="http://schemas.microsoft.com/office/drawing/2014/main" id="{78E58B7B-3657-8C9B-8137-7D5992A1839B}"/>
              </a:ext>
            </a:extLst>
          </p:cNvPr>
          <p:cNvSpPr/>
          <p:nvPr/>
        </p:nvSpPr>
        <p:spPr>
          <a:xfrm rot="5400000">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6"/>
                </a:ext>
              </a:extLst>
            </a:blip>
            <a:stretch>
              <a:fillRect t="-127730" r="-182074"/>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373BA-1703-C33E-B1BB-DBE9F91373EF}"/>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BA7BB9D6-79DD-D7C6-4952-30C91A37A3A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7D494DAA-313F-4F17-A0E9-DD8620BE859B}"/>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8EF7BBD-856C-253E-F65B-0F97215C050F}"/>
              </a:ext>
            </a:extLst>
          </p:cNvPr>
          <p:cNvSpPr txBox="1"/>
          <p:nvPr/>
        </p:nvSpPr>
        <p:spPr>
          <a:xfrm>
            <a:off x="514108" y="972922"/>
            <a:ext cx="15616402" cy="1200329"/>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Sources</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2AD82F22-9649-BB49-E94D-FBA091D0D33F}"/>
              </a:ext>
            </a:extLst>
          </p:cNvPr>
          <p:cNvSpPr txBox="1"/>
          <p:nvPr/>
        </p:nvSpPr>
        <p:spPr>
          <a:xfrm>
            <a:off x="685800" y="2135150"/>
            <a:ext cx="17702667" cy="6488828"/>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solidFill>
                  <a:schemeClr val="bg1"/>
                </a:solidFill>
              </a:rPr>
              <a:t>ODNI Annual Threat Assessment 2026 </a:t>
            </a:r>
          </a:p>
          <a:p>
            <a:pPr marL="457200" indent="-457200">
              <a:lnSpc>
                <a:spcPct val="150000"/>
              </a:lnSpc>
              <a:buFont typeface="Arial" panose="020B0604020202020204" pitchFamily="34" charset="0"/>
              <a:buChar char="•"/>
            </a:pPr>
            <a:r>
              <a:rPr lang="en-US" sz="2800" dirty="0">
                <a:solidFill>
                  <a:schemeClr val="bg1"/>
                </a:solidFill>
              </a:rPr>
              <a:t>CISA: Foundations for OT</a:t>
            </a:r>
          </a:p>
          <a:p>
            <a:pPr marL="457200" indent="-457200">
              <a:lnSpc>
                <a:spcPct val="150000"/>
              </a:lnSpc>
              <a:buFont typeface="Arial" panose="020B0604020202020204" pitchFamily="34" charset="0"/>
              <a:buChar char="•"/>
            </a:pPr>
            <a:r>
              <a:rPr lang="en-US" sz="2800" dirty="0">
                <a:solidFill>
                  <a:schemeClr val="bg1"/>
                </a:solidFill>
              </a:rPr>
              <a:t>Cybersecurity CISA / ASD: Principles of OT Cyber Security (2024) </a:t>
            </a:r>
          </a:p>
          <a:p>
            <a:pPr marL="457200" indent="-457200">
              <a:lnSpc>
                <a:spcPct val="150000"/>
              </a:lnSpc>
              <a:buFont typeface="Arial" panose="020B0604020202020204" pitchFamily="34" charset="0"/>
              <a:buChar char="•"/>
            </a:pPr>
            <a:r>
              <a:rPr lang="en-US" sz="2800" dirty="0">
                <a:solidFill>
                  <a:schemeClr val="bg1"/>
                </a:solidFill>
              </a:rPr>
              <a:t>CISA / NSA /FBI: Volt Typhoon Advisory (May 2023) NERC CIP Standards (CIP-002, 005,</a:t>
            </a:r>
          </a:p>
          <a:p>
            <a:pPr marL="457200" indent="-457200">
              <a:lnSpc>
                <a:spcPct val="150000"/>
              </a:lnSpc>
              <a:buFont typeface="Arial" panose="020B0604020202020204" pitchFamily="34" charset="0"/>
              <a:buChar char="•"/>
            </a:pPr>
            <a:r>
              <a:rPr lang="en-US" sz="2800" dirty="0">
                <a:solidFill>
                  <a:schemeClr val="bg1"/>
                </a:solidFill>
              </a:rPr>
              <a:t>007, 010, 013, 015) NIST Cybersecurity Framework 2.0 (February 2024) </a:t>
            </a:r>
          </a:p>
          <a:p>
            <a:pPr marL="457200" indent="-457200">
              <a:lnSpc>
                <a:spcPct val="150000"/>
              </a:lnSpc>
              <a:buFont typeface="Arial" panose="020B0604020202020204" pitchFamily="34" charset="0"/>
              <a:buChar char="•"/>
            </a:pPr>
            <a:r>
              <a:rPr lang="en-US" sz="2800" dirty="0">
                <a:solidFill>
                  <a:schemeClr val="bg1"/>
                </a:solidFill>
              </a:rPr>
              <a:t>FBI Director Wray, Senate Testimony (January 2024) </a:t>
            </a:r>
          </a:p>
          <a:p>
            <a:pPr marL="457200" indent="-457200">
              <a:lnSpc>
                <a:spcPct val="150000"/>
              </a:lnSpc>
              <a:buFont typeface="Arial" panose="020B0604020202020204" pitchFamily="34" charset="0"/>
              <a:buChar char="•"/>
            </a:pPr>
            <a:r>
              <a:rPr lang="en-US" sz="2800" dirty="0">
                <a:solidFill>
                  <a:schemeClr val="bg1"/>
                </a:solidFill>
              </a:rPr>
              <a:t>Dragos: 2025 OT Cybersecurity Year in Review MITRE ATT&amp;CK for ICS (T0836, T0856, T0866)</a:t>
            </a:r>
          </a:p>
          <a:p>
            <a:pPr marL="457200" indent="-457200">
              <a:lnSpc>
                <a:spcPct val="150000"/>
              </a:lnSpc>
              <a:buFont typeface="Arial" panose="020B0604020202020204" pitchFamily="34" charset="0"/>
              <a:buChar char="•"/>
            </a:pPr>
            <a:r>
              <a:rPr lang="en-US" sz="2800" dirty="0">
                <a:solidFill>
                  <a:schemeClr val="bg1"/>
                </a:solidFill>
              </a:rPr>
              <a:t>Cushman &amp; Wakefield: Global Data Center Rankings 2024 Virginia </a:t>
            </a:r>
          </a:p>
          <a:p>
            <a:pPr marL="457200" indent="-457200">
              <a:lnSpc>
                <a:spcPct val="150000"/>
              </a:lnSpc>
              <a:buFont typeface="Arial" panose="020B0604020202020204" pitchFamily="34" charset="0"/>
              <a:buChar char="•"/>
            </a:pPr>
            <a:r>
              <a:rPr lang="en-US" sz="2800" dirty="0">
                <a:solidFill>
                  <a:schemeClr val="bg1"/>
                </a:solidFill>
              </a:rPr>
              <a:t>JLARC: Data Centers in Virginia (2024) ITIC: 2024 Hourly Cost of Downtime Survey</a:t>
            </a:r>
          </a:p>
          <a:p>
            <a:pPr marL="457200" indent="-457200">
              <a:lnSpc>
                <a:spcPct val="150000"/>
              </a:lnSpc>
              <a:buFont typeface="Arial" panose="020B0604020202020204" pitchFamily="34" charset="0"/>
              <a:buChar char="•"/>
            </a:pPr>
            <a:r>
              <a:rPr lang="en-US" sz="2800" dirty="0">
                <a:solidFill>
                  <a:schemeClr val="bg1"/>
                </a:solidFill>
              </a:rPr>
              <a:t>Lockheed Martin Cyber Kill Chain (2011) Cybersecurity Dive, March 23 2026 (Lockheed / APT Iran — claims unverified)</a:t>
            </a:r>
          </a:p>
        </p:txBody>
      </p:sp>
      <p:grpSp>
        <p:nvGrpSpPr>
          <p:cNvPr id="2" name="Group 1">
            <a:extLst>
              <a:ext uri="{FF2B5EF4-FFF2-40B4-BE49-F238E27FC236}">
                <a16:creationId xmlns:a16="http://schemas.microsoft.com/office/drawing/2014/main" id="{76AE5598-3677-2851-1131-459CA948FC29}"/>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88E7E4D8-CC31-E9A1-02B5-2324F4B02FBB}"/>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BA0A1B9-75AC-16CF-21EE-F2A2B9D6CB3B}"/>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2DF89C-F1AC-571F-F784-C41C4BD2469E}"/>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F088F9A-BDAD-7991-6CFF-4A9455AD4B28}"/>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13">
            <a:extLst>
              <a:ext uri="{FF2B5EF4-FFF2-40B4-BE49-F238E27FC236}">
                <a16:creationId xmlns:a16="http://schemas.microsoft.com/office/drawing/2014/main" id="{80D5BAA2-CEF4-CF16-637C-2092B7E74741}"/>
              </a:ext>
            </a:extLst>
          </p:cNvPr>
          <p:cNvSpPr/>
          <p:nvPr/>
        </p:nvSpPr>
        <p:spPr>
          <a:xfrm rot="5400000">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5"/>
                </a:ext>
              </a:extLst>
            </a:blip>
            <a:stretch>
              <a:fillRect t="-127730" r="-182074"/>
            </a:stretch>
          </a:blipFill>
        </p:spPr>
        <p:txBody>
          <a:bodyPr/>
          <a:lstStyle/>
          <a:p>
            <a:endParaRPr lang="en-US"/>
          </a:p>
        </p:txBody>
      </p:sp>
    </p:spTree>
    <p:extLst>
      <p:ext uri="{BB962C8B-B14F-4D97-AF65-F5344CB8AC3E}">
        <p14:creationId xmlns:p14="http://schemas.microsoft.com/office/powerpoint/2010/main" val="63052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4CF87-D39F-2398-5761-B45746A820A3}"/>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CA885A01-67B0-D870-57AE-C1925A7AD0FD}"/>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7A060651-9BAF-40DC-9D14-DA0A061B4A45}"/>
              </a:ext>
            </a:extLst>
          </p:cNvPr>
          <p:cNvSpPr/>
          <p:nvPr/>
        </p:nvSpPr>
        <p:spPr>
          <a:xfrm>
            <a:off x="-100468" y="-77390"/>
            <a:ext cx="18488935" cy="10459436"/>
          </a:xfrm>
          <a:prstGeom prst="rect">
            <a:avLst/>
          </a:prstGeom>
          <a:gradFill flip="none" rotWithShape="1">
            <a:gsLst>
              <a:gs pos="0">
                <a:srgbClr val="001136">
                  <a:alpha val="100000"/>
                </a:srgbClr>
              </a:gs>
              <a:gs pos="34000">
                <a:srgbClr val="001136">
                  <a:alpha val="100000"/>
                </a:srgbClr>
              </a:gs>
              <a:gs pos="100000">
                <a:srgbClr val="001136">
                  <a:alpha val="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oup 2">
            <a:extLst>
              <a:ext uri="{FF2B5EF4-FFF2-40B4-BE49-F238E27FC236}">
                <a16:creationId xmlns:a16="http://schemas.microsoft.com/office/drawing/2014/main" id="{E57EA08C-27A2-565D-1715-E36AD8201296}"/>
              </a:ext>
            </a:extLst>
          </p:cNvPr>
          <p:cNvGrpSpPr/>
          <p:nvPr/>
        </p:nvGrpSpPr>
        <p:grpSpPr>
          <a:xfrm>
            <a:off x="6238753" y="3943171"/>
            <a:ext cx="5810492" cy="2400658"/>
            <a:chOff x="-4800600" y="3351834"/>
            <a:chExt cx="5810492" cy="2400658"/>
          </a:xfrm>
        </p:grpSpPr>
        <p:sp>
          <p:nvSpPr>
            <p:cNvPr id="8" name="TextBox 7">
              <a:extLst>
                <a:ext uri="{FF2B5EF4-FFF2-40B4-BE49-F238E27FC236}">
                  <a16:creationId xmlns:a16="http://schemas.microsoft.com/office/drawing/2014/main" id="{04E3B3F7-AA42-818E-5CC5-5AA91CCF2B5A}"/>
                </a:ext>
              </a:extLst>
            </p:cNvPr>
            <p:cNvSpPr txBox="1"/>
            <p:nvPr/>
          </p:nvSpPr>
          <p:spPr>
            <a:xfrm>
              <a:off x="-4800600" y="3351834"/>
              <a:ext cx="5810492" cy="1200329"/>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Thank You</a:t>
              </a:r>
              <a:endParaRPr lang="en-US" sz="7200" b="1" dirty="0">
                <a:solidFill>
                  <a:schemeClr val="bg1"/>
                </a:solidFill>
                <a:latin typeface="Canva Sans Bold"/>
                <a:ea typeface="Canva Sans Bold"/>
                <a:cs typeface="Canva Sans Bold"/>
                <a:sym typeface="Canva Sans Bold"/>
              </a:endParaRPr>
            </a:p>
          </p:txBody>
        </p:sp>
        <p:sp>
          <p:nvSpPr>
            <p:cNvPr id="2" name="TextBox 1">
              <a:extLst>
                <a:ext uri="{FF2B5EF4-FFF2-40B4-BE49-F238E27FC236}">
                  <a16:creationId xmlns:a16="http://schemas.microsoft.com/office/drawing/2014/main" id="{C5952298-531F-7EC4-70C3-9E2EF42F1D45}"/>
                </a:ext>
              </a:extLst>
            </p:cNvPr>
            <p:cNvSpPr txBox="1"/>
            <p:nvPr/>
          </p:nvSpPr>
          <p:spPr>
            <a:xfrm>
              <a:off x="-4800600" y="4552163"/>
              <a:ext cx="5810492" cy="1200329"/>
            </a:xfrm>
            <a:prstGeom prst="rect">
              <a:avLst/>
            </a:prstGeom>
            <a:noFill/>
          </p:spPr>
          <p:txBody>
            <a:bodyPr wrap="square">
              <a:spAutoFit/>
            </a:bodyPr>
            <a:lstStyle/>
            <a:p>
              <a:pPr>
                <a:spcBef>
                  <a:spcPct val="0"/>
                </a:spcBef>
              </a:pPr>
              <a:r>
                <a:rPr lang="en-US" sz="7200" b="1" u="sng" dirty="0">
                  <a:solidFill>
                    <a:schemeClr val="bg1"/>
                  </a:solidFill>
                  <a:latin typeface="Pattanakarn SemiCondensed Medium"/>
                  <a:ea typeface="Pattanakarn SemiCondensed Medium"/>
                  <a:cs typeface="Pattanakarn SemiCondensed Medium"/>
                  <a:sym typeface="Pattanakarn SemiCondensed Medium"/>
                </a:rPr>
                <a:t>Questions?</a:t>
              </a:r>
              <a:endParaRPr lang="en-US" sz="7200" b="1" u="sng" dirty="0">
                <a:solidFill>
                  <a:schemeClr val="bg1"/>
                </a:solidFill>
                <a:latin typeface="Canva Sans Bold"/>
                <a:ea typeface="Canva Sans Bold"/>
                <a:cs typeface="Canva Sans Bold"/>
                <a:sym typeface="Canva Sans Bold"/>
              </a:endParaRPr>
            </a:p>
          </p:txBody>
        </p:sp>
      </p:grpSp>
      <p:grpSp>
        <p:nvGrpSpPr>
          <p:cNvPr id="6" name="Group 5">
            <a:extLst>
              <a:ext uri="{FF2B5EF4-FFF2-40B4-BE49-F238E27FC236}">
                <a16:creationId xmlns:a16="http://schemas.microsoft.com/office/drawing/2014/main" id="{DF2CADD8-1536-3B77-E677-19F22D9FCD97}"/>
              </a:ext>
            </a:extLst>
          </p:cNvPr>
          <p:cNvGrpSpPr/>
          <p:nvPr/>
        </p:nvGrpSpPr>
        <p:grpSpPr>
          <a:xfrm>
            <a:off x="16973621" y="8970630"/>
            <a:ext cx="1104900" cy="1109382"/>
            <a:chOff x="8458200" y="1333500"/>
            <a:chExt cx="1104900" cy="1109382"/>
          </a:xfrm>
        </p:grpSpPr>
        <p:sp>
          <p:nvSpPr>
            <p:cNvPr id="7" name="Rectangle 6">
              <a:extLst>
                <a:ext uri="{FF2B5EF4-FFF2-40B4-BE49-F238E27FC236}">
                  <a16:creationId xmlns:a16="http://schemas.microsoft.com/office/drawing/2014/main" id="{425E434F-ED84-D390-3E11-19BDE3F6303A}"/>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E3888CE-2124-48D2-5A9A-F395D69271B5}"/>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2CDA4C1-3DA0-5D6A-483D-4353391BAF50}"/>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DF75C3-2572-693B-AED7-BB1C905F319A}"/>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Freeform 13">
            <a:extLst>
              <a:ext uri="{FF2B5EF4-FFF2-40B4-BE49-F238E27FC236}">
                <a16:creationId xmlns:a16="http://schemas.microsoft.com/office/drawing/2014/main" id="{AC2B335F-BC17-255C-BB63-8008C2CDBAFF}"/>
              </a:ext>
            </a:extLst>
          </p:cNvPr>
          <p:cNvSpPr/>
          <p:nvPr/>
        </p:nvSpPr>
        <p:spPr>
          <a:xfrm>
            <a:off x="16355619" y="804656"/>
            <a:ext cx="875106" cy="256080"/>
          </a:xfrm>
          <a:custGeom>
            <a:avLst/>
            <a:gdLst/>
            <a:ahLst/>
            <a:cxnLst/>
            <a:rect l="l" t="t" r="r" b="b"/>
            <a:pathLst>
              <a:path w="875106" h="256080">
                <a:moveTo>
                  <a:pt x="0" y="0"/>
                </a:moveTo>
                <a:lnTo>
                  <a:pt x="875106" y="0"/>
                </a:lnTo>
                <a:lnTo>
                  <a:pt x="875106" y="256080"/>
                </a:lnTo>
                <a:lnTo>
                  <a:pt x="0" y="256080"/>
                </a:lnTo>
                <a:lnTo>
                  <a:pt x="0" y="0"/>
                </a:lnTo>
                <a:close/>
              </a:path>
            </a:pathLst>
          </a:custGeom>
          <a:blipFill>
            <a:blip>
              <a:extLst>
                <a:ext uri="{96DAC541-7B7A-43D3-8B79-37D633B846F1}">
                  <asvg:svgBlip xmlns:asvg="http://schemas.microsoft.com/office/drawing/2016/SVG/main" r:embed="rId6"/>
                </a:ext>
              </a:extLst>
            </a:blip>
            <a:stretch>
              <a:fillRect t="-127730" r="-182074"/>
            </a:stretch>
          </a:blipFill>
        </p:spPr>
        <p:txBody>
          <a:bodyPr/>
          <a:lstStyle/>
          <a:p>
            <a:endParaRPr lang="en-US"/>
          </a:p>
        </p:txBody>
      </p:sp>
    </p:spTree>
    <p:extLst>
      <p:ext uri="{BB962C8B-B14F-4D97-AF65-F5344CB8AC3E}">
        <p14:creationId xmlns:p14="http://schemas.microsoft.com/office/powerpoint/2010/main" val="19605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0D506-DD25-22D2-85EE-624D5F7F5484}"/>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55E60827-B07D-E0C1-0EC4-9282D34B0D9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726A8508-3639-2213-FC9E-A4C1B609DEC5}"/>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597132-8458-5CB3-3F8F-2409FAC50F28}"/>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Why focus on OT when Royal Duke could just Improve IS?</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8F32CDC5-E7A3-773A-15EF-8DE4288273D5}"/>
              </a:ext>
            </a:extLst>
          </p:cNvPr>
          <p:cNvSpPr txBox="1"/>
          <p:nvPr/>
        </p:nvSpPr>
        <p:spPr>
          <a:xfrm>
            <a:off x="514108" y="4224735"/>
            <a:ext cx="16707091" cy="5196166"/>
          </a:xfrm>
          <a:prstGeom prst="rect">
            <a:avLst/>
          </a:prstGeom>
          <a:noFill/>
        </p:spPr>
        <p:txBody>
          <a:bodyPr wrap="square">
            <a:spAutoFit/>
          </a:bodyPr>
          <a:lstStyle/>
          <a:p>
            <a:pPr>
              <a:lnSpc>
                <a:spcPct val="150000"/>
              </a:lnSpc>
            </a:pPr>
            <a:r>
              <a:rPr lang="en-US" sz="2800" dirty="0">
                <a:solidFill>
                  <a:schemeClr val="bg1"/>
                </a:solidFill>
              </a:rPr>
              <a:t>IT security protects data. OT security protects physics. A ransomware attack on Royal Duke's corporate email is recoverable in hours — restore from backup, pay the ransom, move on. </a:t>
            </a:r>
            <a:br>
              <a:rPr lang="en-US" sz="2800" dirty="0">
                <a:solidFill>
                  <a:schemeClr val="bg1"/>
                </a:solidFill>
              </a:rPr>
            </a:br>
            <a:r>
              <a:rPr lang="en-US" sz="2800" dirty="0">
                <a:solidFill>
                  <a:schemeClr val="bg1"/>
                </a:solidFill>
              </a:rPr>
              <a:t>A successful attack on the PLCs controlling water pressure or substation switching has no restore button. Physical equipment that has been thermally destroyed, mechanically overloaded, or structurally damaged cannot be patched back into service. </a:t>
            </a:r>
            <a:br>
              <a:rPr lang="en-US" sz="2800" dirty="0">
                <a:solidFill>
                  <a:schemeClr val="bg1"/>
                </a:solidFill>
              </a:rPr>
            </a:br>
            <a:r>
              <a:rPr lang="en-US" sz="2800" dirty="0">
                <a:solidFill>
                  <a:schemeClr val="bg1"/>
                </a:solidFill>
              </a:rPr>
              <a:t>The threat surface is different, the consequence is different, and the defense has to be different. That's why OT-specific frameworks like NERC CIP, the ASD Principles, and MITRE ATT&amp;CK for ICS exist separately from their IT counterparts.</a:t>
            </a:r>
          </a:p>
        </p:txBody>
      </p:sp>
      <p:grpSp>
        <p:nvGrpSpPr>
          <p:cNvPr id="2" name="Group 1">
            <a:extLst>
              <a:ext uri="{FF2B5EF4-FFF2-40B4-BE49-F238E27FC236}">
                <a16:creationId xmlns:a16="http://schemas.microsoft.com/office/drawing/2014/main" id="{26EB3C7E-F835-5600-F182-F5306B5AF9F3}"/>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272F5F98-F6FD-3023-093F-3925692555FC}"/>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7BF3891-4B07-48FB-7AA3-95FA87713B5A}"/>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1E063E5-8779-945C-10B4-950A1ABB5321}"/>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6FB849-28CC-446D-F638-4B576ED7CC5F}"/>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78970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B1B7B-EF07-1BF8-9269-AB94DBB952BA}"/>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2B86E106-5721-B4E9-21C8-5090EDA1687F}"/>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E9310C50-C3B0-6724-B380-E1BF2948CBB2}"/>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00F26ED-8E8B-5CAB-9412-79C8F546ECA9}"/>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Why should Royal Duke act now rather than wait for mandates?</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86F06EE3-9DF3-7825-51C7-14CB8EC26D64}"/>
              </a:ext>
            </a:extLst>
          </p:cNvPr>
          <p:cNvSpPr txBox="1"/>
          <p:nvPr/>
        </p:nvSpPr>
        <p:spPr>
          <a:xfrm>
            <a:off x="514108" y="4547900"/>
            <a:ext cx="15616402" cy="3970318"/>
          </a:xfrm>
          <a:prstGeom prst="rect">
            <a:avLst/>
          </a:prstGeom>
          <a:noFill/>
        </p:spPr>
        <p:txBody>
          <a:bodyPr wrap="square">
            <a:spAutoFit/>
          </a:bodyPr>
          <a:lstStyle/>
          <a:p>
            <a:r>
              <a:rPr lang="en-US" sz="2800" dirty="0">
                <a:solidFill>
                  <a:schemeClr val="bg1"/>
                </a:solidFill>
              </a:rPr>
              <a:t>Three reasons. </a:t>
            </a:r>
            <a:br>
              <a:rPr lang="en-US" sz="2800" dirty="0">
                <a:solidFill>
                  <a:schemeClr val="bg1"/>
                </a:solidFill>
              </a:rPr>
            </a:br>
            <a:r>
              <a:rPr lang="en-US" sz="2800" b="1" dirty="0">
                <a:solidFill>
                  <a:schemeClr val="bg1"/>
                </a:solidFill>
              </a:rPr>
              <a:t>First</a:t>
            </a:r>
            <a:r>
              <a:rPr lang="en-US" sz="2800" dirty="0">
                <a:solidFill>
                  <a:schemeClr val="bg1"/>
                </a:solidFill>
              </a:rPr>
              <a:t>, the threat actors are already inside — Volt Typhoon pre-positioning is confirmed and ongoing, not anticipated. </a:t>
            </a:r>
            <a:br>
              <a:rPr lang="en-US" sz="2800" dirty="0">
                <a:solidFill>
                  <a:schemeClr val="bg1"/>
                </a:solidFill>
              </a:rPr>
            </a:br>
            <a:r>
              <a:rPr lang="en-US" sz="2800" dirty="0">
                <a:solidFill>
                  <a:schemeClr val="bg1"/>
                </a:solidFill>
              </a:rPr>
              <a:t>Waiting for a mandate means waiting while an adversary is already in your network.</a:t>
            </a:r>
            <a:br>
              <a:rPr lang="en-US" sz="2800" dirty="0">
                <a:solidFill>
                  <a:schemeClr val="bg1"/>
                </a:solidFill>
              </a:rPr>
            </a:br>
            <a:r>
              <a:rPr lang="en-US" sz="2800" b="1" dirty="0">
                <a:solidFill>
                  <a:schemeClr val="bg1"/>
                </a:solidFill>
              </a:rPr>
              <a:t>Second</a:t>
            </a:r>
            <a:r>
              <a:rPr lang="en-US" sz="2800" dirty="0">
                <a:solidFill>
                  <a:schemeClr val="bg1"/>
                </a:solidFill>
              </a:rPr>
              <a:t>, NERC CIP-015 (Internal Network Security Monitoring) took effect in 2024 — passive OT monitoring is already a compliance requirement, not a future one. </a:t>
            </a:r>
          </a:p>
          <a:p>
            <a:r>
              <a:rPr lang="en-US" sz="2800" b="1" dirty="0">
                <a:solidFill>
                  <a:schemeClr val="bg1"/>
                </a:solidFill>
              </a:rPr>
              <a:t>Third</a:t>
            </a:r>
            <a:r>
              <a:rPr lang="en-US" sz="2800" dirty="0">
                <a:solidFill>
                  <a:schemeClr val="bg1"/>
                </a:solidFill>
              </a:rPr>
              <a:t>, the cost of reactive response — forensic investigation, physical hardware replacement, regulatory investigation, customer liability — is orders of magnitude higher than proactive investment. The federal mandate question assumes there's a safe waiting period. There isn't one.</a:t>
            </a:r>
          </a:p>
        </p:txBody>
      </p:sp>
      <p:grpSp>
        <p:nvGrpSpPr>
          <p:cNvPr id="2" name="Group 1">
            <a:extLst>
              <a:ext uri="{FF2B5EF4-FFF2-40B4-BE49-F238E27FC236}">
                <a16:creationId xmlns:a16="http://schemas.microsoft.com/office/drawing/2014/main" id="{991CA892-8661-6CE5-49A4-C5B7EBBCD4A0}"/>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46082CF1-634B-487B-D20E-179FBD9342C2}"/>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B936EF-6E67-B7F1-6C0E-FF20E43FBAFE}"/>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FE44094-4B77-FA20-EA97-FC00FCE8CCE0}"/>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B1666C7-1042-0389-16EA-01C165CA08D0}"/>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5493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00D84-D3D6-FB65-C63D-2F29A1148450}"/>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6C999CD0-0DAC-FEB8-EABF-85B149C990D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25576587-A849-DB2F-33A8-AE430C8E577D}"/>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BA88A3C-F93D-D517-5077-F8F436484FE8}"/>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How do you know Volt Typhoon is inside networks?</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EA5191A0-252A-C468-92EE-0662541FA79D}"/>
              </a:ext>
            </a:extLst>
          </p:cNvPr>
          <p:cNvSpPr txBox="1"/>
          <p:nvPr/>
        </p:nvSpPr>
        <p:spPr>
          <a:xfrm>
            <a:off x="514109" y="3200576"/>
            <a:ext cx="12592291" cy="5196166"/>
          </a:xfrm>
          <a:prstGeom prst="rect">
            <a:avLst/>
          </a:prstGeom>
          <a:noFill/>
        </p:spPr>
        <p:txBody>
          <a:bodyPr wrap="square">
            <a:spAutoFit/>
          </a:bodyPr>
          <a:lstStyle/>
          <a:p>
            <a:pPr>
              <a:lnSpc>
                <a:spcPct val="150000"/>
              </a:lnSpc>
            </a:pPr>
            <a:r>
              <a:rPr lang="en-US" sz="2800" dirty="0">
                <a:solidFill>
                  <a:schemeClr val="bg1"/>
                </a:solidFill>
              </a:rPr>
              <a:t>This was confirmed by a joint US advisory issued in May 2023 by CISA, NSA, FBI, and Five Eyes Intelligence partners – Australia, Canada, UK, and New Zealand. It is not a vendor claim or think tank/academic estimate. Volt Typhoon is not the bogeyman. </a:t>
            </a:r>
            <a:br>
              <a:rPr lang="en-US" sz="2800" dirty="0">
                <a:solidFill>
                  <a:schemeClr val="bg1"/>
                </a:solidFill>
              </a:rPr>
            </a:br>
            <a:r>
              <a:rPr lang="en-US" sz="2800" dirty="0">
                <a:solidFill>
                  <a:schemeClr val="bg1"/>
                </a:solidFill>
              </a:rPr>
              <a:t>China’s presence as a Nation-State attacker is well-known, and they are quite literally the definition of an ATP. FBI Director Christopher Wray explicitly repeated the confirmation under oath before the Senate in 2024. Dragos’s OT threat report tracks the group as Voltzite and identified a related exploitation broker – Sylvanite – that weaponizes vulnerabilities within 48 hours before handing access off. </a:t>
            </a:r>
          </a:p>
        </p:txBody>
      </p:sp>
      <p:grpSp>
        <p:nvGrpSpPr>
          <p:cNvPr id="2" name="Group 1">
            <a:extLst>
              <a:ext uri="{FF2B5EF4-FFF2-40B4-BE49-F238E27FC236}">
                <a16:creationId xmlns:a16="http://schemas.microsoft.com/office/drawing/2014/main" id="{EA2C5BFA-2D29-CDE4-52E3-634277F9B289}"/>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E8B965EA-84B0-B9E3-14C4-185AF32019A0}"/>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02A2F2A-4592-EF19-A41A-8C437B984A8E}"/>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AD81B32-FD60-7C05-49B2-76ED7985413C}"/>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9C20086-5B2D-33A0-CEFA-7C80DA864C89}"/>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636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CDD6-4A2B-BF84-EDD6-281C7E0755A2}"/>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0B79F836-66CD-514A-C0A6-2EEAC4567E9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3F67AC69-317A-89BE-D54E-084BCEB5C5CE}"/>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638F398-BB5D-5762-A520-38381A37ED49}"/>
              </a:ext>
            </a:extLst>
          </p:cNvPr>
          <p:cNvSpPr txBox="1"/>
          <p:nvPr/>
        </p:nvSpPr>
        <p:spPr>
          <a:xfrm>
            <a:off x="514108" y="972922"/>
            <a:ext cx="15616402" cy="3416320"/>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What does MFA cost Royal Duke, and why hasn’t it been done already?</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1A19C2E9-4738-1A4B-ACAA-FE6FC13232E0}"/>
              </a:ext>
            </a:extLst>
          </p:cNvPr>
          <p:cNvSpPr txBox="1"/>
          <p:nvPr/>
        </p:nvSpPr>
        <p:spPr>
          <a:xfrm>
            <a:off x="514108" y="4053316"/>
            <a:ext cx="15616402" cy="5196166"/>
          </a:xfrm>
          <a:prstGeom prst="rect">
            <a:avLst/>
          </a:prstGeom>
          <a:noFill/>
        </p:spPr>
        <p:txBody>
          <a:bodyPr wrap="square">
            <a:spAutoFit/>
          </a:bodyPr>
          <a:lstStyle/>
          <a:p>
            <a:pPr>
              <a:lnSpc>
                <a:spcPct val="150000"/>
              </a:lnSpc>
            </a:pPr>
            <a:r>
              <a:rPr lang="en-US" sz="2800" dirty="0">
                <a:solidFill>
                  <a:schemeClr val="bg1"/>
                </a:solidFill>
              </a:rPr>
              <a:t>MFA enforcement for remote access costs approximately $3–8 per user per month for a solution like Duo or Okta — negligible at utility scale. A Privileged Access Management platform runs $50K–$200K in the first year. The total Phase 1 investment is well under $300K. The reason it hasn't been done is organizational, not financial: utilities are operationally conservative, vendor relationships predate modern security requirements, and legacy support contracts often include perpetual access that nobody audited. NERC CIP-007 already requires electronic access controls — Royal Duke may be out of compliance today, which means the cost of not doing it includes up to $1M per day in regulatory penalties, not just breach risk.</a:t>
            </a:r>
          </a:p>
        </p:txBody>
      </p:sp>
      <p:grpSp>
        <p:nvGrpSpPr>
          <p:cNvPr id="2" name="Group 1">
            <a:extLst>
              <a:ext uri="{FF2B5EF4-FFF2-40B4-BE49-F238E27FC236}">
                <a16:creationId xmlns:a16="http://schemas.microsoft.com/office/drawing/2014/main" id="{025E122B-D71F-395B-D09B-73A6533FB6C8}"/>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EC5CE020-8658-90C1-DC39-63CD46861260}"/>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F698F3A-A295-259B-C285-90CA6B058AE8}"/>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BF049A9-E4ED-AAB8-2244-ED0DCC77B033}"/>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008114E-53D4-F7C4-B90F-31379BFD4390}"/>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91686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1838C-CB50-B35C-308D-4E9D40818701}"/>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14ACBBA4-D021-034D-4BA1-4F1A19D6A37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38233F41-36E2-F23C-4C40-A4A9F5C108D1}"/>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5097C1B-A04E-9FD4-579E-14F6C2981400}"/>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What’s the total cost of the full three-phase program?</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CEB1BFAE-06AF-255E-BF4A-51BC64540A30}"/>
              </a:ext>
            </a:extLst>
          </p:cNvPr>
          <p:cNvSpPr txBox="1"/>
          <p:nvPr/>
        </p:nvSpPr>
        <p:spPr>
          <a:xfrm>
            <a:off x="514108" y="4547900"/>
            <a:ext cx="15616402" cy="4401205"/>
          </a:xfrm>
          <a:prstGeom prst="rect">
            <a:avLst/>
          </a:prstGeom>
          <a:noFill/>
        </p:spPr>
        <p:txBody>
          <a:bodyPr wrap="square">
            <a:spAutoFit/>
          </a:bodyPr>
          <a:lstStyle/>
          <a:p>
            <a:r>
              <a:rPr lang="en-US" sz="2800" dirty="0">
                <a:solidFill>
                  <a:schemeClr val="bg1"/>
                </a:solidFill>
              </a:rPr>
              <a:t>Phase 1 (0–90 days): $150K–$400K — MFA/PAM deployment, credential audit, asset inventory labor, IR playbook development. </a:t>
            </a:r>
            <a:br>
              <a:rPr lang="en-US" sz="2800" dirty="0">
                <a:solidFill>
                  <a:schemeClr val="bg1"/>
                </a:solidFill>
              </a:rPr>
            </a:br>
            <a:r>
              <a:rPr lang="en-US" sz="2800" dirty="0">
                <a:solidFill>
                  <a:schemeClr val="bg1"/>
                </a:solidFill>
              </a:rPr>
              <a:t>Phase 2 (3–9 months): $120K–$450K annually — passive OT monitoring platform subscription, SOC integration, analyst training. </a:t>
            </a:r>
            <a:br>
              <a:rPr lang="en-US" sz="2800" dirty="0">
                <a:solidFill>
                  <a:schemeClr val="bg1"/>
                </a:solidFill>
              </a:rPr>
            </a:br>
            <a:r>
              <a:rPr lang="en-US" sz="2800" dirty="0">
                <a:solidFill>
                  <a:schemeClr val="bg1"/>
                </a:solidFill>
              </a:rPr>
              <a:t>Phase 3 (9–18 months): $200K–$650K — network segmentation hardware and engineering, PLC integrity monitoring, business continuity planning. </a:t>
            </a:r>
            <a:br>
              <a:rPr lang="en-US" sz="2800" dirty="0">
                <a:solidFill>
                  <a:schemeClr val="bg1"/>
                </a:solidFill>
              </a:rPr>
            </a:br>
            <a:r>
              <a:rPr lang="en-US" sz="2800" dirty="0">
                <a:solidFill>
                  <a:schemeClr val="bg1"/>
                </a:solidFill>
              </a:rPr>
              <a:t>Total first-year investment: approximately $470K–$1.5M depending on Royal Duke's existing infrastructure. Compare that to a single NERC CIP penalty ($1M/day), a single data center customer's hourly downtime exposure ($1M+/</a:t>
            </a:r>
            <a:r>
              <a:rPr lang="en-US" sz="2800" dirty="0" err="1">
                <a:solidFill>
                  <a:schemeClr val="bg1"/>
                </a:solidFill>
              </a:rPr>
              <a:t>hr</a:t>
            </a:r>
            <a:r>
              <a:rPr lang="en-US" sz="2800" dirty="0">
                <a:solidFill>
                  <a:schemeClr val="bg1"/>
                </a:solidFill>
              </a:rPr>
              <a:t>), or the Colonial Pipeline incident total cost ($4.4M ransom plus an estimated $30M–$60M in additional losses). The program pays for itself by avoiding one serious incident.</a:t>
            </a:r>
          </a:p>
        </p:txBody>
      </p:sp>
      <p:grpSp>
        <p:nvGrpSpPr>
          <p:cNvPr id="2" name="Group 1">
            <a:extLst>
              <a:ext uri="{FF2B5EF4-FFF2-40B4-BE49-F238E27FC236}">
                <a16:creationId xmlns:a16="http://schemas.microsoft.com/office/drawing/2014/main" id="{BF7E7FC3-0C93-3767-1200-0FAED6D010A8}"/>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B4BC6986-6946-5BEB-E935-356EC14C4E4C}"/>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8B5E49A-E99C-D57F-1A6B-E8E333A5AF06}"/>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0BD67C8-28A2-270D-507E-0B2C34655A9C}"/>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506BA9F-C3AA-2E42-4F5A-7DA2F4EA8920}"/>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8301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52A2B-AF7D-F1C1-0814-6437E73B18CE}"/>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03D93720-D91B-C649-0E68-BFB1E56AE59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0C6FCF4E-B869-43AB-453E-BC63F000567C}"/>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F9ECCD-81E1-2D48-C790-A7B46140C813}"/>
              </a:ext>
            </a:extLst>
          </p:cNvPr>
          <p:cNvSpPr txBox="1"/>
          <p:nvPr/>
        </p:nvSpPr>
        <p:spPr>
          <a:xfrm>
            <a:off x="514108" y="972922"/>
            <a:ext cx="15616402" cy="3416320"/>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Why passive monitoring instead of active security controls for Phase 2?</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EBD5CD66-418B-6EB7-C330-C33A889E1BF8}"/>
              </a:ext>
            </a:extLst>
          </p:cNvPr>
          <p:cNvSpPr txBox="1"/>
          <p:nvPr/>
        </p:nvSpPr>
        <p:spPr>
          <a:xfrm>
            <a:off x="514108" y="4547900"/>
            <a:ext cx="15616402" cy="4549835"/>
          </a:xfrm>
          <a:prstGeom prst="rect">
            <a:avLst/>
          </a:prstGeom>
          <a:noFill/>
        </p:spPr>
        <p:txBody>
          <a:bodyPr wrap="square">
            <a:spAutoFit/>
          </a:bodyPr>
          <a:lstStyle/>
          <a:p>
            <a:pPr>
              <a:lnSpc>
                <a:spcPct val="150000"/>
              </a:lnSpc>
            </a:pPr>
            <a:r>
              <a:rPr lang="en-US" sz="2800" dirty="0">
                <a:solidFill>
                  <a:schemeClr val="bg1"/>
                </a:solidFill>
              </a:rPr>
              <a:t>In OT environments, active scanning and security tools that inject traffic can cause real physical consequences — a misconfigured active scanner querying a PLC mid-cycle can interrupt a control loop, potentially triggering an unintended physical state. Passive monitoring sits on a span port, observing all traffic without generating any. It creates the asset inventory, establishes behavioral baselines, and alerts on anomalies without touching a single operational system. This is the standard approach recommended by Dragos, </a:t>
            </a:r>
            <a:r>
              <a:rPr lang="en-US" sz="2800" dirty="0" err="1">
                <a:solidFill>
                  <a:schemeClr val="bg1"/>
                </a:solidFill>
              </a:rPr>
              <a:t>Claroty</a:t>
            </a:r>
            <a:r>
              <a:rPr lang="en-US" sz="2800" dirty="0">
                <a:solidFill>
                  <a:schemeClr val="bg1"/>
                </a:solidFill>
              </a:rPr>
              <a:t>, and CISA for OT environments. Active controls come in Phase 3 once the network is segmented and the team understands normal OT behavior well enough to tune rules safely.</a:t>
            </a:r>
            <a:endParaRPr lang="en-US" sz="2800" b="1" dirty="0">
              <a:solidFill>
                <a:schemeClr val="bg1"/>
              </a:solidFill>
            </a:endParaRPr>
          </a:p>
        </p:txBody>
      </p:sp>
      <p:grpSp>
        <p:nvGrpSpPr>
          <p:cNvPr id="2" name="Group 1">
            <a:extLst>
              <a:ext uri="{FF2B5EF4-FFF2-40B4-BE49-F238E27FC236}">
                <a16:creationId xmlns:a16="http://schemas.microsoft.com/office/drawing/2014/main" id="{1D6163E2-7B2E-4190-8D34-5BC65A600D02}"/>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33D71173-D7CB-F4BA-3BA9-CE1F73B9ED8F}"/>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FF657D7-6E07-A475-214D-98F6C4FDE04D}"/>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61B3399-EFD1-FBE6-AEF7-410B99EDA228}"/>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A1E3AD5-0006-4C3A-EE17-7C22D4072FD1}"/>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27240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80D03-1F8F-6598-9BB9-9FB067B9F01B}"/>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78BDF021-076F-A0A2-A21C-1ABD7C28098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505A1F5C-26CD-6950-E4EF-126FCE2D4627}"/>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E65B7A0-7873-4F8D-387C-713A5C33FD74}"/>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How long would recovery take after a successful attack?</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A6F8E9A7-E76B-CA77-7F21-5D2F772A5BDA}"/>
              </a:ext>
            </a:extLst>
          </p:cNvPr>
          <p:cNvSpPr txBox="1"/>
          <p:nvPr/>
        </p:nvSpPr>
        <p:spPr>
          <a:xfrm>
            <a:off x="514108" y="4547900"/>
            <a:ext cx="15616402" cy="4549835"/>
          </a:xfrm>
          <a:prstGeom prst="rect">
            <a:avLst/>
          </a:prstGeom>
          <a:noFill/>
        </p:spPr>
        <p:txBody>
          <a:bodyPr wrap="square">
            <a:spAutoFit/>
          </a:bodyPr>
          <a:lstStyle/>
          <a:p>
            <a:pPr>
              <a:lnSpc>
                <a:spcPct val="150000"/>
              </a:lnSpc>
            </a:pPr>
            <a:r>
              <a:rPr lang="en-US" sz="2800" dirty="0">
                <a:solidFill>
                  <a:schemeClr val="bg1"/>
                </a:solidFill>
              </a:rPr>
              <a:t>The timeline for recovery for OT systems is drastically different from the typical approach of IT recovery. MTTR, MAO, RPO, and RTO are literally formulated different for OT systems. When operating on Legacy systems that are still communicating with a language older than most people’s parents, if the hardware itself is from 1970, as you can imagine the lead time on replacing one of them would be significant. </a:t>
            </a:r>
            <a:br>
              <a:rPr lang="en-US" sz="2800" dirty="0">
                <a:solidFill>
                  <a:schemeClr val="bg1"/>
                </a:solidFill>
              </a:rPr>
            </a:br>
            <a:r>
              <a:rPr lang="en-US" sz="2800" dirty="0">
                <a:solidFill>
                  <a:schemeClr val="bg1"/>
                </a:solidFill>
              </a:rPr>
              <a:t>The contingency is: did physical damage occur to the OT systems, the microcontrollers, or any of the discovered hardware? Is it still usable? That is ultimately the deciding factor. 6 weeks mean time to replace would of course, be a severe issue. MTTR for IT systems is mostly likely significantly less. </a:t>
            </a:r>
            <a:endParaRPr lang="en-US" sz="2800" b="1" dirty="0">
              <a:solidFill>
                <a:schemeClr val="bg1"/>
              </a:solidFill>
            </a:endParaRPr>
          </a:p>
        </p:txBody>
      </p:sp>
      <p:grpSp>
        <p:nvGrpSpPr>
          <p:cNvPr id="2" name="Group 1">
            <a:extLst>
              <a:ext uri="{FF2B5EF4-FFF2-40B4-BE49-F238E27FC236}">
                <a16:creationId xmlns:a16="http://schemas.microsoft.com/office/drawing/2014/main" id="{8A1F5C8C-2580-6710-164D-A156729B87A8}"/>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1B9FD156-D748-8FEF-E84E-40250A77A2DE}"/>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3CDDF3E-FCFA-D3D6-F46A-6B7C2E11C15B}"/>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2BC9751-024F-CBCD-6BF0-462E90BBC828}"/>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2FF0CB-6269-3493-0C5A-3688048827D1}"/>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7421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1FCE-1224-59B0-13DF-752B339425D0}"/>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7EC27A34-FB9F-2F84-DA45-C9BE7015437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47EF36E8-1201-9DD3-E2BE-1222FC5FF946}"/>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C3E3D8F-E293-A643-F909-503497D0F0E7}"/>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Is the Lockheed Martin breach confirmed?</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FC19A3CA-F7FB-2FE8-5880-F2CD6B055BF6}"/>
              </a:ext>
            </a:extLst>
          </p:cNvPr>
          <p:cNvSpPr txBox="1"/>
          <p:nvPr/>
        </p:nvSpPr>
        <p:spPr>
          <a:xfrm>
            <a:off x="514108" y="4547900"/>
            <a:ext cx="15616402" cy="4549835"/>
          </a:xfrm>
          <a:prstGeom prst="rect">
            <a:avLst/>
          </a:prstGeom>
          <a:noFill/>
        </p:spPr>
        <p:txBody>
          <a:bodyPr wrap="square">
            <a:spAutoFit/>
          </a:bodyPr>
          <a:lstStyle/>
          <a:p>
            <a:pPr>
              <a:lnSpc>
                <a:spcPct val="150000"/>
              </a:lnSpc>
            </a:pPr>
            <a:r>
              <a:rPr lang="en-US" sz="2800" dirty="0">
                <a:solidFill>
                  <a:schemeClr val="bg1"/>
                </a:solidFill>
              </a:rPr>
              <a:t>No. As of March 24, 2026, a pro-Iranian hacktivist group calling itself APT Iran claimed on Telegram to have stolen data from Lockheed Martin, including F-35 blueprints, and demanded over $400M. Lockheed Martin has neither confirmed nor denied any exfiltration, stating only that they have "policies and procedures in place to mitigate cyber threats." No U.S. intelligence agency has confirmed the breach or the data volume. We included it because the plausibility alone is instructive — even a credible claim against the organization that invented the Cyber Kill Chain illustrates the threat environment. We are careful to say "claimed," not "confirmed."</a:t>
            </a:r>
            <a:endParaRPr lang="en-US" sz="2800" b="1" dirty="0">
              <a:solidFill>
                <a:schemeClr val="bg1"/>
              </a:solidFill>
            </a:endParaRPr>
          </a:p>
        </p:txBody>
      </p:sp>
      <p:grpSp>
        <p:nvGrpSpPr>
          <p:cNvPr id="2" name="Group 1">
            <a:extLst>
              <a:ext uri="{FF2B5EF4-FFF2-40B4-BE49-F238E27FC236}">
                <a16:creationId xmlns:a16="http://schemas.microsoft.com/office/drawing/2014/main" id="{856D7EB0-F4E3-EADA-D3B3-77D9806D0865}"/>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7AB42016-CC25-B57A-5BA4-CB77038D2B14}"/>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96D04F7-A72B-19F6-8EAF-ECD0EE2935E5}"/>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B50DEDF-892C-10B0-E4C1-5B7C54BDD51A}"/>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7039E34-A2EE-48CF-5552-DF144712A97F}"/>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975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D2E1C-CE93-F0D2-BE9A-060BBDADD98B}"/>
            </a:ext>
          </a:extLst>
        </p:cNvPr>
        <p:cNvGrpSpPr/>
        <p:nvPr/>
      </p:nvGrpSpPr>
      <p:grpSpPr>
        <a:xfrm>
          <a:off x="0" y="0"/>
          <a:ext cx="0" cy="0"/>
          <a:chOff x="0" y="0"/>
          <a:chExt cx="0" cy="0"/>
        </a:xfrm>
      </p:grpSpPr>
      <p:pic>
        <p:nvPicPr>
          <p:cNvPr id="5" name="Picture 2">
            <a:hlinkClick r:id="" action="ppaction://media"/>
            <a:extLst>
              <a:ext uri="{FF2B5EF4-FFF2-40B4-BE49-F238E27FC236}">
                <a16:creationId xmlns:a16="http://schemas.microsoft.com/office/drawing/2014/main" id="{A2723298-0DF3-C65C-F1B1-BB487220064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94" t="164" r="3316" b="3275"/>
          <a:stretch>
            <a:fillRect/>
          </a:stretch>
        </p:blipFill>
        <p:spPr>
          <a:xfrm>
            <a:off x="-100468" y="-77390"/>
            <a:ext cx="18488935" cy="10441780"/>
          </a:xfrm>
          <a:prstGeom prst="rect">
            <a:avLst/>
          </a:prstGeom>
        </p:spPr>
      </p:pic>
      <p:sp>
        <p:nvSpPr>
          <p:cNvPr id="4" name="Rectangle 3">
            <a:extLst>
              <a:ext uri="{FF2B5EF4-FFF2-40B4-BE49-F238E27FC236}">
                <a16:creationId xmlns:a16="http://schemas.microsoft.com/office/drawing/2014/main" id="{6D52E64F-3ED1-1B77-7D18-B5FB6E71661F}"/>
              </a:ext>
            </a:extLst>
          </p:cNvPr>
          <p:cNvSpPr/>
          <p:nvPr/>
        </p:nvSpPr>
        <p:spPr>
          <a:xfrm>
            <a:off x="-100468" y="-77390"/>
            <a:ext cx="18488935" cy="10459436"/>
          </a:xfrm>
          <a:prstGeom prst="rect">
            <a:avLst/>
          </a:prstGeom>
          <a:gradFill>
            <a:gsLst>
              <a:gs pos="0">
                <a:srgbClr val="001136">
                  <a:alpha val="100000"/>
                </a:srgbClr>
              </a:gs>
              <a:gs pos="34000">
                <a:srgbClr val="001136">
                  <a:alpha val="100000"/>
                </a:srgbClr>
              </a:gs>
              <a:gs pos="100000">
                <a:srgbClr val="001136">
                  <a:alpha val="0"/>
                </a:srgb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97FA7AE-0458-AA66-D604-EB065F30BE2D}"/>
              </a:ext>
            </a:extLst>
          </p:cNvPr>
          <p:cNvSpPr txBox="1"/>
          <p:nvPr/>
        </p:nvSpPr>
        <p:spPr>
          <a:xfrm>
            <a:off x="514108" y="972922"/>
            <a:ext cx="15616402" cy="2308324"/>
          </a:xfrm>
          <a:prstGeom prst="rect">
            <a:avLst/>
          </a:prstGeom>
          <a:noFill/>
        </p:spPr>
        <p:txBody>
          <a:bodyPr wrap="square">
            <a:spAutoFit/>
          </a:bodyPr>
          <a:lstStyle/>
          <a:p>
            <a:pPr>
              <a:spcBef>
                <a:spcPct val="0"/>
              </a:spcBef>
            </a:pPr>
            <a:r>
              <a:rPr lang="en-US" sz="7200" b="1" dirty="0">
                <a:solidFill>
                  <a:schemeClr val="bg1"/>
                </a:solidFill>
                <a:latin typeface="Pattanakarn SemiCondensed Medium"/>
                <a:ea typeface="Pattanakarn SemiCondensed Medium"/>
                <a:cs typeface="Pattanakarn SemiCondensed Medium"/>
                <a:sym typeface="Pattanakarn SemiCondensed Medium"/>
              </a:rPr>
              <a:t>How is this different from what Royal Duke is currently doing?</a:t>
            </a:r>
            <a:endParaRPr lang="en-US" sz="7200" b="1" dirty="0">
              <a:solidFill>
                <a:schemeClr val="bg1"/>
              </a:solidFill>
              <a:latin typeface="Canva Sans Bold"/>
              <a:ea typeface="Canva Sans Bold"/>
              <a:cs typeface="Canva Sans Bold"/>
              <a:sym typeface="Canva Sans Bold"/>
            </a:endParaRPr>
          </a:p>
        </p:txBody>
      </p:sp>
      <p:sp>
        <p:nvSpPr>
          <p:cNvPr id="16" name="TextBox 15">
            <a:extLst>
              <a:ext uri="{FF2B5EF4-FFF2-40B4-BE49-F238E27FC236}">
                <a16:creationId xmlns:a16="http://schemas.microsoft.com/office/drawing/2014/main" id="{EBCDD298-C358-F7D3-8249-64D94E9FF0DA}"/>
              </a:ext>
            </a:extLst>
          </p:cNvPr>
          <p:cNvSpPr txBox="1"/>
          <p:nvPr/>
        </p:nvSpPr>
        <p:spPr>
          <a:xfrm>
            <a:off x="514108" y="4547900"/>
            <a:ext cx="15616402" cy="4549835"/>
          </a:xfrm>
          <a:prstGeom prst="rect">
            <a:avLst/>
          </a:prstGeom>
          <a:noFill/>
        </p:spPr>
        <p:txBody>
          <a:bodyPr wrap="square">
            <a:spAutoFit/>
          </a:bodyPr>
          <a:lstStyle/>
          <a:p>
            <a:pPr>
              <a:lnSpc>
                <a:spcPct val="150000"/>
              </a:lnSpc>
            </a:pPr>
            <a:r>
              <a:rPr lang="en-US" sz="2800" dirty="0">
                <a:solidFill>
                  <a:schemeClr val="bg1"/>
                </a:solidFill>
              </a:rPr>
              <a:t>Most utilities at Royal Duke's scale have basic IT security — firewalls, antivirus, maybe a SOC. What they almost universally lack is OT-specific visibility. The 2024 Dragos OT Cybersecurity report found that 71% of OT environments have no dedicated OT monitoring whatsoever. That means attackers can move laterally from IT to OT, dwell for months, and map the entire control environment with no detection signal. The three risks we identified aren't theoretical — all three have confirmed real-world precedents from the last five years. Our recommendation isn't to rebuild Royal Duke's security program from scratch. It's to close the three specific gaps that have already been exploited against utilities exactly like Royal Duke.</a:t>
            </a:r>
            <a:endParaRPr lang="en-US" sz="2800" b="1" dirty="0">
              <a:solidFill>
                <a:schemeClr val="bg1"/>
              </a:solidFill>
            </a:endParaRPr>
          </a:p>
        </p:txBody>
      </p:sp>
      <p:grpSp>
        <p:nvGrpSpPr>
          <p:cNvPr id="2" name="Group 1">
            <a:extLst>
              <a:ext uri="{FF2B5EF4-FFF2-40B4-BE49-F238E27FC236}">
                <a16:creationId xmlns:a16="http://schemas.microsoft.com/office/drawing/2014/main" id="{C2A470FB-961E-5DD0-E798-556438938476}"/>
              </a:ext>
            </a:extLst>
          </p:cNvPr>
          <p:cNvGrpSpPr/>
          <p:nvPr/>
        </p:nvGrpSpPr>
        <p:grpSpPr>
          <a:xfrm>
            <a:off x="16973621" y="8970630"/>
            <a:ext cx="1104900" cy="1109382"/>
            <a:chOff x="8458200" y="1333500"/>
            <a:chExt cx="1104900" cy="1109382"/>
          </a:xfrm>
        </p:grpSpPr>
        <p:sp>
          <p:nvSpPr>
            <p:cNvPr id="3" name="Rectangle 2">
              <a:extLst>
                <a:ext uri="{FF2B5EF4-FFF2-40B4-BE49-F238E27FC236}">
                  <a16:creationId xmlns:a16="http://schemas.microsoft.com/office/drawing/2014/main" id="{1726CC03-E2F8-0B28-7EC7-1FDB8DA41B1C}"/>
                </a:ext>
              </a:extLst>
            </p:cNvPr>
            <p:cNvSpPr/>
            <p:nvPr/>
          </p:nvSpPr>
          <p:spPr>
            <a:xfrm>
              <a:off x="90297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BD683D4-1731-CA89-0478-CE59A815FCAD}"/>
                </a:ext>
              </a:extLst>
            </p:cNvPr>
            <p:cNvSpPr/>
            <p:nvPr/>
          </p:nvSpPr>
          <p:spPr>
            <a:xfrm>
              <a:off x="8458200" y="1909482"/>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2FB51CF-0EC9-9807-A05B-09EAB3965E34}"/>
                </a:ext>
              </a:extLst>
            </p:cNvPr>
            <p:cNvSpPr/>
            <p:nvPr/>
          </p:nvSpPr>
          <p:spPr>
            <a:xfrm>
              <a:off x="84582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223FB61-26D6-E643-13C5-3CBA9DA54941}"/>
                </a:ext>
              </a:extLst>
            </p:cNvPr>
            <p:cNvSpPr/>
            <p:nvPr/>
          </p:nvSpPr>
          <p:spPr>
            <a:xfrm>
              <a:off x="9029700" y="1333500"/>
              <a:ext cx="533400" cy="533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208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fill="hold" display="0">
                  <p:stCondLst>
                    <p:cond delay="indefinite"/>
                  </p:stCondLst>
                </p:cTn>
                <p:tgtEl>
                  <p:spTgt spid="5"/>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A12411-89DE-674B-AACA-71617445381D}">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4375</TotalTime>
  <Words>3655</Words>
  <Application>Microsoft Macintosh PowerPoint</Application>
  <PresentationFormat>Custom</PresentationFormat>
  <Paragraphs>185</Paragraphs>
  <Slides>24</Slides>
  <Notes>14</Notes>
  <HiddenSlides>0</HiddenSlides>
  <MMClips>24</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Aptos</vt:lpstr>
      <vt:lpstr>Pattanakarn SemiCondensed Medium</vt:lpstr>
      <vt:lpstr>Canva Sans</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Infrastructure Cybersecurity: 10 Slides</dc:title>
  <cp:lastModifiedBy>Lance Dye</cp:lastModifiedBy>
  <cp:revision>10</cp:revision>
  <dcterms:created xsi:type="dcterms:W3CDTF">2006-08-16T00:00:00Z</dcterms:created>
  <dcterms:modified xsi:type="dcterms:W3CDTF">2026-03-28T19:23:32Z</dcterms:modified>
  <dc:identifier>DAHE1_z3eJs</dc:identifier>
</cp:coreProperties>
</file>